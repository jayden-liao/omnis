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7"/>
  </p:notesMasterIdLst>
  <p:handoutMasterIdLst>
    <p:handoutMasterId r:id="rId81"/>
  </p:handoutMasterIdLst>
  <p:sldIdLst>
    <p:sldId id="256" r:id="rId3"/>
    <p:sldId id="809" r:id="rId4"/>
    <p:sldId id="816" r:id="rId5"/>
    <p:sldId id="259" r:id="rId6"/>
    <p:sldId id="301" r:id="rId8"/>
    <p:sldId id="810" r:id="rId9"/>
    <p:sldId id="811" r:id="rId10"/>
    <p:sldId id="334" r:id="rId11"/>
    <p:sldId id="335" r:id="rId12"/>
    <p:sldId id="302" r:id="rId13"/>
    <p:sldId id="303" r:id="rId14"/>
    <p:sldId id="304" r:id="rId15"/>
    <p:sldId id="305" r:id="rId16"/>
    <p:sldId id="336" r:id="rId17"/>
    <p:sldId id="337" r:id="rId18"/>
    <p:sldId id="338" r:id="rId19"/>
    <p:sldId id="339" r:id="rId20"/>
    <p:sldId id="340" r:id="rId21"/>
    <p:sldId id="266" r:id="rId22"/>
    <p:sldId id="390" r:id="rId23"/>
    <p:sldId id="813" r:id="rId24"/>
    <p:sldId id="393" r:id="rId25"/>
    <p:sldId id="409" r:id="rId26"/>
    <p:sldId id="394" r:id="rId27"/>
    <p:sldId id="395" r:id="rId28"/>
    <p:sldId id="410" r:id="rId29"/>
    <p:sldId id="396" r:id="rId30"/>
    <p:sldId id="397" r:id="rId31"/>
    <p:sldId id="314" r:id="rId32"/>
    <p:sldId id="315" r:id="rId33"/>
    <p:sldId id="316" r:id="rId34"/>
    <p:sldId id="257" r:id="rId35"/>
    <p:sldId id="310" r:id="rId36"/>
    <p:sldId id="317" r:id="rId37"/>
    <p:sldId id="318" r:id="rId38"/>
    <p:sldId id="319" r:id="rId39"/>
    <p:sldId id="320" r:id="rId40"/>
    <p:sldId id="321" r:id="rId41"/>
    <p:sldId id="322" r:id="rId42"/>
    <p:sldId id="323" r:id="rId43"/>
    <p:sldId id="262" r:id="rId44"/>
    <p:sldId id="817" r:id="rId45"/>
    <p:sldId id="819" r:id="rId46"/>
    <p:sldId id="818" r:id="rId47"/>
    <p:sldId id="822" r:id="rId48"/>
    <p:sldId id="823" r:id="rId49"/>
    <p:sldId id="265" r:id="rId50"/>
    <p:sldId id="290" r:id="rId51"/>
    <p:sldId id="293" r:id="rId52"/>
    <p:sldId id="294" r:id="rId53"/>
    <p:sldId id="288" r:id="rId54"/>
    <p:sldId id="289" r:id="rId55"/>
    <p:sldId id="292" r:id="rId56"/>
    <p:sldId id="287" r:id="rId57"/>
    <p:sldId id="820" r:id="rId58"/>
    <p:sldId id="296" r:id="rId59"/>
    <p:sldId id="821" r:id="rId60"/>
    <p:sldId id="263" r:id="rId61"/>
    <p:sldId id="286" r:id="rId62"/>
    <p:sldId id="824" r:id="rId63"/>
    <p:sldId id="826" r:id="rId64"/>
    <p:sldId id="471" r:id="rId65"/>
    <p:sldId id="473" r:id="rId66"/>
    <p:sldId id="472" r:id="rId67"/>
    <p:sldId id="476" r:id="rId68"/>
    <p:sldId id="267" r:id="rId69"/>
    <p:sldId id="260" r:id="rId70"/>
    <p:sldId id="261" r:id="rId71"/>
    <p:sldId id="309" r:id="rId72"/>
    <p:sldId id="326" r:id="rId73"/>
    <p:sldId id="327" r:id="rId74"/>
    <p:sldId id="328" r:id="rId75"/>
    <p:sldId id="329" r:id="rId76"/>
    <p:sldId id="330" r:id="rId77"/>
    <p:sldId id="331" r:id="rId78"/>
    <p:sldId id="332" r:id="rId79"/>
    <p:sldId id="333" r:id="rId80"/>
  </p:sldIdLst>
  <p:sldSz cx="9144000" cy="6858000" type="screen4x3"/>
  <p:notesSz cx="6858000" cy="9144000"/>
  <p:kinsoku lang="zh-CN" invalStChars="!),.:;?]}、。—ˇ¨〃々～‖…’”〕〉》」』〗】∶！＂＇），．：；？］｀｜｝·" invalEndChars="([{‘“〔〈《「『〖【（［｛．·"/>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FF3399"/>
    <a:srgbClr val="3333FF"/>
    <a:srgbClr val="0033CC"/>
    <a:srgbClr val="0000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8390" autoAdjust="0"/>
  </p:normalViewPr>
  <p:slideViewPr>
    <p:cSldViewPr showGuides="1">
      <p:cViewPr varScale="1">
        <p:scale>
          <a:sx n="58" d="100"/>
          <a:sy n="58" d="100"/>
        </p:scale>
        <p:origin x="1520" y="52"/>
      </p:cViewPr>
      <p:guideLst>
        <p:guide orient="horz" pos="2160"/>
        <p:guide pos="2880"/>
      </p:guideLst>
    </p:cSldViewPr>
  </p:slideViewPr>
  <p:notesTextViewPr>
    <p:cViewPr>
      <p:scale>
        <a:sx n="100" d="100"/>
        <a:sy n="100" d="100"/>
      </p:scale>
      <p:origin x="0" y="0"/>
    </p:cViewPr>
  </p:notesTextViewPr>
  <p:notesViewPr>
    <p:cSldViewPr>
      <p:cViewPr varScale="1">
        <p:scale>
          <a:sx n="86" d="100"/>
          <a:sy n="86" d="100"/>
        </p:scale>
        <p:origin x="3852" y="3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handoutMaster" Target="handoutMasters/handoutMaster1.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AFB5C9-EEFE-42E0-814D-82BB87CE9A2E}"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A66251F-CB76-4F82-A504-EB0E0FB9FEF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Rot="1" noChangeArrowheads="1" noTextEdit="1"/>
          </p:cNvSpPr>
          <p:nvPr>
            <p:ph type="body" sz="quarter" idx="3"/>
          </p:nvPr>
        </p:nvSpPr>
        <p:spPr bwMode="auto">
          <a:xfrm>
            <a:off x="914400" y="4343400"/>
            <a:ext cx="5029200" cy="4114800"/>
          </a:xfrm>
          <a:prstGeom prst="rect">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lstStyle/>
          <a:p>
            <a:pPr lvl="0"/>
            <a:r>
              <a:rPr lang="en-US" altLang="zh-CN" noProof="0"/>
              <a:t>                                </a:t>
            </a:r>
            <a:endParaRPr lang="en-US" altLang="zh-CN" noProof="0"/>
          </a:p>
          <a:p>
            <a:pPr lvl="1"/>
            <a:r>
              <a:rPr lang="en-US" altLang="zh-CN" noProof="0"/>
              <a:t>            </a:t>
            </a:r>
            <a:endParaRPr lang="en-US" altLang="zh-CN" noProof="0"/>
          </a:p>
          <a:p>
            <a:pPr lvl="2"/>
            <a:r>
              <a:rPr lang="en-US" altLang="zh-CN" noProof="0"/>
              <a:t>           </a:t>
            </a:r>
            <a:endParaRPr lang="en-US" altLang="zh-CN" noProof="0"/>
          </a:p>
          <a:p>
            <a:pPr lvl="3"/>
            <a:r>
              <a:rPr lang="en-US" altLang="zh-CN" noProof="0"/>
              <a:t>            </a:t>
            </a:r>
            <a:endParaRPr lang="en-US" altLang="zh-CN" noProof="0"/>
          </a:p>
          <a:p>
            <a:pPr lvl="4"/>
            <a:r>
              <a:rPr lang="en-US" altLang="zh-CN" noProof="0"/>
              <a:t>           </a:t>
            </a:r>
            <a:endParaRPr lang="en-US" altLang="zh-CN" noProof="0"/>
          </a:p>
        </p:txBody>
      </p:sp>
      <p:sp>
        <p:nvSpPr>
          <p:cNvPr id="3075" name="Rectangle 3"/>
          <p:cNvSpPr>
            <a:spLocks noGrp="1" noRot="1" noChangeAspect="1" noChangeArrowheads="1" noTextEdit="1"/>
          </p:cNvSpPr>
          <p:nvPr>
            <p:ph type="sldImg" idx="4294967295"/>
          </p:nvPr>
        </p:nvSpPr>
        <p:spPr bwMode="auto">
          <a:xfrm>
            <a:off x="1149350" y="692150"/>
            <a:ext cx="4559300" cy="341630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Rot="1" noChangeAspect="1" noChangeArrowheads="1" noTextEdit="1"/>
          </p:cNvSpPr>
          <p:nvPr>
            <p:ph type="sldImg" idx="4294967295"/>
          </p:nvPr>
        </p:nvSpPr>
        <p:spPr>
          <a:xfrm>
            <a:off x="1150938" y="692150"/>
            <a:ext cx="4556125" cy="3416300"/>
          </a:xfrm>
        </p:spPr>
      </p:sp>
      <p:sp>
        <p:nvSpPr>
          <p:cNvPr id="6147" name="Rectangle 3"/>
          <p:cNvSpPr>
            <a:spLocks noGrp="1" noRot="1" noChangeArrowheads="1"/>
          </p:cNvSpPr>
          <p:nvPr>
            <p:ph type="body" idx="4294967295"/>
          </p:nvPr>
        </p:nvSpPr>
        <p:spPr/>
        <p:txBody>
          <a:bodyPr/>
          <a:lstStyle/>
          <a:p>
            <a:pPr eaLnBrk="1" hangingPunct="1"/>
            <a:r>
              <a:rPr lang="zh-CN" altLang="en-US"/>
              <a:t>双塔</a:t>
            </a:r>
            <a:endParaRPr lang="zh-CN" altLang="en-US"/>
          </a:p>
          <a:p>
            <a:pPr eaLnBrk="1" hangingPunct="1"/>
            <a:r>
              <a:rPr lang="zh-CN" altLang="en-US"/>
              <a:t>筒子楼，单元房，复式楼</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idx="4294967295"/>
          </p:nvPr>
        </p:nvSpPr>
        <p:spPr>
          <a:xfrm>
            <a:off x="1150938" y="692150"/>
            <a:ext cx="4556125" cy="3416300"/>
          </a:xfrm>
        </p:spPr>
      </p:sp>
      <p:sp>
        <p:nvSpPr>
          <p:cNvPr id="21507" name="Rectangle 3"/>
          <p:cNvSpPr>
            <a:spLocks noGrp="1" noRot="1" noChangeArrowheads="1"/>
          </p:cNvSpPr>
          <p:nvPr>
            <p:ph type="body" idx="4294967295"/>
          </p:nvPr>
        </p:nvSpPr>
        <p:spPr/>
        <p:txBody>
          <a:bodyPr/>
          <a:lstStyle/>
          <a:p>
            <a:pPr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idx="4294967295"/>
          </p:nvPr>
        </p:nvSpPr>
        <p:spPr>
          <a:xfrm>
            <a:off x="1150938" y="692150"/>
            <a:ext cx="4556125" cy="3416300"/>
          </a:xfrm>
        </p:spPr>
      </p:sp>
      <p:sp>
        <p:nvSpPr>
          <p:cNvPr id="23555" name="Rectangle 3"/>
          <p:cNvSpPr>
            <a:spLocks noGrp="1" noRot="1" noChangeArrowheads="1"/>
          </p:cNvSpPr>
          <p:nvPr>
            <p:ph type="body" idx="4294967295"/>
          </p:nvPr>
        </p:nvSpPr>
        <p:spPr/>
        <p:txBody>
          <a:bodyPr/>
          <a:lstStyle/>
          <a:p>
            <a:pPr eaLnBrk="1" hangingPunct="1"/>
            <a:r>
              <a:rPr lang="zh-CN" altLang="en-US"/>
              <a:t>逝世于</a:t>
            </a:r>
            <a:r>
              <a:rPr lang="en-US" altLang="zh-CN"/>
              <a:t>2002</a:t>
            </a:r>
            <a:r>
              <a:rPr lang="zh-CN" altLang="en-US"/>
              <a:t>年</a:t>
            </a:r>
            <a:r>
              <a:rPr lang="en-US" altLang="zh-CN"/>
              <a:t>8</a:t>
            </a:r>
            <a:r>
              <a:rPr lang="zh-CN" altLang="en-US"/>
              <a:t>月</a:t>
            </a:r>
            <a:r>
              <a:rPr lang="en-US" altLang="zh-CN"/>
              <a:t>6</a:t>
            </a:r>
            <a:r>
              <a:rPr lang="zh-CN" altLang="en-US"/>
              <a:t>日</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idx="4294967295"/>
          </p:nvPr>
        </p:nvSpPr>
        <p:spPr>
          <a:xfrm>
            <a:off x="1150938" y="692150"/>
            <a:ext cx="4556125" cy="3416300"/>
          </a:xfrm>
        </p:spPr>
      </p:sp>
      <p:sp>
        <p:nvSpPr>
          <p:cNvPr id="25603" name="Rectangle 3"/>
          <p:cNvSpPr>
            <a:spLocks noGrp="1" noRot="1" noChangeArrowheads="1"/>
          </p:cNvSpPr>
          <p:nvPr>
            <p:ph type="body" idx="4294967295"/>
          </p:nvPr>
        </p:nvSpPr>
        <p:spPr/>
        <p:txBody>
          <a:bodyPr/>
          <a:lstStyle/>
          <a:p>
            <a:pPr eaLnBrk="1" hangingPunct="1"/>
            <a:r>
              <a:rPr lang="zh-CN" altLang="en-US"/>
              <a:t>逝世于</a:t>
            </a:r>
            <a:r>
              <a:rPr lang="en-US" altLang="zh-CN"/>
              <a:t>2002</a:t>
            </a:r>
            <a:r>
              <a:rPr lang="zh-CN" altLang="en-US"/>
              <a:t>年</a:t>
            </a:r>
            <a:r>
              <a:rPr lang="en-US" altLang="zh-CN"/>
              <a:t>8</a:t>
            </a:r>
            <a:r>
              <a:rPr lang="zh-CN" altLang="en-US"/>
              <a:t>月</a:t>
            </a:r>
            <a:r>
              <a:rPr lang="en-US" altLang="zh-CN"/>
              <a:t>6</a:t>
            </a:r>
            <a:r>
              <a:rPr lang="zh-CN" altLang="en-US"/>
              <a:t>日</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idx="4294967295"/>
          </p:nvPr>
        </p:nvSpPr>
        <p:spPr>
          <a:xfrm>
            <a:off x="1150938" y="692150"/>
            <a:ext cx="4556125" cy="3416300"/>
          </a:xfrm>
        </p:spPr>
      </p:sp>
      <p:sp>
        <p:nvSpPr>
          <p:cNvPr id="27651" name="Rectangle 3"/>
          <p:cNvSpPr>
            <a:spLocks noGrp="1" noRot="1" noChangeArrowheads="1"/>
          </p:cNvSpPr>
          <p:nvPr>
            <p:ph type="body" idx="4294967295"/>
          </p:nvPr>
        </p:nvSpPr>
        <p:spPr/>
        <p:txBody>
          <a:bodyPr/>
          <a:lstStyle/>
          <a:p>
            <a:pPr eaLnBrk="1" hangingPunct="1"/>
            <a:r>
              <a:rPr lang="zh-CN" altLang="en-US"/>
              <a:t>逝世于</a:t>
            </a:r>
            <a:r>
              <a:rPr lang="en-US" altLang="zh-CN"/>
              <a:t>2002</a:t>
            </a:r>
            <a:r>
              <a:rPr lang="zh-CN" altLang="en-US"/>
              <a:t>年</a:t>
            </a:r>
            <a:r>
              <a:rPr lang="en-US" altLang="zh-CN"/>
              <a:t>8</a:t>
            </a:r>
            <a:r>
              <a:rPr lang="zh-CN" altLang="en-US"/>
              <a:t>月</a:t>
            </a:r>
            <a:r>
              <a:rPr lang="en-US" altLang="zh-CN"/>
              <a:t>6</a:t>
            </a:r>
            <a:r>
              <a:rPr lang="zh-CN" altLang="en-US"/>
              <a:t>日</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idx="4294967295"/>
          </p:nvPr>
        </p:nvSpPr>
        <p:spPr>
          <a:xfrm>
            <a:off x="1150938" y="692150"/>
            <a:ext cx="4556125" cy="3416300"/>
          </a:xfrm>
        </p:spPr>
      </p:sp>
      <p:sp>
        <p:nvSpPr>
          <p:cNvPr id="29699" name="Rectangle 3"/>
          <p:cNvSpPr>
            <a:spLocks noGrp="1" noRot="1" noChangeArrowheads="1"/>
          </p:cNvSpPr>
          <p:nvPr>
            <p:ph type="body" idx="4294967295"/>
          </p:nvPr>
        </p:nvSpPr>
        <p:spPr/>
        <p:txBody>
          <a:bodyPr/>
          <a:lstStyle/>
          <a:p>
            <a:pPr eaLnBrk="1" hangingPunct="1"/>
            <a:r>
              <a:rPr lang="zh-CN" altLang="en-US" dirty="0"/>
              <a:t>看到这些词汇，很容易想到是什么。这是约定俗成的。</a:t>
            </a:r>
            <a:endParaRPr lang="zh-CN" altLang="en-US" dirty="0"/>
          </a:p>
          <a:p>
            <a:pPr eaLnBrk="1" hangingPunct="1"/>
            <a:r>
              <a:rPr lang="zh-CN" altLang="en-US" dirty="0"/>
              <a:t>软件体系结构要把俗成变为科学</a:t>
            </a:r>
            <a:endParaRPr lang="zh-CN" altLang="en-US" dirty="0"/>
          </a:p>
          <a:p>
            <a:pPr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idx="4294967295"/>
          </p:nvPr>
        </p:nvSpPr>
        <p:spPr>
          <a:xfrm>
            <a:off x="1150938" y="692150"/>
            <a:ext cx="4556125" cy="3416300"/>
          </a:xfrm>
        </p:spPr>
      </p:sp>
      <p:sp>
        <p:nvSpPr>
          <p:cNvPr id="39939" name="Rectangle 3"/>
          <p:cNvSpPr>
            <a:spLocks noGrp="1" noRot="1" noChangeArrowheads="1"/>
          </p:cNvSpPr>
          <p:nvPr>
            <p:ph type="body" idx="4294967295"/>
          </p:nvPr>
        </p:nvSpPr>
        <p:spPr/>
        <p:txBody>
          <a:bodyPr/>
          <a:lstStyle/>
          <a:p>
            <a:pPr eaLnBrk="1" hangingPunct="1"/>
            <a:r>
              <a:rPr lang="zh-CN" altLang="en-US"/>
              <a:t>计算机科学，定义总是若有若无</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idx="4294967295"/>
          </p:nvPr>
        </p:nvSpPr>
        <p:spPr>
          <a:xfrm>
            <a:off x="1150938" y="692150"/>
            <a:ext cx="4556125" cy="3416300"/>
          </a:xfrm>
        </p:spPr>
      </p:sp>
      <p:sp>
        <p:nvSpPr>
          <p:cNvPr id="54275" name="Rectangle 3"/>
          <p:cNvSpPr>
            <a:spLocks noGrp="1" noRot="1" noChangeArrowheads="1"/>
          </p:cNvSpPr>
          <p:nvPr>
            <p:ph type="body" idx="4294967295"/>
          </p:nvPr>
        </p:nvSpPr>
        <p:spPr/>
        <p:txBody>
          <a:bodyPr/>
          <a:lstStyle/>
          <a:p>
            <a:pPr eaLnBrk="1" hangingPunct="1"/>
            <a:r>
              <a:rPr lang="zh-CN" altLang="en-US"/>
              <a:t>计算机科学，定义总是若有若无</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idx="4294967295"/>
          </p:nvPr>
        </p:nvSpPr>
        <p:spPr>
          <a:xfrm>
            <a:off x="1150938" y="692150"/>
            <a:ext cx="4556125" cy="3416300"/>
          </a:xfrm>
        </p:spPr>
      </p:sp>
      <p:sp>
        <p:nvSpPr>
          <p:cNvPr id="49155" name="Rectangle 3"/>
          <p:cNvSpPr>
            <a:spLocks noGrp="1" noRot="1" noChangeArrowheads="1"/>
          </p:cNvSpPr>
          <p:nvPr>
            <p:ph type="body" idx="4294967295"/>
          </p:nvPr>
        </p:nvSpPr>
        <p:spPr/>
        <p:txBody>
          <a:bodyPr/>
          <a:lstStyle/>
          <a:p>
            <a:pPr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idx="4294967295"/>
          </p:nvPr>
        </p:nvSpPr>
        <p:spPr>
          <a:xfrm>
            <a:off x="1150938" y="692150"/>
            <a:ext cx="4556125" cy="3416300"/>
          </a:xfrm>
        </p:spPr>
      </p:sp>
      <p:sp>
        <p:nvSpPr>
          <p:cNvPr id="61443" name="Rectangle 3"/>
          <p:cNvSpPr>
            <a:spLocks noGrp="1" noRot="1" noChangeArrowheads="1"/>
          </p:cNvSpPr>
          <p:nvPr>
            <p:ph type="body" idx="4294967295"/>
          </p:nvPr>
        </p:nvSpPr>
        <p:spPr/>
        <p:txBody>
          <a:bodyPr/>
          <a:lstStyle/>
          <a:p>
            <a:pPr eaLnBrk="1" hangingPunct="1"/>
            <a:r>
              <a:rPr lang="zh-CN" altLang="en-US"/>
              <a:t>计算机科学，定义总是若有若无</a:t>
            </a:r>
            <a:endParaRPr lang="zh-CN" altLang="en-US"/>
          </a:p>
          <a:p>
            <a:pPr eaLnBrk="1" hangingPunct="1"/>
            <a:r>
              <a:rPr lang="zh-CN" altLang="en-US"/>
              <a:t>教材</a:t>
            </a:r>
            <a:r>
              <a:rPr lang="en-US" altLang="zh-CN"/>
              <a:t>P1</a:t>
            </a:r>
            <a:r>
              <a:rPr lang="zh-CN" altLang="en-US"/>
              <a:t>做了扩充</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idx="4294967295"/>
          </p:nvPr>
        </p:nvSpPr>
        <p:spPr>
          <a:xfrm>
            <a:off x="1150938" y="692150"/>
            <a:ext cx="4556125" cy="3416300"/>
          </a:xfrm>
        </p:spPr>
      </p:sp>
      <p:sp>
        <p:nvSpPr>
          <p:cNvPr id="41987" name="Rectangle 3"/>
          <p:cNvSpPr>
            <a:spLocks noGrp="1" noRot="1" noChangeArrowheads="1"/>
          </p:cNvSpPr>
          <p:nvPr>
            <p:ph type="body" idx="4294967295"/>
          </p:nvPr>
        </p:nvSpPr>
        <p:spPr/>
        <p:txBody>
          <a:bodyPr/>
          <a:lstStyle/>
          <a:p>
            <a:pPr eaLnBrk="1" hangingPunct="1"/>
            <a:r>
              <a:rPr lang="zh-CN" altLang="en-US"/>
              <a:t>计算机科学，定义总是若有若无</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idx="4294967295"/>
          </p:nvPr>
        </p:nvSpPr>
        <p:spPr>
          <a:xfrm>
            <a:off x="1150938" y="692150"/>
            <a:ext cx="4556125" cy="3416300"/>
          </a:xfrm>
        </p:spPr>
      </p:sp>
      <p:sp>
        <p:nvSpPr>
          <p:cNvPr id="69635" name="Rectangle 3"/>
          <p:cNvSpPr>
            <a:spLocks noGrp="1" noRot="1" noChangeArrowheads="1"/>
          </p:cNvSpPr>
          <p:nvPr>
            <p:ph type="body" idx="4294967295"/>
          </p:nvPr>
        </p:nvSpPr>
        <p:spPr/>
        <p:txBody>
          <a:bodyPr/>
          <a:lstStyle/>
          <a:p>
            <a:pPr eaLnBrk="1" hangingPunct="1"/>
            <a:r>
              <a:rPr lang="zh-CN" altLang="en-US"/>
              <a:t>好的软件 </a:t>
            </a:r>
            <a:r>
              <a:rPr lang="en-US" altLang="zh-CN"/>
              <a:t>!= </a:t>
            </a:r>
            <a:r>
              <a:rPr lang="zh-CN" altLang="en-US"/>
              <a:t>成功的软件</a:t>
            </a:r>
            <a:endParaRPr lang="zh-CN" altLang="en-US"/>
          </a:p>
          <a:p>
            <a:pPr eaLnBrk="1" hangingPunct="1"/>
            <a:r>
              <a:rPr lang="en-US" altLang="zh-CN"/>
              <a:t>P15</a:t>
            </a:r>
            <a:endParaRPr lang="en-US" altLang="zh-CN"/>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单击以编辑母版副标题样式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5F8F6BC5-EC9D-4827-93AE-0103A914AAED}" type="datetime1">
              <a:rPr lang="zh-CN" altLang="en-US" smtClean="0"/>
            </a:fld>
            <a:endParaRPr lang="zh-CN" altLang="en-US"/>
          </a:p>
        </p:txBody>
      </p:sp>
      <p:sp>
        <p:nvSpPr>
          <p:cNvPr id="5" name="灯片编号占位符 5"/>
          <p:cNvSpPr>
            <a:spLocks noGrp="1"/>
          </p:cNvSpPr>
          <p:nvPr>
            <p:ph type="sldNum" sz="quarter" idx="11"/>
          </p:nvPr>
        </p:nvSpPr>
        <p:spPr/>
        <p:txBody>
          <a:bodyPr/>
          <a:lstStyle>
            <a:lvl1pPr>
              <a:defRPr/>
            </a:lvl1pPr>
          </a:lstStyle>
          <a:p>
            <a:pPr>
              <a:defRPr/>
            </a:pPr>
            <a:fld id="{5D9CD93E-EEBD-4694-9EE8-E5FA4B48512C}" type="slidenum">
              <a:rPr lang="zh-CN" altLang="en-US"/>
            </a:fld>
            <a:endParaRPr lang="zh-CN" altLang="en-US"/>
          </a:p>
        </p:txBody>
      </p:sp>
    </p:spTree>
  </p:cSld>
  <p:clrMapOvr>
    <a:masterClrMapping/>
  </p:clrMapOvr>
  <p:transition>
    <p:wipe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未标题-2 - 副本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66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10"/>
          <p:cNvCxnSpPr>
            <a:cxnSpLocks noChangeShapeType="1"/>
          </p:cNvCxnSpPr>
          <p:nvPr userDrawn="1"/>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 name="直接连接符 14"/>
          <p:cNvCxnSpPr>
            <a:cxnSpLocks noChangeShapeType="1"/>
          </p:cNvCxnSpPr>
          <p:nvPr userDrawn="1"/>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1" name="Picture 19" descr="C:\Users\Administrator\Desktop\2校徽、中英文字体及标准色的组合.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127875" y="247650"/>
            <a:ext cx="19272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01650" y="0"/>
            <a:ext cx="7886700" cy="1325563"/>
          </a:xfrm>
        </p:spPr>
        <p:txBody>
          <a:body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3" name="灯片编号占位符 5"/>
          <p:cNvSpPr>
            <a:spLocks noGrp="1"/>
          </p:cNvSpPr>
          <p:nvPr>
            <p:ph type="sldNum" sz="quarter" idx="11"/>
          </p:nvPr>
        </p:nvSpPr>
        <p:spPr/>
        <p:txBody>
          <a:bodyPr/>
          <a:lstStyle>
            <a:lvl1pPr>
              <a:defRPr/>
            </a:lvl1pPr>
          </a:lstStyle>
          <a:p>
            <a:pPr>
              <a:defRPr/>
            </a:pPr>
            <a:fld id="{6BF530E8-F43B-4C96-89F0-9964C1590B71}" type="slidenum">
              <a:rPr lang="zh-CN" altLang="en-US"/>
            </a:fld>
            <a:endParaRPr lang="zh-CN" altLang="en-US"/>
          </a:p>
        </p:txBody>
      </p:sp>
    </p:spTree>
  </p:cSld>
  <p:clrMapOvr>
    <a:masterClrMapping/>
  </p:clrMapOvr>
  <p:transition>
    <p:wipe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5D1631B1-9EF0-44DE-9C2B-2850DC83DA3A}" type="datetime1">
              <a:rPr lang="zh-CN" altLang="en-US" smtClean="0"/>
            </a:fld>
            <a:endParaRPr lang="zh-CN" altLang="en-US"/>
          </a:p>
        </p:txBody>
      </p:sp>
      <p:sp>
        <p:nvSpPr>
          <p:cNvPr id="5" name="灯片编号占位符 5"/>
          <p:cNvSpPr>
            <a:spLocks noGrp="1"/>
          </p:cNvSpPr>
          <p:nvPr>
            <p:ph type="sldNum" sz="quarter" idx="11"/>
          </p:nvPr>
        </p:nvSpPr>
        <p:spPr/>
        <p:txBody>
          <a:bodyPr/>
          <a:lstStyle>
            <a:lvl1pPr>
              <a:defRPr/>
            </a:lvl1pPr>
          </a:lstStyle>
          <a:p>
            <a:pPr>
              <a:defRPr/>
            </a:pPr>
            <a:fld id="{7418E032-E1B6-4390-AF66-7356FD39AF36}" type="slidenum">
              <a:rPr lang="zh-CN" altLang="en-US"/>
            </a:fld>
            <a:endParaRPr lang="zh-CN" altLang="en-US"/>
          </a:p>
        </p:txBody>
      </p:sp>
    </p:spTree>
  </p:cSld>
  <p:clrMapOvr>
    <a:masterClrMapping/>
  </p:clrMapOvr>
  <p:transition>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48BE475C-3D58-43FF-98F9-D716B25509CB}" type="datetime1">
              <a:rPr lang="zh-CN" altLang="en-US" smtClean="0"/>
            </a:fld>
            <a:endParaRPr lang="zh-CN" altLang="en-US"/>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4FBD10B5-E5EA-4E32-8F01-AD1D09F2D6E6}" type="slidenum">
              <a:rPr lang="zh-CN" altLang="en-US"/>
            </a:fld>
            <a:endParaRPr lang="zh-CN" altLang="en-US"/>
          </a:p>
        </p:txBody>
      </p:sp>
    </p:spTree>
  </p:cSld>
  <p:clrMapOvr>
    <a:masterClrMapping/>
  </p:clrMapOvr>
  <p:transition>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pic>
        <p:nvPicPr>
          <p:cNvPr id="7"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0"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890081" y="1778438"/>
            <a:ext cx="3655181"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90081" y="2665379"/>
            <a:ext cx="3655181"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0"/>
          </p:nvPr>
        </p:nvSpPr>
        <p:spPr/>
        <p:txBody>
          <a:bodyPr/>
          <a:lstStyle>
            <a:lvl1pPr>
              <a:defRPr/>
            </a:lvl1pPr>
          </a:lstStyle>
          <a:p>
            <a:pPr>
              <a:defRPr/>
            </a:pPr>
            <a:fld id="{4C8CDEFD-9A15-45D1-9D96-BF9257DF6532}" type="datetime1">
              <a:rPr lang="zh-CN" altLang="en-US" smtClean="0"/>
            </a:fld>
            <a:endParaRPr lang="zh-CN" altLang="en-US"/>
          </a:p>
        </p:txBody>
      </p:sp>
      <p:sp>
        <p:nvSpPr>
          <p:cNvPr id="12" name="页脚占位符 7"/>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3" name="灯片编号占位符 8"/>
          <p:cNvSpPr>
            <a:spLocks noGrp="1"/>
          </p:cNvSpPr>
          <p:nvPr>
            <p:ph type="sldNum" sz="quarter" idx="12"/>
          </p:nvPr>
        </p:nvSpPr>
        <p:spPr/>
        <p:txBody>
          <a:bodyPr/>
          <a:lstStyle>
            <a:lvl1pPr>
              <a:defRPr/>
            </a:lvl1pPr>
          </a:lstStyle>
          <a:p>
            <a:pPr>
              <a:defRPr/>
            </a:pPr>
            <a:fld id="{1899D312-E547-4493-877C-90EE0B0F96A1}" type="slidenum">
              <a:rPr lang="zh-CN" altLang="en-US"/>
            </a:fld>
            <a:endParaRPr lang="zh-CN" altLang="en-US"/>
          </a:p>
        </p:txBody>
      </p:sp>
    </p:spTree>
  </p:cSld>
  <p:clrMapOvr>
    <a:masterClrMapping/>
  </p:clrMapOvr>
  <p:transition>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fld id="{97DF073D-EB37-4130-8F42-CF59120AFFEA}" type="datetime1">
              <a:rPr lang="zh-CN" altLang="en-US" smtClean="0"/>
            </a:fld>
            <a:endParaRPr lang="zh-CN" altLang="en-US"/>
          </a:p>
        </p:txBody>
      </p:sp>
      <p:sp>
        <p:nvSpPr>
          <p:cNvPr id="4" name="灯片编号占位符 5"/>
          <p:cNvSpPr>
            <a:spLocks noGrp="1"/>
          </p:cNvSpPr>
          <p:nvPr>
            <p:ph type="sldNum" sz="quarter" idx="11"/>
          </p:nvPr>
        </p:nvSpPr>
        <p:spPr/>
        <p:txBody>
          <a:bodyPr/>
          <a:lstStyle>
            <a:lvl1pPr>
              <a:defRPr/>
            </a:lvl1pPr>
          </a:lstStyle>
          <a:p>
            <a:pPr>
              <a:defRPr/>
            </a:pPr>
            <a:fld id="{4801CE1C-B046-4F33-AE1F-85DD2C916C30}" type="slidenum">
              <a:rPr lang="zh-CN" altLang="en-US"/>
            </a:fld>
            <a:endParaRPr lang="zh-CN" altLang="en-US"/>
          </a:p>
        </p:txBody>
      </p:sp>
    </p:spTree>
  </p:cSld>
  <p:clrMapOvr>
    <a:masterClrMapping/>
  </p:clrMapOvr>
  <p:transition>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2"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1"/>
          <p:cNvSpPr>
            <a:spLocks noGrp="1"/>
          </p:cNvSpPr>
          <p:nvPr>
            <p:ph type="dt" sz="half" idx="10"/>
          </p:nvPr>
        </p:nvSpPr>
        <p:spPr/>
        <p:txBody>
          <a:bodyPr/>
          <a:lstStyle>
            <a:lvl1pPr>
              <a:defRPr/>
            </a:lvl1pPr>
          </a:lstStyle>
          <a:p>
            <a:pPr>
              <a:defRPr/>
            </a:pPr>
            <a:fld id="{209B2E8F-806F-4152-A037-0271276B7C6A}" type="datetime1">
              <a:rPr lang="zh-CN" altLang="en-US" smtClean="0"/>
            </a:fld>
            <a:endParaRPr lang="zh-CN" altLang="en-US"/>
          </a:p>
        </p:txBody>
      </p:sp>
      <p:sp>
        <p:nvSpPr>
          <p:cNvPr id="7" name="页脚占位符 2"/>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8" name="灯片编号占位符 3"/>
          <p:cNvSpPr>
            <a:spLocks noGrp="1"/>
          </p:cNvSpPr>
          <p:nvPr>
            <p:ph type="sldNum" sz="quarter" idx="12"/>
          </p:nvPr>
        </p:nvSpPr>
        <p:spPr/>
        <p:txBody>
          <a:bodyPr/>
          <a:lstStyle>
            <a:lvl1pPr>
              <a:defRPr/>
            </a:lvl1pPr>
          </a:lstStyle>
          <a:p>
            <a:pPr>
              <a:defRPr/>
            </a:pPr>
            <a:fld id="{0FE357F7-AF9B-4143-8263-6ED268F2DFFF}" type="slidenum">
              <a:rPr lang="zh-CN" altLang="en-US"/>
            </a:fld>
            <a:endParaRPr lang="zh-CN" altLang="en-US"/>
          </a:p>
        </p:txBody>
      </p:sp>
    </p:spTree>
  </p:cSld>
  <p:clrMapOvr>
    <a:masterClrMapping/>
  </p:clrMapOvr>
  <p:transition>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编辑母版文本样式</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8FCF73CC-26A3-46A8-B0B4-6DEE4FCF1891}" type="datetime1">
              <a:rPr lang="zh-CN" altLang="en-US" smtClean="0"/>
            </a:fld>
            <a:endParaRPr lang="zh-CN" altLang="en-US"/>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433F91B9-0756-4AB3-BAEB-B6F144FC9490}" type="slidenum">
              <a:rPr lang="zh-CN" altLang="en-US"/>
            </a:fld>
            <a:endParaRPr lang="zh-CN" altLang="en-US"/>
          </a:p>
        </p:txBody>
      </p:sp>
    </p:spTree>
  </p:cSld>
  <p:clrMapOvr>
    <a:masterClrMapping/>
  </p:clrMapOvr>
  <p:transition>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showMasterSp="0">
  <p:cSld name="竖版">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8" name="日期占位符 3"/>
          <p:cNvSpPr>
            <a:spLocks noGrp="1"/>
          </p:cNvSpPr>
          <p:nvPr>
            <p:ph type="dt" sz="half" idx="10"/>
          </p:nvPr>
        </p:nvSpPr>
        <p:spPr/>
        <p:txBody>
          <a:bodyPr/>
          <a:lstStyle>
            <a:lvl1pPr>
              <a:defRPr/>
            </a:lvl1pPr>
          </a:lstStyle>
          <a:p>
            <a:pPr>
              <a:defRPr/>
            </a:pPr>
            <a:fld id="{399B01BE-6E59-4C6E-BE19-F5AB57610272}" type="datetime1">
              <a:rPr lang="zh-CN" altLang="en-US" smtClean="0"/>
            </a:fld>
            <a:endParaRPr lang="zh-CN" altLang="en-US"/>
          </a:p>
        </p:txBody>
      </p:sp>
      <p:sp>
        <p:nvSpPr>
          <p:cNvPr id="9" name="页脚占位符 4"/>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0" name="灯片编号占位符 5"/>
          <p:cNvSpPr>
            <a:spLocks noGrp="1"/>
          </p:cNvSpPr>
          <p:nvPr>
            <p:ph type="sldNum" sz="quarter" idx="12"/>
          </p:nvPr>
        </p:nvSpPr>
        <p:spPr/>
        <p:txBody>
          <a:bodyPr/>
          <a:lstStyle>
            <a:lvl1pPr>
              <a:defRPr/>
            </a:lvl1pPr>
          </a:lstStyle>
          <a:p>
            <a:pPr>
              <a:defRPr/>
            </a:pPr>
            <a:fld id="{BD93D22E-D33C-4A12-BBD1-831F42DEFBA6}" type="slidenum">
              <a:rPr lang="zh-CN" altLang="en-US"/>
            </a:fld>
            <a:endParaRPr lang="zh-CN" altLang="en-US"/>
          </a:p>
        </p:txBody>
      </p:sp>
    </p:spTree>
  </p:cSld>
  <p:clrMapOvr>
    <a:masterClrMapping/>
  </p:clrMapOvr>
  <p:transition>
    <p:wipe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showMasterSp="0">
  <p:cSld name="内容">
    <p:spTree>
      <p:nvGrpSpPr>
        <p:cNvPr id="1" name=""/>
        <p:cNvGrpSpPr/>
        <p:nvPr/>
      </p:nvGrpSpPr>
      <p:grpSpPr>
        <a:xfrm>
          <a:off x="0" y="0"/>
          <a:ext cx="0" cy="0"/>
          <a:chOff x="0" y="0"/>
          <a:chExt cx="0" cy="0"/>
        </a:xfrm>
      </p:grpSpPr>
      <p:pic>
        <p:nvPicPr>
          <p:cNvPr id="3"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hasCustomPrompt="1"/>
          </p:nvPr>
        </p:nvSpPr>
        <p:spPr>
          <a:xfrm>
            <a:off x="628650" y="365125"/>
            <a:ext cx="7886700" cy="58118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2"/>
          <p:cNvSpPr>
            <a:spLocks noGrp="1"/>
          </p:cNvSpPr>
          <p:nvPr>
            <p:ph type="dt" sz="half" idx="10"/>
          </p:nvPr>
        </p:nvSpPr>
        <p:spPr/>
        <p:txBody>
          <a:bodyPr/>
          <a:lstStyle>
            <a:lvl1pPr>
              <a:defRPr/>
            </a:lvl1pPr>
          </a:lstStyle>
          <a:p>
            <a:pPr>
              <a:defRPr/>
            </a:pPr>
            <a:fld id="{36FE3A67-8EEC-4A65-B7AB-4379F937B967}" type="datetime1">
              <a:rPr lang="zh-CN" altLang="en-US" smtClean="0"/>
            </a:fld>
            <a:endParaRPr lang="zh-CN" altLang="en-US"/>
          </a:p>
        </p:txBody>
      </p:sp>
      <p:sp>
        <p:nvSpPr>
          <p:cNvPr id="8" name="页脚占位符 3"/>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dirty="0"/>
          </a:p>
        </p:txBody>
      </p:sp>
      <p:sp>
        <p:nvSpPr>
          <p:cNvPr id="9" name="灯片编号占位符 4"/>
          <p:cNvSpPr>
            <a:spLocks noGrp="1"/>
          </p:cNvSpPr>
          <p:nvPr>
            <p:ph type="sldNum" sz="quarter" idx="12"/>
          </p:nvPr>
        </p:nvSpPr>
        <p:spPr/>
        <p:txBody>
          <a:bodyPr/>
          <a:lstStyle>
            <a:lvl1pPr>
              <a:defRPr/>
            </a:lvl1pPr>
          </a:lstStyle>
          <a:p>
            <a:pPr>
              <a:defRPr/>
            </a:pPr>
            <a:fld id="{DE4C8632-CEA3-46F8-A627-C58C3D6BDE84}" type="slidenum">
              <a:rPr lang="zh-CN" altLang="en-US"/>
            </a:fld>
            <a:endParaRPr lang="zh-CN" altLang="en-US"/>
          </a:p>
        </p:txBody>
      </p:sp>
    </p:spTree>
  </p:cSld>
  <p:clrMapOvr>
    <a:masterClrMapping/>
  </p:clrMapOvr>
  <p:transition>
    <p:wipe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showMasterSp="0">
  <p:cSld name="标题，文本与内容">
    <p:bg>
      <p:bgPr>
        <a:gradFill rotWithShape="1">
          <a:gsLst>
            <a:gs pos="0">
              <a:srgbClr val="000000">
                <a:alpha val="100000"/>
              </a:srgbClr>
            </a:gs>
            <a:gs pos="100000">
              <a:srgbClr val="000066">
                <a:alpha val="100000"/>
              </a:srgbClr>
            </a:gs>
            <a:gs pos="100000">
              <a:srgbClr val="0A128C">
                <a:alpha val="100000"/>
              </a:srgbClr>
            </a:gs>
            <a:gs pos="100000">
              <a:srgbClr val="181CC7">
                <a:alpha val="100000"/>
              </a:srgbClr>
            </a:gs>
            <a:gs pos="100000">
              <a:srgbClr val="7005D4">
                <a:alpha val="100000"/>
              </a:srgbClr>
            </a:gs>
            <a:gs pos="100000">
              <a:srgbClr val="8C3D91">
                <a:alpha val="100000"/>
              </a:srgbClr>
            </a:gs>
          </a:gsLst>
          <a:lin ang="16200000"/>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457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4"/>
          <p:cNvSpPr>
            <a:spLocks noGrp="1" noChangeArrowheads="1"/>
          </p:cNvSpPr>
          <p:nvPr>
            <p:ph type="dt" sz="half" idx="12"/>
          </p:nvPr>
        </p:nvSpPr>
        <p:spPr bwMode="auto">
          <a:xfrm>
            <a:off x="457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0000FF"/>
              </a:solidFill>
              <a:effectLst/>
              <a:uLnTx/>
              <a:uFillTx/>
              <a:latin typeface="+mj-lt"/>
              <a:ea typeface="宋体" panose="02010600030101010101" pitchFamily="2" charset="-122"/>
              <a:cs typeface="+mn-cs"/>
            </a:endParaRPr>
          </a:p>
        </p:txBody>
      </p:sp>
      <p:sp>
        <p:nvSpPr>
          <p:cNvPr id="10" name="Rectangle 5"/>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0000FF"/>
              </a:solidFill>
              <a:effectLst/>
              <a:uLnTx/>
              <a:uFillTx/>
              <a:latin typeface="+mj-lt"/>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6553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lgn="r"/>
            <a:fld id="{9A0DB2DC-4C9A-4742-B13C-FB6460FD3503}" type="slidenum">
              <a:rPr lang="en-US" altLang="zh-CN" dirty="0">
                <a:latin typeface="Garamond" panose="02020404030301010803" pitchFamily="18" charset="0"/>
              </a:rPr>
            </a:fld>
            <a:endParaRPr lang="en-US" altLang="zh-CN" dirty="0">
              <a:latin typeface="Garamond" panose="02020404030301010803" pitchFamily="18" charset="0"/>
            </a:endParaRPr>
          </a:p>
        </p:txBody>
      </p:sp>
    </p:spTree>
  </p:cSld>
  <p:clrMapOvr>
    <a:masterClrMapping/>
  </p:clrMapOvr>
  <p:transition>
    <p:wipe di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01650" y="119063"/>
            <a:ext cx="62579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a:t>
            </a:r>
            <a:endParaRPr lang="zh-CN" altLang="en-US"/>
          </a:p>
        </p:txBody>
      </p:sp>
      <p:sp>
        <p:nvSpPr>
          <p:cNvPr id="1027" name="文本占位符 2"/>
          <p:cNvSpPr>
            <a:spLocks noGrp="1" noChangeArrowheads="1"/>
          </p:cNvSpPr>
          <p:nvPr>
            <p:ph type="body" idx="9"/>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Tx/>
              <a:buNone/>
              <a:defRPr sz="1200">
                <a:solidFill>
                  <a:schemeClr val="tx1">
                    <a:tint val="75000"/>
                  </a:schemeClr>
                </a:solidFill>
              </a:defRPr>
            </a:lvl1pPr>
          </a:lstStyle>
          <a:p>
            <a:pPr>
              <a:defRPr/>
            </a:pPr>
            <a:fld id="{D7AB6E7A-3312-4D42-BB2E-656CEE5DF731}" type="datetime1">
              <a:rPr lang="zh-CN" altLang="en-US" smtClean="0"/>
            </a:fld>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Tx/>
              <a:buNone/>
              <a:defRPr sz="1200">
                <a:solidFill>
                  <a:schemeClr val="tx1">
                    <a:tint val="75000"/>
                  </a:schemeClr>
                </a:solidFill>
              </a:defRPr>
            </a:lvl1pPr>
          </a:lstStyle>
          <a:p>
            <a:pPr>
              <a:defRPr/>
            </a:pPr>
            <a:fld id="{B504193A-5286-4E34-A95B-5A486B9B64C7}" type="slidenum">
              <a:rPr lang="zh-CN" altLang="en-US"/>
            </a:fld>
            <a:endParaRPr lang="zh-CN" altLang="en-US"/>
          </a:p>
        </p:txBody>
      </p:sp>
      <p:pic>
        <p:nvPicPr>
          <p:cNvPr id="1030" name="Picture 2" descr="未标题-2 - 副本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直接连接符 4"/>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32"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033" name="Picture 19" descr="C:\Users\Administrator\Desktop\2校徽、中英文字体及标准色的组合.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dir="u"/>
  </p:transition>
  <p:hf hdr="0" ftr="0" dt="0"/>
  <p:txStyles>
    <p:titleStyle>
      <a:lvl1pPr algn="l" rtl="0" eaLnBrk="1" fontAlgn="base" hangingPunct="1">
        <a:lnSpc>
          <a:spcPct val="90000"/>
        </a:lnSpc>
        <a:spcBef>
          <a:spcPct val="0"/>
        </a:spcBef>
        <a:spcAft>
          <a:spcPct val="0"/>
        </a:spcAft>
        <a:defRPr sz="4400" kern="1200">
          <a:solidFill>
            <a:schemeClr val="bg1"/>
          </a:solidFill>
          <a:latin typeface="+mj-lt"/>
          <a:ea typeface="+mj-ea"/>
          <a:cs typeface="+mj-cs"/>
        </a:defRPr>
      </a:lvl1pPr>
      <a:lvl2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hyperlink" Target="http://www.cs.utexas.edu/users/EWD/%0bhttp:/www.cs.utexas.edu/users/EWD/ewd01xx/EWD196.PDF"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hyperlink" Target="http://www.sei.cmu.edu/architecture/definitions.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baidu.com/link?url=gzclR_njttRmwowPQNxHy3mpe9FzK3JvIZp8qpZ8YC8cgOm7w1tXAeJnp9qHKOr-iAnCZ8A45xV7pn6OVMRs3Yt77W02k3hJHYWronVNSWi" TargetMode="Externa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3.emf"/><Relationship Id="rId1" Type="http://schemas.openxmlformats.org/officeDocument/2006/relationships/oleObject" Target="../embeddings/oleObject1.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hyperlink" Target="http://www.swebok.org/" TargetMode="Externa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lIns="90488" tIns="44450" rIns="90488" bIns="44450"/>
          <a:lstStyle/>
          <a:p>
            <a:pPr algn="ctr" eaLnBrk="1" hangingPunct="1"/>
            <a:r>
              <a:rPr lang="zh-CN" altLang="en-US" sz="5400" b="1" dirty="0">
                <a:solidFill>
                  <a:srgbClr val="000000"/>
                </a:solidFill>
                <a:latin typeface="黑体" panose="02010609060101010101" pitchFamily="49" charset="-122"/>
                <a:ea typeface="黑体" panose="02010609060101010101" pitchFamily="49" charset="-122"/>
              </a:rPr>
              <a:t>软件体系结构</a:t>
            </a:r>
            <a:br>
              <a:rPr lang="zh-CN" altLang="en-US" sz="5400" b="1" dirty="0">
                <a:solidFill>
                  <a:srgbClr val="000000"/>
                </a:solidFill>
                <a:latin typeface="黑体" panose="02010609060101010101" pitchFamily="49" charset="-122"/>
                <a:ea typeface="黑体" panose="02010609060101010101" pitchFamily="49" charset="-122"/>
              </a:rPr>
            </a:br>
            <a:endParaRPr lang="zh-CN" altLang="en-US" sz="5400" b="1" dirty="0">
              <a:solidFill>
                <a:srgbClr val="000000"/>
              </a:solidFill>
              <a:latin typeface="黑体" panose="02010609060101010101" pitchFamily="49" charset="-122"/>
              <a:ea typeface="黑体" panose="02010609060101010101" pitchFamily="49" charset="-122"/>
            </a:endParaRPr>
          </a:p>
        </p:txBody>
      </p:sp>
      <p:sp>
        <p:nvSpPr>
          <p:cNvPr id="4099" name="Rectangle 4"/>
          <p:cNvSpPr>
            <a:spLocks noGrp="1" noChangeArrowheads="1"/>
          </p:cNvSpPr>
          <p:nvPr>
            <p:ph type="subTitle" idx="1"/>
          </p:nvPr>
        </p:nvSpPr>
        <p:spPr/>
        <p:txBody>
          <a:bodyPr/>
          <a:lstStyle/>
          <a:p>
            <a:pPr eaLnBrk="1" hangingPunct="1"/>
            <a:r>
              <a:rPr lang="en-US" altLang="zh-CN" dirty="0"/>
              <a:t>  </a:t>
            </a:r>
            <a:endParaRPr lang="zh-CN" altLang="en-US" dirty="0"/>
          </a:p>
        </p:txBody>
      </p:sp>
      <p:sp>
        <p:nvSpPr>
          <p:cNvPr id="4" name="Rectangle 3"/>
          <p:cNvSpPr txBox="1">
            <a:spLocks noChangeArrowheads="1"/>
          </p:cNvSpPr>
          <p:nvPr/>
        </p:nvSpPr>
        <p:spPr bwMode="auto">
          <a:xfrm>
            <a:off x="395536" y="3520662"/>
            <a:ext cx="85280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1" fontAlgn="base" hangingPunct="1">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1" fontAlgn="base" hangingPunct="1">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1" fontAlgn="base" hangingPunct="1">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4000" dirty="0">
                <a:ea typeface="黑体" panose="02010609060101010101" pitchFamily="49" charset="-122"/>
              </a:rPr>
              <a:t>第</a:t>
            </a:r>
            <a:r>
              <a:rPr lang="en-US" altLang="zh-CN" sz="4000" dirty="0">
                <a:ea typeface="黑体" panose="02010609060101010101" pitchFamily="49" charset="-122"/>
              </a:rPr>
              <a:t>1</a:t>
            </a:r>
            <a:r>
              <a:rPr lang="zh-CN" altLang="en-US" sz="4000" dirty="0">
                <a:ea typeface="黑体" panose="02010609060101010101" pitchFamily="49" charset="-122"/>
              </a:rPr>
              <a:t>章 </a:t>
            </a:r>
            <a:r>
              <a:rPr lang="en-US" altLang="zh-CN" sz="4000" dirty="0">
                <a:ea typeface="黑体" panose="02010609060101010101" pitchFamily="49" charset="-122"/>
              </a:rPr>
              <a:t> </a:t>
            </a:r>
            <a:r>
              <a:rPr lang="zh-CN" altLang="en-US" sz="4000" dirty="0">
                <a:ea typeface="黑体" panose="02010609060101010101" pitchFamily="49" charset="-122"/>
              </a:rPr>
              <a:t>概述</a:t>
            </a:r>
            <a:endParaRPr lang="en-US" altLang="zh-CN" sz="4000" dirty="0">
              <a:ea typeface="黑体" panose="02010609060101010101" pitchFamily="49" charset="-122"/>
            </a:endParaRPr>
          </a:p>
          <a:p>
            <a:endParaRPr lang="en-US" altLang="zh-CN" sz="4000" dirty="0">
              <a:ea typeface="黑体" panose="02010609060101010101" pitchFamily="49" charset="-122"/>
            </a:endParaRPr>
          </a:p>
          <a:p>
            <a:r>
              <a:rPr lang="zh-CN" altLang="en-US" sz="2800" dirty="0">
                <a:ea typeface="黑体" panose="02010609060101010101" pitchFamily="49" charset="-122"/>
              </a:rPr>
              <a:t>赵庆玲</a:t>
            </a:r>
            <a:endParaRPr lang="en-US" altLang="zh-CN" sz="2800" dirty="0">
              <a:ea typeface="黑体" panose="02010609060101010101" pitchFamily="49" charset="-122"/>
            </a:endParaRPr>
          </a:p>
          <a:p>
            <a:r>
              <a:rPr lang="zh-CN" altLang="en-US" sz="2800" dirty="0">
                <a:ea typeface="黑体" panose="02010609060101010101" pitchFamily="49" charset="-122"/>
              </a:rPr>
              <a:t>南京理工大学计算机科学与工程学院</a:t>
            </a:r>
            <a:endParaRPr lang="en-US" altLang="zh-CN" sz="2800" dirty="0">
              <a:ea typeface="黑体" panose="02010609060101010101" pitchFamily="49" charset="-122"/>
            </a:endParaRPr>
          </a:p>
          <a:p>
            <a:r>
              <a:rPr lang="en-US" altLang="zh-CN" sz="2800" dirty="0">
                <a:ea typeface="黑体" panose="02010609060101010101" pitchFamily="49" charset="-122"/>
              </a:rPr>
              <a:t>ada_zhao@njust.edu.cn</a:t>
            </a:r>
            <a:endParaRPr lang="en-US" altLang="zh-CN" sz="2800" dirty="0">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课程简介</a:t>
            </a:r>
            <a:endParaRPr lang="zh-CN" altLang="en-US"/>
          </a:p>
        </p:txBody>
      </p:sp>
      <p:sp>
        <p:nvSpPr>
          <p:cNvPr id="3" name="内容占位符 2"/>
          <p:cNvSpPr>
            <a:spLocks noGrp="1"/>
          </p:cNvSpPr>
          <p:nvPr>
            <p:ph idx="1"/>
          </p:nvPr>
        </p:nvSpPr>
        <p:spPr/>
        <p:txBody>
          <a:bodyPr/>
          <a:lstStyle/>
          <a:p>
            <a:r>
              <a:rPr lang="zh-CN" altLang="en-US" dirty="0"/>
              <a:t>授课人：</a:t>
            </a:r>
            <a:endParaRPr lang="zh-CN" altLang="en-US" dirty="0"/>
          </a:p>
          <a:p>
            <a:pPr lvl="1"/>
            <a:r>
              <a:rPr lang="zh-CN" altLang="en-US" dirty="0"/>
              <a:t>赵庆玲</a:t>
            </a:r>
            <a:endParaRPr lang="zh-CN" altLang="en-US" sz="2400" dirty="0"/>
          </a:p>
          <a:p>
            <a:pPr lvl="1"/>
            <a:r>
              <a:rPr lang="en-US" altLang="zh-CN" dirty="0"/>
              <a:t>ada_zhao</a:t>
            </a:r>
            <a:r>
              <a:rPr lang="en-US" altLang="zh-CN" sz="2400" dirty="0"/>
              <a:t>@njust.edu.cn</a:t>
            </a:r>
            <a:endParaRPr lang="en-US" altLang="zh-CN" sz="2400" dirty="0"/>
          </a:p>
          <a:p>
            <a:r>
              <a:rPr lang="zh-CN" altLang="en-US" dirty="0"/>
              <a:t>考核：</a:t>
            </a:r>
            <a:endParaRPr lang="zh-CN" altLang="en-US" dirty="0"/>
          </a:p>
          <a:p>
            <a:pPr lvl="1"/>
            <a:r>
              <a:rPr lang="zh-CN" altLang="en-US" dirty="0"/>
              <a:t>平时</a:t>
            </a:r>
            <a:r>
              <a:rPr lang="en-US" altLang="zh-CN" dirty="0"/>
              <a:t>+</a:t>
            </a:r>
            <a:r>
              <a:rPr lang="zh-CN" altLang="en-US" dirty="0"/>
              <a:t>考勤</a:t>
            </a:r>
            <a:r>
              <a:rPr lang="en-US" altLang="zh-CN" dirty="0"/>
              <a:t> 10%</a:t>
            </a:r>
            <a:endParaRPr lang="zh-CN" altLang="en-US" dirty="0"/>
          </a:p>
          <a:p>
            <a:pPr lvl="1"/>
            <a:r>
              <a:rPr lang="zh-CN" altLang="en-US" dirty="0"/>
              <a:t>期末考试（半开卷）</a:t>
            </a:r>
            <a:r>
              <a:rPr lang="en-US" altLang="zh-CN" dirty="0"/>
              <a:t>60%</a:t>
            </a:r>
            <a:endParaRPr lang="en-US" altLang="zh-CN" dirty="0"/>
          </a:p>
          <a:p>
            <a:pPr lvl="1"/>
            <a:r>
              <a:rPr lang="zh-CN" altLang="en-US" dirty="0"/>
              <a:t>软件大作业</a:t>
            </a:r>
            <a:r>
              <a:rPr lang="en-US" altLang="zh-CN" dirty="0"/>
              <a:t> 30%</a:t>
            </a:r>
            <a:endParaRPr lang="en-US" altLang="zh-CN" dirty="0"/>
          </a:p>
          <a:p>
            <a:pPr lvl="1"/>
            <a:endParaRPr lang="en-US" altLang="zh-CN" dirty="0"/>
          </a:p>
          <a:p>
            <a:r>
              <a:rPr lang="en-US" altLang="zh-CN" dirty="0"/>
              <a:t>QQ </a:t>
            </a:r>
            <a:r>
              <a:rPr lang="zh-CN" altLang="en-US" dirty="0"/>
              <a:t>群：</a:t>
            </a:r>
            <a:endParaRPr lang="zh-CN" altLang="en-US" dirty="0"/>
          </a:p>
        </p:txBody>
      </p:sp>
      <p:sp>
        <p:nvSpPr>
          <p:cNvPr id="4" name="灯片编号占位符 3"/>
          <p:cNvSpPr>
            <a:spLocks noGrp="1"/>
          </p:cNvSpPr>
          <p:nvPr>
            <p:ph type="sldNum" sz="quarter" idx="11"/>
          </p:nvPr>
        </p:nvSpPr>
        <p:spPr/>
        <p:txBody>
          <a:bodyPr/>
          <a:lstStyle/>
          <a:p>
            <a:pPr>
              <a:defRPr/>
            </a:pPr>
            <a:fld id="{6BF530E8-F43B-4C96-89F0-9964C1590B71}" type="slidenum">
              <a:rPr lang="zh-CN" altLang="en-US"/>
            </a:fld>
            <a:endParaRPr lang="zh-CN" altLang="en-US"/>
          </a:p>
        </p:txBody>
      </p:sp>
      <p:pic>
        <p:nvPicPr>
          <p:cNvPr id="5" name="图片 4" descr="软件体系结构2026"/>
          <p:cNvPicPr>
            <a:picLocks noChangeAspect="1"/>
          </p:cNvPicPr>
          <p:nvPr/>
        </p:nvPicPr>
        <p:blipFill>
          <a:blip r:embed="rId1"/>
          <a:srcRect t="17454" r="-2288" b="23750"/>
          <a:stretch>
            <a:fillRect/>
          </a:stretch>
        </p:blipFill>
        <p:spPr>
          <a:xfrm>
            <a:off x="2844165" y="4940935"/>
            <a:ext cx="1773555" cy="1813560"/>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教材</a:t>
            </a:r>
            <a:endParaRPr lang="zh-CN" altLang="en-US" dirty="0"/>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1"/>
          </p:nvPr>
        </p:nvSpPr>
        <p:spPr/>
        <p:txBody>
          <a:bodyPr/>
          <a:lstStyle/>
          <a:p>
            <a:pPr>
              <a:defRPr/>
            </a:pPr>
            <a:fld id="{6BF530E8-F43B-4C96-89F0-9964C1590B71}" type="slidenum">
              <a:rPr lang="zh-CN" altLang="en-US" smtClean="0"/>
            </a:fld>
            <a:endParaRPr lang="zh-CN" altLang="en-US"/>
          </a:p>
        </p:txBody>
      </p:sp>
      <p:pic>
        <p:nvPicPr>
          <p:cNvPr id="8" name="图片 7"/>
          <p:cNvPicPr>
            <a:picLocks noChangeAspect="1"/>
          </p:cNvPicPr>
          <p:nvPr/>
        </p:nvPicPr>
        <p:blipFill>
          <a:blip r:embed="rId1"/>
          <a:stretch>
            <a:fillRect/>
          </a:stretch>
        </p:blipFill>
        <p:spPr>
          <a:xfrm>
            <a:off x="31652" y="1196752"/>
            <a:ext cx="2884164" cy="4153530"/>
          </a:xfrm>
          <a:prstGeom prst="rect">
            <a:avLst/>
          </a:prstGeom>
        </p:spPr>
      </p:pic>
      <p:pic>
        <p:nvPicPr>
          <p:cNvPr id="10" name="图片 9"/>
          <p:cNvPicPr>
            <a:picLocks noChangeAspect="1"/>
          </p:cNvPicPr>
          <p:nvPr/>
        </p:nvPicPr>
        <p:blipFill>
          <a:blip r:embed="rId2"/>
          <a:stretch>
            <a:fillRect/>
          </a:stretch>
        </p:blipFill>
        <p:spPr>
          <a:xfrm>
            <a:off x="2922860" y="1962473"/>
            <a:ext cx="3337304" cy="4077642"/>
          </a:xfrm>
          <a:prstGeom prst="rect">
            <a:avLst/>
          </a:prstGeom>
        </p:spPr>
      </p:pic>
      <p:pic>
        <p:nvPicPr>
          <p:cNvPr id="12" name="图片 11"/>
          <p:cNvPicPr>
            <a:picLocks noChangeAspect="1"/>
          </p:cNvPicPr>
          <p:nvPr/>
        </p:nvPicPr>
        <p:blipFill>
          <a:blip r:embed="rId3"/>
          <a:stretch>
            <a:fillRect/>
          </a:stretch>
        </p:blipFill>
        <p:spPr>
          <a:xfrm>
            <a:off x="6012160" y="2681646"/>
            <a:ext cx="3100188" cy="4007186"/>
          </a:xfrm>
          <a:prstGeom prst="rect">
            <a:avLst/>
          </a:prstGeom>
        </p:spPr>
      </p:pic>
    </p:spTree>
  </p:cSld>
  <p:clrMapOvr>
    <a:masterClrMapping/>
  </p:clrMapOvr>
  <p:transition>
    <p:wipe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pPr eaLnBrk="1" hangingPunct="1"/>
            <a:r>
              <a:rPr lang="zh-CN" altLang="en-US"/>
              <a:t>“建筑体系结构”</a:t>
            </a:r>
            <a:endParaRPr lang="zh-CN" altLang="en-US"/>
          </a:p>
        </p:txBody>
      </p:sp>
      <p:sp>
        <p:nvSpPr>
          <p:cNvPr id="2" name="内容占位符 1"/>
          <p:cNvSpPr>
            <a:spLocks noGrp="1"/>
          </p:cNvSpPr>
          <p:nvPr>
            <p:ph idx="1"/>
          </p:nvPr>
        </p:nvSpPr>
        <p:spPr/>
        <p:txBody>
          <a:bodyPr/>
          <a:lstStyle/>
          <a:p>
            <a:endParaRPr lang="zh-CN" altLang="en-US"/>
          </a:p>
        </p:txBody>
      </p:sp>
      <p:sp>
        <p:nvSpPr>
          <p:cNvPr id="5123"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CE3F644-80E0-4637-8351-33A7F740D2FB}" type="datetime1">
              <a:rPr lang="zh-CN" altLang="en-US" sz="1200" smtClean="0">
                <a:solidFill>
                  <a:schemeClr val="tx1"/>
                </a:solidFill>
              </a:rPr>
            </a:fld>
            <a:endParaRPr lang="zh-CN" altLang="en-US" sz="1200">
              <a:solidFill>
                <a:schemeClr val="tx1"/>
              </a:solidFill>
            </a:endParaRPr>
          </a:p>
        </p:txBody>
      </p:sp>
      <p:sp>
        <p:nvSpPr>
          <p:cNvPr id="5122"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B3A50B17-861C-4452-B55D-2E867402B9A9}"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pic>
        <p:nvPicPr>
          <p:cNvPr id="5125" name="Picture 3" descr="双塔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3429000"/>
            <a:ext cx="2151063"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4" descr="双塔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1809750"/>
            <a:ext cx="1285875"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5" descr="双塔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0850" y="3068638"/>
            <a:ext cx="1941513"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8" name="Picture 6" descr="双塔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3800" y="1844675"/>
            <a:ext cx="174307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9" name="Picture 7" descr="纽约世贸中心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5600" y="4076700"/>
            <a:ext cx="1828800"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0" name="Picture 8" descr="纽约世贸大厦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48488" y="2482850"/>
            <a:ext cx="1905000"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2"/>
          <p:cNvSpPr>
            <a:spLocks noGrp="1" noChangeArrowheads="1"/>
          </p:cNvSpPr>
          <p:nvPr>
            <p:ph type="title"/>
          </p:nvPr>
        </p:nvSpPr>
        <p:spPr/>
        <p:txBody>
          <a:bodyPr/>
          <a:lstStyle/>
          <a:p>
            <a:pPr eaLnBrk="1" hangingPunct="1"/>
            <a:r>
              <a:rPr lang="zh-CN" altLang="en-US" dirty="0"/>
              <a:t>软件危机</a:t>
            </a:r>
            <a:endParaRPr lang="en-US" altLang="zh-CN" dirty="0">
              <a:latin typeface="微软雅黑" panose="020B0503020204020204" pitchFamily="34" charset="-122"/>
              <a:ea typeface="微软雅黑" panose="020B0503020204020204" pitchFamily="34" charset="-122"/>
            </a:endParaRPr>
          </a:p>
        </p:txBody>
      </p:sp>
      <p:sp>
        <p:nvSpPr>
          <p:cNvPr id="7171" name="内容占位符 13"/>
          <p:cNvSpPr>
            <a:spLocks noGrp="1" noChangeArrowheads="1"/>
          </p:cNvSpPr>
          <p:nvPr>
            <p:ph idx="1"/>
          </p:nvPr>
        </p:nvSpPr>
        <p:spPr/>
        <p:txBody>
          <a:bodyPr/>
          <a:lstStyle/>
          <a:p>
            <a:pPr marL="0" indent="0" eaLnBrk="1" hangingPunct="1">
              <a:buFont typeface="Wingdings" panose="05000000000000000000" pitchFamily="2" charset="2"/>
              <a:buNone/>
            </a:pPr>
            <a:r>
              <a:rPr lang="en-US" altLang="zh-CN" sz="2800"/>
              <a:t>The causes of the software crisis</a:t>
            </a:r>
            <a:endParaRPr lang="en-US" altLang="zh-CN" sz="2800"/>
          </a:p>
          <a:p>
            <a:pPr marL="0" indent="0" eaLnBrk="1" hangingPunct="1">
              <a:buFont typeface="Wingdings" panose="05000000000000000000" pitchFamily="2" charset="2"/>
              <a:buNone/>
            </a:pPr>
            <a:r>
              <a:rPr lang="zh-CN" altLang="en-US" sz="2800"/>
              <a:t>软件危机的原因</a:t>
            </a:r>
            <a:endParaRPr lang="zh-CN" altLang="en-US" sz="2800"/>
          </a:p>
          <a:p>
            <a:pPr lvl="1" indent="-342900" eaLnBrk="1" hangingPunct="1"/>
            <a:r>
              <a:rPr lang="en-US" altLang="zh-CN" sz="2400"/>
              <a:t>The scale of the software is getting bigger and bigger</a:t>
            </a:r>
            <a:endParaRPr lang="en-US" altLang="zh-CN" sz="2400"/>
          </a:p>
          <a:p>
            <a:pPr lvl="1" indent="-342900" eaLnBrk="1" hangingPunct="1"/>
            <a:r>
              <a:rPr lang="zh-CN" altLang="en-US" sz="2400"/>
              <a:t>软件的规模越来越大</a:t>
            </a:r>
            <a:endParaRPr lang="zh-CN" altLang="en-US" sz="2400"/>
          </a:p>
          <a:p>
            <a:pPr lvl="1" indent="-342900" eaLnBrk="1" hangingPunct="1"/>
            <a:r>
              <a:rPr lang="en-US" altLang="zh-CN" sz="2400"/>
              <a:t>Increasing complexity</a:t>
            </a:r>
            <a:endParaRPr lang="en-US" altLang="zh-CN" sz="2400"/>
          </a:p>
          <a:p>
            <a:pPr lvl="1" indent="-342900" eaLnBrk="1" hangingPunct="1"/>
            <a:r>
              <a:rPr lang="zh-CN" altLang="en-US" sz="2400"/>
              <a:t>日益复杂</a:t>
            </a:r>
            <a:endParaRPr lang="zh-CN" altLang="en-US" sz="2400"/>
          </a:p>
          <a:p>
            <a:pPr lvl="1" indent="-342900" eaLnBrk="1" hangingPunct="1"/>
            <a:r>
              <a:rPr lang="en-US" altLang="zh-CN" sz="2400"/>
              <a:t>Delivery time is relatively short</a:t>
            </a:r>
            <a:endParaRPr lang="en-US" altLang="zh-CN" sz="2400"/>
          </a:p>
          <a:p>
            <a:pPr lvl="1" indent="-342900" eaLnBrk="1" hangingPunct="1"/>
            <a:r>
              <a:rPr lang="zh-CN" altLang="en-US" sz="2400"/>
              <a:t>交货时间比较短</a:t>
            </a:r>
            <a:endParaRPr lang="en-US" altLang="zh-CN"/>
          </a:p>
        </p:txBody>
      </p:sp>
      <p:sp>
        <p:nvSpPr>
          <p:cNvPr id="7172" name="灯片编号占位符 1"/>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445F972-6BDA-444E-80CB-B98B9C5BCFA1}" type="slidenum">
              <a:rPr lang="en-US" altLang="zh-CN" sz="1200" b="0" smtClean="0">
                <a:solidFill>
                  <a:srgbClr val="666666"/>
                </a:solidFill>
                <a:latin typeface="微软雅黑" panose="020B0503020204020204" pitchFamily="34" charset="-122"/>
                <a:ea typeface="微软雅黑" panose="020B0503020204020204" pitchFamily="34" charset="-122"/>
              </a:rPr>
            </a:fld>
            <a:endParaRPr lang="zh-CN" altLang="en-US" sz="1200" b="0">
              <a:solidFill>
                <a:srgbClr val="666666"/>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软件危机</a:t>
            </a:r>
            <a:endParaRPr lang="zh-CN" altLang="en-US" dirty="0"/>
          </a:p>
        </p:txBody>
      </p:sp>
      <p:sp>
        <p:nvSpPr>
          <p:cNvPr id="3" name="内容占位符 2"/>
          <p:cNvSpPr>
            <a:spLocks noGrp="1"/>
          </p:cNvSpPr>
          <p:nvPr>
            <p:ph idx="1"/>
          </p:nvPr>
        </p:nvSpPr>
        <p:spPr/>
        <p:txBody>
          <a:bodyPr/>
          <a:lstStyle/>
          <a:p>
            <a:r>
              <a:rPr lang="en-US" altLang="zh-CN" dirty="0"/>
              <a:t>IBM 360 OS, 5000</a:t>
            </a:r>
            <a:r>
              <a:rPr lang="zh-CN" altLang="en-US" dirty="0"/>
              <a:t>多人年，耗时</a:t>
            </a:r>
            <a:r>
              <a:rPr lang="en-US" altLang="zh-CN" dirty="0"/>
              <a:t>4</a:t>
            </a:r>
            <a:r>
              <a:rPr lang="zh-CN" altLang="en-US" dirty="0"/>
              <a:t>年</a:t>
            </a:r>
            <a:r>
              <a:rPr lang="en-US" altLang="zh-CN" dirty="0"/>
              <a:t>(1963</a:t>
            </a:r>
            <a:r>
              <a:rPr lang="zh-CN" altLang="en-US" dirty="0"/>
              <a:t>－</a:t>
            </a:r>
            <a:r>
              <a:rPr lang="en-US" altLang="zh-CN" dirty="0"/>
              <a:t>1966)</a:t>
            </a:r>
            <a:r>
              <a:rPr lang="zh-CN" altLang="en-US" dirty="0"/>
              <a:t>，花费</a:t>
            </a:r>
            <a:r>
              <a:rPr lang="en-US" altLang="zh-CN" dirty="0"/>
              <a:t>2</a:t>
            </a:r>
            <a:r>
              <a:rPr lang="zh-CN" altLang="en-US" dirty="0"/>
              <a:t>亿多美元，每次发布发现</a:t>
            </a:r>
            <a:r>
              <a:rPr lang="en-US" altLang="zh-CN" dirty="0"/>
              <a:t>1000</a:t>
            </a:r>
            <a:r>
              <a:rPr lang="zh-CN" altLang="en-US" dirty="0"/>
              <a:t>多个</a:t>
            </a:r>
            <a:r>
              <a:rPr lang="en-US" altLang="zh-CN" dirty="0"/>
              <a:t>bug</a:t>
            </a:r>
            <a:endParaRPr lang="zh-CN" altLang="en-US" dirty="0"/>
          </a:p>
          <a:p>
            <a:r>
              <a:rPr lang="en-US" altLang="zh-CN" dirty="0">
                <a:solidFill>
                  <a:srgbClr val="FF0000"/>
                </a:solidFill>
              </a:rPr>
              <a:t>The IBM 360 </a:t>
            </a:r>
            <a:r>
              <a:rPr lang="en-US" altLang="zh-CN" dirty="0"/>
              <a:t>operating system developed by IBM of the United States </a:t>
            </a:r>
            <a:r>
              <a:rPr lang="en-US" altLang="zh-CN" dirty="0">
                <a:solidFill>
                  <a:srgbClr val="FF0000"/>
                </a:solidFill>
              </a:rPr>
              <a:t>from</a:t>
            </a:r>
            <a:r>
              <a:rPr lang="en-US" altLang="zh-CN" dirty="0"/>
              <a:t> </a:t>
            </a:r>
            <a:r>
              <a:rPr lang="en-US" altLang="zh-CN" dirty="0">
                <a:solidFill>
                  <a:srgbClr val="FF0000"/>
                </a:solidFill>
              </a:rPr>
              <a:t>1963 to 1966</a:t>
            </a:r>
            <a:r>
              <a:rPr lang="zh-CN" altLang="en-US" dirty="0"/>
              <a:t>，</a:t>
            </a:r>
            <a:r>
              <a:rPr lang="en-US" altLang="zh-CN" dirty="0"/>
              <a:t>which took </a:t>
            </a:r>
            <a:r>
              <a:rPr lang="en-US" altLang="zh-CN" dirty="0">
                <a:solidFill>
                  <a:srgbClr val="FF0000"/>
                </a:solidFill>
              </a:rPr>
              <a:t>5000 people </a:t>
            </a:r>
            <a:r>
              <a:rPr lang="en-US" altLang="zh-CN" dirty="0"/>
              <a:t>a year to work, with at most </a:t>
            </a:r>
            <a:r>
              <a:rPr lang="en-US" altLang="zh-CN" dirty="0">
                <a:solidFill>
                  <a:srgbClr val="FF0000"/>
                </a:solidFill>
              </a:rPr>
              <a:t>1000 people </a:t>
            </a:r>
            <a:r>
              <a:rPr lang="en-US" altLang="zh-CN" dirty="0"/>
              <a:t>working on development, and nearly a million lines of programming…According to statistics, each new release of the operating system is the result of finding </a:t>
            </a:r>
            <a:r>
              <a:rPr lang="en-US" altLang="zh-CN" dirty="0">
                <a:solidFill>
                  <a:srgbClr val="FF0000"/>
                </a:solidFill>
              </a:rPr>
              <a:t>1000 bug </a:t>
            </a:r>
            <a:r>
              <a:rPr lang="en-US" altLang="zh-CN" dirty="0"/>
              <a:t>fixes in the previous version…</a:t>
            </a:r>
            <a:endParaRPr lang="en-US" altLang="zh-CN" dirty="0"/>
          </a:p>
          <a:p>
            <a:endParaRPr lang="zh-CN" altLang="en-US" dirty="0"/>
          </a:p>
        </p:txBody>
      </p:sp>
      <p:sp>
        <p:nvSpPr>
          <p:cNvPr id="4" name="灯片编号占位符 3"/>
          <p:cNvSpPr>
            <a:spLocks noGrp="1"/>
          </p:cNvSpPr>
          <p:nvPr>
            <p:ph type="sldNum" sz="quarter" idx="11"/>
          </p:nvPr>
        </p:nvSpPr>
        <p:spPr/>
        <p:txBody>
          <a:bodyPr/>
          <a:lstStyle/>
          <a:p>
            <a:pPr>
              <a:defRPr/>
            </a:pPr>
            <a:fld id="{6BF530E8-F43B-4C96-89F0-9964C1590B71}" type="slidenum">
              <a:rPr lang="zh-CN" altLang="en-US" smtClean="0"/>
            </a:fld>
            <a:endParaRPr lang="zh-CN" altLang="en-US"/>
          </a:p>
        </p:txBody>
      </p:sp>
    </p:spTree>
  </p:cSld>
  <p:clrMapOvr>
    <a:masterClrMapping/>
  </p:clrMapOvr>
  <p:transition>
    <p:wipe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软件危机</a:t>
            </a:r>
            <a:endParaRPr lang="zh-CN" altLang="en-US" dirty="0"/>
          </a:p>
        </p:txBody>
      </p:sp>
      <p:sp>
        <p:nvSpPr>
          <p:cNvPr id="3" name="内容占位符 2"/>
          <p:cNvSpPr>
            <a:spLocks noGrp="1"/>
          </p:cNvSpPr>
          <p:nvPr>
            <p:ph idx="1"/>
          </p:nvPr>
        </p:nvSpPr>
        <p:spPr>
          <a:xfrm>
            <a:off x="611560" y="1383085"/>
            <a:ext cx="5671542" cy="5286275"/>
          </a:xfrm>
        </p:spPr>
        <p:txBody>
          <a:bodyPr>
            <a:normAutofit fontScale="92500"/>
          </a:bodyPr>
          <a:lstStyle/>
          <a:p>
            <a:r>
              <a:rPr lang="en-US" altLang="zh-CN" dirty="0"/>
              <a:t>The director of the project, F. D. </a:t>
            </a:r>
            <a:r>
              <a:rPr lang="en-US" altLang="zh-CN" dirty="0">
                <a:solidFill>
                  <a:srgbClr val="C00000"/>
                </a:solidFill>
              </a:rPr>
              <a:t>Brooks</a:t>
            </a:r>
            <a:r>
              <a:rPr lang="en-US" altLang="zh-CN" dirty="0"/>
              <a:t>, later summed up his painful lessons in the development process:</a:t>
            </a:r>
            <a:r>
              <a:rPr lang="en-US" altLang="zh-CN" i="1" dirty="0"/>
              <a:t>’... </a:t>
            </a:r>
            <a:r>
              <a:rPr lang="en-US" altLang="zh-CN" i="1" dirty="0">
                <a:solidFill>
                  <a:srgbClr val="C00000"/>
                </a:solidFill>
              </a:rPr>
              <a:t>Just as a fugitive beast falls into the mire and becomes a moribund struggle, the more it struggles, the deeper it sinks, the last it cannot escape. Programming is just like this. A lot of programmers are forced to struggle in the mud... No one expected that the problem would fall into such a predicament</a:t>
            </a:r>
            <a:r>
              <a:rPr lang="en-US" altLang="zh-CN" i="1" dirty="0"/>
              <a:t>...’.</a:t>
            </a:r>
            <a:r>
              <a:rPr lang="en-US" altLang="zh-CN" dirty="0"/>
              <a:t> The history of the IBM360 operating system has become a classic example of software development projects.</a:t>
            </a:r>
            <a:endParaRPr lang="en-US" altLang="zh-CN" dirty="0"/>
          </a:p>
          <a:p>
            <a:endParaRPr lang="zh-CN" altLang="en-US" dirty="0"/>
          </a:p>
        </p:txBody>
      </p:sp>
      <p:sp>
        <p:nvSpPr>
          <p:cNvPr id="4" name="灯片编号占位符 3"/>
          <p:cNvSpPr>
            <a:spLocks noGrp="1"/>
          </p:cNvSpPr>
          <p:nvPr>
            <p:ph type="sldNum" sz="quarter" idx="11"/>
          </p:nvPr>
        </p:nvSpPr>
        <p:spPr/>
        <p:txBody>
          <a:bodyPr/>
          <a:lstStyle/>
          <a:p>
            <a:pPr>
              <a:defRPr/>
            </a:pPr>
            <a:fld id="{6BF530E8-F43B-4C96-89F0-9964C1590B71}" type="slidenum">
              <a:rPr lang="zh-CN" altLang="en-US" smtClean="0"/>
            </a:fld>
            <a:endParaRPr lang="zh-CN" altLang="en-US"/>
          </a:p>
        </p:txBody>
      </p:sp>
      <p:pic>
        <p:nvPicPr>
          <p:cNvPr id="5" name="Picture 2" descr="https://gss0.bdstatic.com/-4o3dSag_xI4khGkpoWK1HF6hhy/baike/w%3D268%3Bg%3D0/sign=75f698b9ba0e7bec23da04e71715de05/4b90f603738da97775e50a9db251f8198718e3ba.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57950" y="1916832"/>
            <a:ext cx="2552700" cy="362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2"/>
          <p:cNvSpPr>
            <a:spLocks noGrp="1" noChangeArrowheads="1"/>
          </p:cNvSpPr>
          <p:nvPr>
            <p:ph type="title"/>
          </p:nvPr>
        </p:nvSpPr>
        <p:spPr/>
        <p:txBody>
          <a:bodyPr/>
          <a:lstStyle/>
          <a:p>
            <a:r>
              <a:rPr lang="zh-CN" altLang="en-US" dirty="0"/>
              <a:t>软件危机的表现</a:t>
            </a:r>
            <a:endParaRPr lang="en-US" altLang="zh-CN" dirty="0"/>
          </a:p>
        </p:txBody>
      </p:sp>
      <p:sp>
        <p:nvSpPr>
          <p:cNvPr id="14" name="内容占位符 13"/>
          <p:cNvSpPr>
            <a:spLocks noGrp="1"/>
          </p:cNvSpPr>
          <p:nvPr>
            <p:ph idx="1"/>
          </p:nvPr>
        </p:nvSpPr>
        <p:spPr/>
        <p:txBody>
          <a:bodyPr rtlCol="0"/>
          <a:lstStyle/>
          <a:p>
            <a:pPr marL="0" indent="0" eaLnBrk="1" hangingPunct="1">
              <a:buFont typeface="Wingdings" panose="05000000000000000000" pitchFamily="2" charset="2"/>
              <a:buNone/>
              <a:defRPr/>
            </a:pPr>
            <a:r>
              <a:rPr lang="en-US" sz="2400" dirty="0"/>
              <a:t>The crisis manifested itself in several ways</a:t>
            </a:r>
            <a:endParaRPr lang="en-US" sz="2400" dirty="0"/>
          </a:p>
          <a:p>
            <a:pPr marL="0" indent="0" eaLnBrk="1" hangingPunct="1">
              <a:buFont typeface="Wingdings" panose="05000000000000000000" pitchFamily="2" charset="2"/>
              <a:buNone/>
              <a:defRPr/>
            </a:pPr>
            <a:r>
              <a:rPr lang="zh-CN" altLang="en-US" sz="2400" dirty="0"/>
              <a:t>危机表现在几个方面</a:t>
            </a:r>
            <a:endParaRPr lang="zh-CN" altLang="en-US" sz="2400" dirty="0"/>
          </a:p>
          <a:p>
            <a:pPr marL="685800" lvl="1" eaLnBrk="1" hangingPunct="1">
              <a:buFont typeface="Wingdings" panose="05000000000000000000" pitchFamily="2" charset="2"/>
              <a:buChar char="l"/>
              <a:defRPr/>
            </a:pPr>
            <a:r>
              <a:rPr lang="en-US" sz="1800" dirty="0"/>
              <a:t>Increasing software costs</a:t>
            </a:r>
            <a:endParaRPr lang="en-US" sz="1800" dirty="0"/>
          </a:p>
          <a:p>
            <a:pPr marL="400050" lvl="1" indent="0" eaLnBrk="1" hangingPunct="1">
              <a:buFont typeface="Wingdings" panose="05000000000000000000" pitchFamily="2" charset="2"/>
              <a:buNone/>
              <a:defRPr/>
            </a:pPr>
            <a:r>
              <a:rPr lang="zh-CN" altLang="en-US" sz="1800" dirty="0"/>
              <a:t>   </a:t>
            </a:r>
            <a:r>
              <a:rPr lang="en-US" altLang="zh-CN" sz="1800" dirty="0"/>
              <a:t>	</a:t>
            </a:r>
            <a:r>
              <a:rPr lang="zh-CN" altLang="en-US" sz="1800" dirty="0"/>
              <a:t>不断增加的软件成本</a:t>
            </a:r>
            <a:endParaRPr lang="zh-CN" altLang="en-US" sz="1800" dirty="0"/>
          </a:p>
          <a:p>
            <a:pPr marL="685800" lvl="1" eaLnBrk="1" hangingPunct="1">
              <a:buFont typeface="Wingdings" panose="05000000000000000000" pitchFamily="2" charset="2"/>
              <a:buChar char="l"/>
              <a:defRPr/>
            </a:pPr>
            <a:r>
              <a:rPr lang="en-US" sz="1800" dirty="0"/>
              <a:t>Development progress is difficult to control</a:t>
            </a:r>
            <a:endParaRPr lang="en-US" sz="1800" dirty="0"/>
          </a:p>
          <a:p>
            <a:pPr marL="400050" lvl="1" indent="0" eaLnBrk="1" hangingPunct="1">
              <a:buFont typeface="Wingdings" panose="05000000000000000000" pitchFamily="2" charset="2"/>
              <a:buNone/>
              <a:defRPr/>
            </a:pPr>
            <a:r>
              <a:rPr lang="zh-CN" altLang="en-US" sz="1800" dirty="0"/>
              <a:t>    </a:t>
            </a:r>
            <a:r>
              <a:rPr lang="en-US" altLang="zh-CN" sz="1800" dirty="0"/>
              <a:t>	</a:t>
            </a:r>
            <a:r>
              <a:rPr lang="zh-CN" altLang="en-US" sz="1800" dirty="0"/>
              <a:t>开发进程难以控制</a:t>
            </a:r>
            <a:endParaRPr lang="zh-CN" altLang="en-US" sz="1800" dirty="0"/>
          </a:p>
          <a:p>
            <a:pPr marL="685800" lvl="1" eaLnBrk="1" hangingPunct="1">
              <a:buFont typeface="Wingdings" panose="05000000000000000000" pitchFamily="2" charset="2"/>
              <a:buChar char="l"/>
              <a:defRPr/>
            </a:pPr>
            <a:r>
              <a:rPr lang="en-US" sz="1800" dirty="0"/>
              <a:t>Software was very inefficient</a:t>
            </a:r>
            <a:endParaRPr lang="en-US" sz="1800" dirty="0"/>
          </a:p>
          <a:p>
            <a:pPr marL="400050" lvl="1" indent="0" eaLnBrk="1" hangingPunct="1">
              <a:buFont typeface="Wingdings" panose="05000000000000000000" pitchFamily="2" charset="2"/>
              <a:buNone/>
              <a:defRPr/>
            </a:pPr>
            <a:r>
              <a:rPr lang="en-US" altLang="zh-CN" sz="1800" dirty="0"/>
              <a:t>	</a:t>
            </a:r>
            <a:r>
              <a:rPr lang="zh-CN" altLang="en-US" sz="1800" dirty="0"/>
              <a:t>软件效率很低</a:t>
            </a:r>
            <a:endParaRPr lang="zh-CN" altLang="en-US" sz="1800" dirty="0"/>
          </a:p>
          <a:p>
            <a:pPr marL="685800" lvl="1" eaLnBrk="1" hangingPunct="1">
              <a:buFont typeface="Wingdings" panose="05000000000000000000" pitchFamily="2" charset="2"/>
              <a:buChar char="l"/>
              <a:defRPr/>
            </a:pPr>
            <a:r>
              <a:rPr lang="en-US" sz="1800" dirty="0"/>
              <a:t>Software was of low quality</a:t>
            </a:r>
            <a:endParaRPr lang="en-US" sz="1800" dirty="0"/>
          </a:p>
          <a:p>
            <a:pPr marL="400050" lvl="1" indent="0" eaLnBrk="1" hangingPunct="1">
              <a:buFont typeface="Wingdings" panose="05000000000000000000" pitchFamily="2" charset="2"/>
              <a:buNone/>
              <a:defRPr/>
            </a:pPr>
            <a:r>
              <a:rPr lang="en-US" altLang="zh-CN" sz="1800" dirty="0"/>
              <a:t>	</a:t>
            </a:r>
            <a:r>
              <a:rPr lang="zh-CN" altLang="en-US" sz="1800" dirty="0"/>
              <a:t>软件质量低劣</a:t>
            </a:r>
            <a:endParaRPr lang="zh-CN" altLang="en-US" sz="1800" dirty="0"/>
          </a:p>
          <a:p>
            <a:pPr marL="685800" lvl="1" eaLnBrk="1" hangingPunct="1">
              <a:buFont typeface="Wingdings" panose="05000000000000000000" pitchFamily="2" charset="2"/>
              <a:buChar char="l"/>
              <a:defRPr/>
            </a:pPr>
            <a:r>
              <a:rPr lang="en-US" sz="1800" dirty="0"/>
              <a:t>Projects were unmanageable and code difficult to maintain</a:t>
            </a:r>
            <a:endParaRPr lang="en-US" sz="1800" dirty="0"/>
          </a:p>
          <a:p>
            <a:pPr marL="400050" lvl="1" indent="0" eaLnBrk="1" hangingPunct="1">
              <a:buFont typeface="Wingdings" panose="05000000000000000000" pitchFamily="2" charset="2"/>
              <a:buNone/>
              <a:defRPr/>
            </a:pPr>
            <a:r>
              <a:rPr lang="en-US" altLang="zh-CN" sz="1800" dirty="0"/>
              <a:t>	</a:t>
            </a:r>
            <a:r>
              <a:rPr lang="zh-CN" altLang="en-US" sz="1800" dirty="0"/>
              <a:t>项目无法管理，代码难以维护</a:t>
            </a:r>
            <a:endParaRPr lang="en-US" sz="2400" dirty="0"/>
          </a:p>
        </p:txBody>
      </p:sp>
      <p:sp>
        <p:nvSpPr>
          <p:cNvPr id="9220" name="灯片编号占位符 1"/>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FFB67D6-D9C0-4897-AE4D-0D0E9274BE3C}" type="slidenum">
              <a:rPr lang="en-US" altLang="zh-CN" sz="1200" b="0" smtClean="0">
                <a:solidFill>
                  <a:srgbClr val="666666"/>
                </a:solidFill>
                <a:latin typeface="微软雅黑" panose="020B0503020204020204" pitchFamily="34" charset="-122"/>
                <a:ea typeface="微软雅黑" panose="020B0503020204020204" pitchFamily="34" charset="-122"/>
              </a:rPr>
            </a:fld>
            <a:endParaRPr lang="zh-CN" altLang="en-US" sz="1200" b="0">
              <a:solidFill>
                <a:srgbClr val="666666"/>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2"/>
          <p:cNvSpPr>
            <a:spLocks noGrp="1" noChangeArrowheads="1"/>
          </p:cNvSpPr>
          <p:nvPr>
            <p:ph type="title"/>
          </p:nvPr>
        </p:nvSpPr>
        <p:spPr/>
        <p:txBody>
          <a:bodyPr/>
          <a:lstStyle/>
          <a:p>
            <a:pPr eaLnBrk="1" hangingPunct="1"/>
            <a:r>
              <a:rPr lang="zh-CN" altLang="en-US" dirty="0"/>
              <a:t>软件危机的表现</a:t>
            </a:r>
            <a:endParaRPr lang="en-US" altLang="zh-CN" dirty="0"/>
          </a:p>
        </p:txBody>
      </p:sp>
      <p:sp>
        <p:nvSpPr>
          <p:cNvPr id="10244" name="灯片编号占位符 1"/>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CFAFDC99-8FCB-47FC-98BD-8D754771C5B7}" type="slidenum">
              <a:rPr lang="en-US" altLang="zh-CN" sz="1200" b="0" smtClean="0">
                <a:solidFill>
                  <a:srgbClr val="666666"/>
                </a:solidFill>
                <a:latin typeface="微软雅黑" panose="020B0503020204020204" pitchFamily="34" charset="-122"/>
                <a:ea typeface="微软雅黑" panose="020B0503020204020204" pitchFamily="34" charset="-122"/>
              </a:rPr>
            </a:fld>
            <a:endParaRPr lang="zh-CN" altLang="en-US" sz="1200" b="0">
              <a:solidFill>
                <a:srgbClr val="666666"/>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lstStyle/>
          <a:p>
            <a:endParaRPr lang="zh-CN" altLang="en-US"/>
          </a:p>
        </p:txBody>
      </p:sp>
      <p:sp>
        <p:nvSpPr>
          <p:cNvPr id="7" name="内容占位符 2"/>
          <p:cNvSpPr txBox="1">
            <a:spLocks noChangeArrowheads="1"/>
          </p:cNvSpPr>
          <p:nvPr/>
        </p:nvSpPr>
        <p:spPr bwMode="auto">
          <a:xfrm>
            <a:off x="603430" y="2204864"/>
            <a:ext cx="4292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美国空军：</a:t>
            </a:r>
            <a:r>
              <a:rPr lang="en-US" altLang="zh-CN" dirty="0"/>
              <a:t>1955</a:t>
            </a:r>
            <a:r>
              <a:rPr lang="zh-CN" altLang="en-US" dirty="0"/>
              <a:t>年软件占总费用</a:t>
            </a:r>
            <a:r>
              <a:rPr lang="en-US" altLang="zh-CN" dirty="0"/>
              <a:t>(</a:t>
            </a:r>
            <a:r>
              <a:rPr lang="zh-CN" altLang="en-US" dirty="0"/>
              <a:t>计算机系统</a:t>
            </a:r>
            <a:r>
              <a:rPr lang="en-US" altLang="zh-CN" dirty="0"/>
              <a:t>)</a:t>
            </a:r>
            <a:r>
              <a:rPr lang="zh-CN" altLang="en-US" dirty="0"/>
              <a:t>的</a:t>
            </a:r>
            <a:r>
              <a:rPr lang="en-US" altLang="zh-CN" dirty="0"/>
              <a:t>18%</a:t>
            </a:r>
            <a:r>
              <a:rPr lang="zh-CN" altLang="en-US" dirty="0"/>
              <a:t>，</a:t>
            </a:r>
            <a:r>
              <a:rPr lang="en-US" altLang="zh-CN" dirty="0"/>
              <a:t>70</a:t>
            </a:r>
            <a:r>
              <a:rPr lang="zh-CN" altLang="en-US" dirty="0"/>
              <a:t>年</a:t>
            </a:r>
            <a:r>
              <a:rPr lang="en-US" altLang="zh-CN" dirty="0"/>
              <a:t>60%</a:t>
            </a:r>
            <a:r>
              <a:rPr lang="zh-CN" altLang="en-US" dirty="0"/>
              <a:t>，</a:t>
            </a:r>
            <a:r>
              <a:rPr lang="en-US" altLang="zh-CN" dirty="0"/>
              <a:t>85</a:t>
            </a:r>
            <a:r>
              <a:rPr lang="zh-CN" altLang="en-US" dirty="0"/>
              <a:t>年达到</a:t>
            </a:r>
            <a:r>
              <a:rPr lang="en-US" altLang="zh-CN" dirty="0"/>
              <a:t>85</a:t>
            </a:r>
            <a:r>
              <a:rPr lang="zh-CN" altLang="en-US" dirty="0"/>
              <a:t>％ </a:t>
            </a:r>
            <a:r>
              <a:rPr lang="en-US" altLang="zh-CN" dirty="0"/>
              <a:t> </a:t>
            </a:r>
            <a:endParaRPr lang="en-US" altLang="zh-CN" dirty="0"/>
          </a:p>
          <a:p>
            <a:r>
              <a:rPr lang="zh-CN" altLang="en-US" dirty="0"/>
              <a:t>美国全球军事指挥控制系统，硬件</a:t>
            </a:r>
            <a:r>
              <a:rPr lang="en-US" altLang="zh-CN" dirty="0"/>
              <a:t>1</a:t>
            </a:r>
            <a:r>
              <a:rPr lang="zh-CN" altLang="en-US" dirty="0"/>
              <a:t>亿美元，软件高达</a:t>
            </a:r>
            <a:r>
              <a:rPr lang="en-US" altLang="zh-CN" dirty="0"/>
              <a:t>7.2</a:t>
            </a:r>
            <a:r>
              <a:rPr lang="zh-CN" altLang="en-US" dirty="0"/>
              <a:t>亿美元 </a:t>
            </a:r>
            <a:endParaRPr lang="zh-CN" altLang="en-US" dirty="0"/>
          </a:p>
          <a:p>
            <a:endParaRPr lang="zh-CN" altLang="en-US" dirty="0"/>
          </a:p>
        </p:txBody>
      </p:sp>
      <p:pic>
        <p:nvPicPr>
          <p:cNvPr id="8" name="图片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00600" y="2287588"/>
            <a:ext cx="4210050" cy="342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2"/>
          <p:cNvSpPr>
            <a:spLocks noGrp="1" noChangeArrowheads="1"/>
          </p:cNvSpPr>
          <p:nvPr>
            <p:ph type="title"/>
          </p:nvPr>
        </p:nvSpPr>
        <p:spPr/>
        <p:txBody>
          <a:bodyPr/>
          <a:lstStyle/>
          <a:p>
            <a:r>
              <a:rPr lang="zh-CN" altLang="en-US" dirty="0"/>
              <a:t>软件危机的表现</a:t>
            </a:r>
            <a:endParaRPr lang="en-US" altLang="zh-CN" dirty="0"/>
          </a:p>
        </p:txBody>
      </p:sp>
      <p:sp>
        <p:nvSpPr>
          <p:cNvPr id="14" name="内容占位符 13"/>
          <p:cNvSpPr>
            <a:spLocks noGrp="1"/>
          </p:cNvSpPr>
          <p:nvPr>
            <p:ph idx="1"/>
          </p:nvPr>
        </p:nvSpPr>
        <p:spPr/>
        <p:txBody>
          <a:bodyPr rtlCol="0">
            <a:normAutofit fontScale="92500"/>
          </a:bodyPr>
          <a:lstStyle/>
          <a:p>
            <a:pPr eaLnBrk="1" hangingPunct="1">
              <a:defRPr/>
            </a:pPr>
            <a:r>
              <a:rPr lang="en-US" sz="2400" dirty="0"/>
              <a:t>Development progress is difficult to control</a:t>
            </a:r>
            <a:endParaRPr lang="en-US" sz="2400" dirty="0"/>
          </a:p>
          <a:p>
            <a:pPr lvl="1" eaLnBrk="1" hangingPunct="1">
              <a:buFont typeface="Arial" panose="020B0604020202020204"/>
              <a:buChar char="•"/>
              <a:defRPr/>
            </a:pPr>
            <a:r>
              <a:rPr lang="en-US" sz="2200" dirty="0"/>
              <a:t>In the software development process, user’s demand changes and other unexpected situations emerge in an endless stream, making the software development process is difficult to ensure that the plan is achieved on schedule.</a:t>
            </a:r>
            <a:endParaRPr lang="en-US" sz="2200" dirty="0"/>
          </a:p>
          <a:p>
            <a:pPr marL="457200" lvl="1" indent="0" eaLnBrk="1" hangingPunct="1">
              <a:buFont typeface="Wingdings" panose="05000000000000000000" pitchFamily="2" charset="2"/>
              <a:buNone/>
              <a:defRPr/>
            </a:pPr>
            <a:r>
              <a:rPr lang="en-US" altLang="zh-CN" sz="2200" dirty="0"/>
              <a:t>	</a:t>
            </a:r>
            <a:r>
              <a:rPr lang="zh-CN" altLang="en-US" sz="2200" dirty="0"/>
              <a:t>在软件开发过程中，用户的需求变化和其他不可预见的情况层出不穷，使得软件开发过程难以保证计划按期完成。</a:t>
            </a:r>
            <a:endParaRPr lang="zh-CN" altLang="en-US" sz="2200" dirty="0"/>
          </a:p>
          <a:p>
            <a:pPr lvl="1" eaLnBrk="1" hangingPunct="1">
              <a:buFont typeface="Arial" panose="020B0604020202020204"/>
              <a:buChar char="•"/>
              <a:defRPr/>
            </a:pPr>
            <a:r>
              <a:rPr lang="en-US" sz="2200" dirty="0"/>
              <a:t>Blindly increasing the software developer is not proportional to improve the ability of software development. On the contrary, with the increase of the number of personnel, the problems of personnel organization, coordination, communication, training and management will be even more serious.</a:t>
            </a:r>
            <a:endParaRPr lang="en-US" sz="2200" dirty="0"/>
          </a:p>
          <a:p>
            <a:pPr marL="914400" lvl="2" indent="0" eaLnBrk="1" hangingPunct="1">
              <a:buFont typeface="Wingdings" panose="05000000000000000000" pitchFamily="2" charset="2"/>
              <a:buNone/>
              <a:defRPr/>
            </a:pPr>
            <a:r>
              <a:rPr lang="zh-CN" altLang="en-US" sz="1800" dirty="0"/>
              <a:t>盲目增加软件开发人员与提高软件开发能力不成正比。相反，随着人员数量的增加，人员组织、协调、沟通、培训和管理的问题将更加严重。</a:t>
            </a:r>
            <a:endParaRPr lang="en-US" sz="1800" dirty="0"/>
          </a:p>
        </p:txBody>
      </p:sp>
      <p:sp>
        <p:nvSpPr>
          <p:cNvPr id="11269" name="灯片编号占位符 2"/>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99308073-B423-4054-A01E-A9DA1A27516C}" type="slidenum">
              <a:rPr lang="en-US" altLang="zh-CN" sz="1200" b="0" smtClean="0">
                <a:solidFill>
                  <a:srgbClr val="666666"/>
                </a:solidFill>
                <a:latin typeface="微软雅黑" panose="020B0503020204020204" pitchFamily="34" charset="-122"/>
                <a:ea typeface="微软雅黑" panose="020B0503020204020204" pitchFamily="34" charset="-122"/>
              </a:rPr>
            </a:fld>
            <a:endParaRPr lang="zh-CN" altLang="en-US" sz="1200" b="0">
              <a:solidFill>
                <a:srgbClr val="666666"/>
              </a:solidFill>
              <a:latin typeface="微软雅黑" panose="020B0503020204020204" pitchFamily="34" charset="-122"/>
              <a:ea typeface="微软雅黑" panose="020B0503020204020204" pitchFamily="34" charset="-122"/>
            </a:endParaRPr>
          </a:p>
        </p:txBody>
      </p:sp>
      <p:sp>
        <p:nvSpPr>
          <p:cNvPr id="11268" name="文本框 1"/>
          <p:cNvSpPr txBox="1">
            <a:spLocks noChangeArrowheads="1"/>
          </p:cNvSpPr>
          <p:nvPr/>
        </p:nvSpPr>
        <p:spPr bwMode="auto">
          <a:xfrm>
            <a:off x="9525000" y="21590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kumimoji="1" lang="zh-CN" altLang="en-US" sz="1800" b="0">
              <a:solidFill>
                <a:schemeClr val="tx1"/>
              </a:solidFill>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2"/>
          <p:cNvSpPr>
            <a:spLocks noGrp="1" noChangeArrowheads="1"/>
          </p:cNvSpPr>
          <p:nvPr>
            <p:ph type="title"/>
          </p:nvPr>
        </p:nvSpPr>
        <p:spPr/>
        <p:txBody>
          <a:bodyPr/>
          <a:lstStyle/>
          <a:p>
            <a:r>
              <a:rPr lang="zh-CN" altLang="en-US" dirty="0"/>
              <a:t>软件危机的表现</a:t>
            </a:r>
            <a:endParaRPr lang="en-US" altLang="zh-CN" dirty="0"/>
          </a:p>
        </p:txBody>
      </p:sp>
      <p:sp>
        <p:nvSpPr>
          <p:cNvPr id="12291" name="内容占位符 13"/>
          <p:cNvSpPr>
            <a:spLocks noGrp="1" noChangeArrowheads="1"/>
          </p:cNvSpPr>
          <p:nvPr>
            <p:ph idx="1"/>
          </p:nvPr>
        </p:nvSpPr>
        <p:spPr/>
        <p:txBody>
          <a:bodyPr/>
          <a:lstStyle/>
          <a:p>
            <a:pPr eaLnBrk="1" hangingPunct="1"/>
            <a:r>
              <a:rPr lang="en-US" altLang="zh-CN" sz="2600"/>
              <a:t>Software</a:t>
            </a:r>
            <a:r>
              <a:rPr lang="zh-CN" altLang="en-US" sz="2600"/>
              <a:t> </a:t>
            </a:r>
            <a:r>
              <a:rPr lang="en-US" altLang="zh-CN" sz="2600"/>
              <a:t>was</a:t>
            </a:r>
            <a:r>
              <a:rPr lang="zh-CN" altLang="en-US" sz="2600"/>
              <a:t> </a:t>
            </a:r>
            <a:r>
              <a:rPr lang="en-US" altLang="zh-CN" sz="2800"/>
              <a:t>very inefficient</a:t>
            </a:r>
            <a:r>
              <a:rPr lang="zh-CN" altLang="en-US" sz="2800"/>
              <a:t> </a:t>
            </a:r>
            <a:r>
              <a:rPr lang="en-US" altLang="zh-CN" sz="2800"/>
              <a:t>and</a:t>
            </a:r>
            <a:r>
              <a:rPr lang="zh-CN" altLang="en-US" sz="2800"/>
              <a:t> </a:t>
            </a:r>
            <a:r>
              <a:rPr lang="en-US" altLang="zh-CN" sz="2800"/>
              <a:t>of</a:t>
            </a:r>
            <a:r>
              <a:rPr lang="zh-CN" altLang="en-US" sz="2800"/>
              <a:t> </a:t>
            </a:r>
            <a:r>
              <a:rPr lang="en-US" altLang="zh-CN" sz="2800"/>
              <a:t>low</a:t>
            </a:r>
            <a:r>
              <a:rPr lang="zh-CN" altLang="en-US" sz="2800"/>
              <a:t> </a:t>
            </a:r>
            <a:r>
              <a:rPr lang="en-US" altLang="zh-CN" sz="2800"/>
              <a:t>quality</a:t>
            </a:r>
            <a:endParaRPr lang="en-US" altLang="zh-CN" sz="2800"/>
          </a:p>
          <a:p>
            <a:pPr lvl="1" eaLnBrk="1" hangingPunct="1">
              <a:buFont typeface="Arial" panose="020B0604020202020204" pitchFamily="34" charset="0"/>
              <a:buChar char="•"/>
            </a:pPr>
            <a:r>
              <a:rPr lang="zh-CN" altLang="en-US" sz="2400"/>
              <a:t> </a:t>
            </a:r>
            <a:r>
              <a:rPr lang="en-US" altLang="zh-CN" sz="2200"/>
              <a:t>Due to the lack of guidance of engineering thought, programmers almost always use their own ideas to replace the user’s demand for software. The software designs with randomness, many functions are just a programmer‘s wishful thinking,  which is the important factor of the software is unsatisfactory</a:t>
            </a:r>
            <a:endParaRPr lang="en-US" altLang="zh-CN" sz="2200"/>
          </a:p>
          <a:p>
            <a:pPr lvl="1" eaLnBrk="1" hangingPunct="1">
              <a:buFont typeface="Arial" panose="020B0604020202020204" pitchFamily="34" charset="0"/>
              <a:buChar char="•"/>
            </a:pPr>
            <a:r>
              <a:rPr lang="zh-CN" altLang="en-US" sz="2200"/>
              <a:t>由于缺乏工程思想的指导，程序员几乎总是用自己的思想来代替用户对软件的需求。软件设计具有随机性，许多功能只是一个程序员的一厢情愿，这是软件不满意的重要因素。</a:t>
            </a:r>
            <a:endParaRPr lang="en-US" altLang="zh-CN" sz="2200">
              <a:solidFill>
                <a:srgbClr val="FFC000"/>
              </a:solidFill>
            </a:endParaRPr>
          </a:p>
        </p:txBody>
      </p:sp>
      <p:sp>
        <p:nvSpPr>
          <p:cNvPr id="12293" name="灯片编号占位符 2"/>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A5241B1-4118-4DE8-A309-807DC07AA484}" type="slidenum">
              <a:rPr lang="en-US" altLang="zh-CN" sz="1200" b="0" smtClean="0">
                <a:solidFill>
                  <a:srgbClr val="666666"/>
                </a:solidFill>
                <a:latin typeface="微软雅黑" panose="020B0503020204020204" pitchFamily="34" charset="-122"/>
                <a:ea typeface="微软雅黑" panose="020B0503020204020204" pitchFamily="34" charset="-122"/>
              </a:rPr>
            </a:fld>
            <a:endParaRPr lang="zh-CN" altLang="en-US" sz="1200" b="0">
              <a:solidFill>
                <a:srgbClr val="666666"/>
              </a:solidFill>
              <a:latin typeface="微软雅黑" panose="020B0503020204020204" pitchFamily="34" charset="-122"/>
              <a:ea typeface="微软雅黑" panose="020B0503020204020204" pitchFamily="34" charset="-122"/>
            </a:endParaRPr>
          </a:p>
        </p:txBody>
      </p:sp>
      <p:sp>
        <p:nvSpPr>
          <p:cNvPr id="12292" name="文本框 1"/>
          <p:cNvSpPr txBox="1">
            <a:spLocks noChangeArrowheads="1"/>
          </p:cNvSpPr>
          <p:nvPr/>
        </p:nvSpPr>
        <p:spPr bwMode="auto">
          <a:xfrm>
            <a:off x="9525000" y="21590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kumimoji="1" lang="zh-CN" altLang="en-US" sz="1800" b="0">
              <a:solidFill>
                <a:schemeClr val="tx1"/>
              </a:solidFill>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2"/>
          <p:cNvSpPr>
            <a:spLocks noGrp="1" noChangeArrowheads="1"/>
          </p:cNvSpPr>
          <p:nvPr>
            <p:ph type="title"/>
          </p:nvPr>
        </p:nvSpPr>
        <p:spPr/>
        <p:txBody>
          <a:bodyPr/>
          <a:lstStyle/>
          <a:p>
            <a:r>
              <a:rPr lang="zh-CN" altLang="en-US" dirty="0"/>
              <a:t>软件危机的表现</a:t>
            </a:r>
            <a:endParaRPr lang="en-US" altLang="zh-CN" dirty="0">
              <a:latin typeface="微软雅黑" panose="020B0503020204020204" pitchFamily="34" charset="-122"/>
              <a:ea typeface="微软雅黑" panose="020B0503020204020204" pitchFamily="34" charset="-122"/>
            </a:endParaRPr>
          </a:p>
        </p:txBody>
      </p:sp>
      <p:sp>
        <p:nvSpPr>
          <p:cNvPr id="14" name="内容占位符 13"/>
          <p:cNvSpPr>
            <a:spLocks noGrp="1"/>
          </p:cNvSpPr>
          <p:nvPr>
            <p:ph idx="1"/>
          </p:nvPr>
        </p:nvSpPr>
        <p:spPr/>
        <p:txBody>
          <a:bodyPr rtlCol="0">
            <a:normAutofit fontScale="85000" lnSpcReduction="20000"/>
          </a:bodyPr>
          <a:lstStyle/>
          <a:p>
            <a:pPr eaLnBrk="1" hangingPunct="1">
              <a:defRPr/>
            </a:pPr>
            <a:r>
              <a:rPr lang="en-US" altLang="zh-CN" sz="2400" dirty="0">
                <a:solidFill>
                  <a:srgbClr val="FFC000"/>
                </a:solidFill>
              </a:rPr>
              <a:t>Projects were unmanageable </a:t>
            </a:r>
            <a:r>
              <a:rPr lang="en-US" altLang="zh-CN" sz="2400" dirty="0"/>
              <a:t>and </a:t>
            </a:r>
            <a:r>
              <a:rPr lang="en-US" altLang="zh-CN" sz="2400" dirty="0">
                <a:solidFill>
                  <a:srgbClr val="FFC000"/>
                </a:solidFill>
              </a:rPr>
              <a:t>code difficult to maintain</a:t>
            </a:r>
            <a:endParaRPr lang="en-US" altLang="zh-CN" sz="2400" dirty="0">
              <a:solidFill>
                <a:srgbClr val="FFC000"/>
              </a:solidFill>
            </a:endParaRPr>
          </a:p>
          <a:p>
            <a:pPr lvl="1" eaLnBrk="1" hangingPunct="1">
              <a:buFont typeface="Arial" panose="020B0604020202020204"/>
              <a:buChar char="•"/>
              <a:defRPr/>
            </a:pPr>
            <a:r>
              <a:rPr lang="en-US" sz="2200" dirty="0"/>
              <a:t>Because in the process of software design and development, the developers didn‘t strictly follow the software development standard, and there is no complete record of the true state of the system documentation, resulting in great difficulties in software maintenance.</a:t>
            </a:r>
            <a:endParaRPr lang="en-US" sz="2200" dirty="0"/>
          </a:p>
          <a:p>
            <a:pPr lvl="2" eaLnBrk="1" hangingPunct="1">
              <a:buFont typeface="Arial" panose="020B0604020202020204"/>
              <a:buChar char="•"/>
              <a:defRPr/>
            </a:pPr>
            <a:r>
              <a:rPr lang="zh-CN" altLang="en-US" sz="2200" dirty="0"/>
              <a:t>因为在软件设计和开发过程中，开发人员没有严格遵守软件开发标准，没有完整的系统文档真实状态记录，导致软件维护难度很大。</a:t>
            </a:r>
            <a:endParaRPr lang="zh-CN" altLang="en-US" sz="2200" dirty="0"/>
          </a:p>
          <a:p>
            <a:pPr lvl="1" eaLnBrk="1" hangingPunct="1">
              <a:buFont typeface="Arial" panose="020B0604020202020204"/>
              <a:buChar char="•"/>
              <a:defRPr/>
            </a:pPr>
            <a:r>
              <a:rPr lang="en-US" sz="2200" dirty="0"/>
              <a:t>Especially in the process of using the software, the original developer may have left the original development organization for various reasons, making the software almost unmaintainable</a:t>
            </a:r>
            <a:endParaRPr lang="en-US" sz="2200" dirty="0"/>
          </a:p>
          <a:p>
            <a:pPr lvl="2" eaLnBrk="1" hangingPunct="1">
              <a:buFont typeface="Arial" panose="020B0604020202020204"/>
              <a:buChar char="•"/>
              <a:defRPr/>
            </a:pPr>
            <a:r>
              <a:rPr lang="zh-CN" altLang="en-US" dirty="0"/>
              <a:t>特别是在软件的使用过程中，原来的开发人员可能由于各种原因离开了原来的开发组织，使软件几乎无法维护。</a:t>
            </a:r>
            <a:endParaRPr lang="zh-CN" altLang="en-US" dirty="0"/>
          </a:p>
          <a:p>
            <a:pPr lvl="1" eaLnBrk="1" hangingPunct="1">
              <a:buFont typeface="Arial" panose="020B0604020202020204"/>
              <a:buChar char="•"/>
              <a:defRPr/>
            </a:pPr>
            <a:r>
              <a:rPr lang="en-US" sz="2200" dirty="0"/>
              <a:t>Data show that the industry is responsible for the maintenance of software to pay for the total hardware and software costs of 40-75%</a:t>
            </a:r>
            <a:endParaRPr lang="en-US" sz="2200" dirty="0"/>
          </a:p>
          <a:p>
            <a:pPr marL="457200" lvl="1" indent="0" eaLnBrk="1" hangingPunct="1">
              <a:buFont typeface="Wingdings" panose="05000000000000000000" pitchFamily="2" charset="2"/>
              <a:buNone/>
              <a:defRPr/>
            </a:pPr>
            <a:r>
              <a:rPr lang="en-US" altLang="zh-CN" sz="2200" dirty="0"/>
              <a:t>	</a:t>
            </a:r>
            <a:r>
              <a:rPr lang="zh-CN" altLang="en-US" sz="2400" dirty="0">
                <a:solidFill>
                  <a:schemeClr val="tx1"/>
                </a:solidFill>
              </a:rPr>
              <a:t>数据显示，该行业负责维护软件，支付硬件和软件总成本的</a:t>
            </a:r>
            <a:r>
              <a:rPr lang="en-US" altLang="zh-CN" sz="2400" dirty="0">
                <a:solidFill>
                  <a:schemeClr val="tx1"/>
                </a:solidFill>
              </a:rPr>
              <a:t>40-75%</a:t>
            </a:r>
            <a:endParaRPr lang="en-US" sz="2400" dirty="0">
              <a:solidFill>
                <a:schemeClr val="tx1"/>
              </a:solidFill>
            </a:endParaRPr>
          </a:p>
        </p:txBody>
      </p:sp>
      <p:sp>
        <p:nvSpPr>
          <p:cNvPr id="13317" name="灯片编号占位符 2"/>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02FF58FC-8F3A-466E-B675-BFB4E2EA76E4}" type="slidenum">
              <a:rPr lang="en-US" altLang="zh-CN" sz="1200" b="0" smtClean="0">
                <a:solidFill>
                  <a:srgbClr val="666666"/>
                </a:solidFill>
                <a:latin typeface="微软雅黑" panose="020B0503020204020204" pitchFamily="34" charset="-122"/>
                <a:ea typeface="微软雅黑" panose="020B0503020204020204" pitchFamily="34" charset="-122"/>
              </a:rPr>
            </a:fld>
            <a:endParaRPr lang="zh-CN" altLang="en-US" sz="1200" b="0">
              <a:solidFill>
                <a:srgbClr val="666666"/>
              </a:solidFill>
              <a:latin typeface="微软雅黑" panose="020B0503020204020204" pitchFamily="34" charset="-122"/>
              <a:ea typeface="微软雅黑" panose="020B0503020204020204" pitchFamily="34" charset="-122"/>
            </a:endParaRPr>
          </a:p>
        </p:txBody>
      </p:sp>
      <p:sp>
        <p:nvSpPr>
          <p:cNvPr id="13316" name="文本框 1"/>
          <p:cNvSpPr txBox="1">
            <a:spLocks noChangeArrowheads="1"/>
          </p:cNvSpPr>
          <p:nvPr/>
        </p:nvSpPr>
        <p:spPr bwMode="auto">
          <a:xfrm>
            <a:off x="9525000" y="21590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kumimoji="1" lang="zh-CN" altLang="en-US" sz="1800" b="0">
              <a:solidFill>
                <a:schemeClr val="tx1"/>
              </a:solidFill>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2"/>
          <p:cNvSpPr>
            <a:spLocks noGrp="1" noChangeArrowheads="1"/>
          </p:cNvSpPr>
          <p:nvPr>
            <p:ph type="title"/>
          </p:nvPr>
        </p:nvSpPr>
        <p:spPr/>
        <p:txBody>
          <a:bodyPr/>
          <a:lstStyle/>
          <a:p>
            <a:pPr eaLnBrk="1" hangingPunct="1"/>
            <a:r>
              <a:rPr lang="zh-CN" altLang="en-US" sz="3600" dirty="0"/>
              <a:t>克服软件危机</a:t>
            </a:r>
            <a:endParaRPr lang="en-US" altLang="zh-CN" sz="3600" dirty="0">
              <a:latin typeface="微软雅黑" panose="020B0503020204020204" pitchFamily="34" charset="-122"/>
              <a:ea typeface="微软雅黑" panose="020B0503020204020204" pitchFamily="34" charset="-122"/>
            </a:endParaRPr>
          </a:p>
        </p:txBody>
      </p:sp>
      <p:pic>
        <p:nvPicPr>
          <p:cNvPr id="14340" name="Picture 4" descr="16"/>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1643367" y="1825625"/>
            <a:ext cx="5857265" cy="4351338"/>
          </a:xfrm>
        </p:spPr>
      </p:pic>
      <p:sp>
        <p:nvSpPr>
          <p:cNvPr id="14341" name="灯片编号占位符 2"/>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732E3B86-5B17-4C5C-99E6-F2F6FE640DDC}" type="slidenum">
              <a:rPr lang="en-US" altLang="zh-CN" sz="1200" b="0" smtClean="0">
                <a:solidFill>
                  <a:srgbClr val="666666"/>
                </a:solidFill>
                <a:latin typeface="微软雅黑" panose="020B0503020204020204" pitchFamily="34" charset="-122"/>
                <a:ea typeface="微软雅黑" panose="020B0503020204020204" pitchFamily="34" charset="-122"/>
              </a:rPr>
            </a:fld>
            <a:endParaRPr lang="zh-CN" altLang="en-US" sz="1200" b="0">
              <a:solidFill>
                <a:srgbClr val="666666"/>
              </a:solidFill>
              <a:latin typeface="微软雅黑" panose="020B0503020204020204" pitchFamily="34" charset="-122"/>
              <a:ea typeface="微软雅黑" panose="020B0503020204020204" pitchFamily="34" charset="-122"/>
            </a:endParaRPr>
          </a:p>
        </p:txBody>
      </p:sp>
      <p:sp>
        <p:nvSpPr>
          <p:cNvPr id="14339" name="文本框 1"/>
          <p:cNvSpPr txBox="1">
            <a:spLocks noChangeArrowheads="1"/>
          </p:cNvSpPr>
          <p:nvPr/>
        </p:nvSpPr>
        <p:spPr bwMode="auto">
          <a:xfrm>
            <a:off x="9525000" y="21590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kumimoji="1" lang="zh-CN" altLang="en-US" sz="1800" b="0">
              <a:solidFill>
                <a:schemeClr val="tx1"/>
              </a:solidFill>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noChangeArrowheads="1"/>
          </p:cNvSpPr>
          <p:nvPr>
            <p:ph type="title"/>
          </p:nvPr>
        </p:nvSpPr>
        <p:spPr/>
        <p:txBody>
          <a:bodyPr/>
          <a:lstStyle/>
          <a:p>
            <a:pPr eaLnBrk="1" hangingPunct="1"/>
            <a:r>
              <a:rPr lang="zh-CN" altLang="en-US" dirty="0"/>
              <a:t>一个故事</a:t>
            </a:r>
            <a:endParaRPr lang="en-US" altLang="zh-CN" dirty="0"/>
          </a:p>
        </p:txBody>
      </p:sp>
      <p:pic>
        <p:nvPicPr>
          <p:cNvPr id="15364" name="内容占位符 7" descr="屏幕快照 2018-02-25 上午12.51.44.png"/>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2933700" y="2844006"/>
            <a:ext cx="3276600" cy="2314575"/>
          </a:xfrm>
        </p:spPr>
      </p:pic>
      <p:sp>
        <p:nvSpPr>
          <p:cNvPr id="1536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89460EDF-05F1-4A69-8BDA-CF2D84DADD7D}" type="slidenum">
              <a:rPr lang="en-US" altLang="zh-CN" sz="1200" b="0" smtClean="0">
                <a:solidFill>
                  <a:srgbClr val="666666"/>
                </a:solidFill>
                <a:latin typeface="微软雅黑" panose="020B0503020204020204" pitchFamily="34" charset="-122"/>
                <a:ea typeface="微软雅黑" panose="020B0503020204020204" pitchFamily="34" charset="-122"/>
              </a:rPr>
            </a:fld>
            <a:endParaRPr lang="zh-CN" altLang="en-US" sz="1200" b="0">
              <a:solidFill>
                <a:srgbClr val="666666"/>
              </a:solidFill>
              <a:latin typeface="微软雅黑" panose="020B0503020204020204" pitchFamily="34" charset="-122"/>
              <a:ea typeface="微软雅黑" panose="020B0503020204020204" pitchFamily="34" charset="-122"/>
            </a:endParaRPr>
          </a:p>
        </p:txBody>
      </p:sp>
      <p:sp>
        <p:nvSpPr>
          <p:cNvPr id="15363" name="文本占位符 2"/>
          <p:cNvSpPr>
            <a:spLocks noGrp="1" noChangeArrowheads="1"/>
          </p:cNvSpPr>
          <p:nvPr>
            <p:ph type="body" idx="4294967295"/>
          </p:nvPr>
        </p:nvSpPr>
        <p:spPr>
          <a:xfrm>
            <a:off x="0" y="1447800"/>
            <a:ext cx="7464425" cy="823913"/>
          </a:xfrm>
        </p:spPr>
        <p:txBody>
          <a:bodyPr/>
          <a:lstStyle/>
          <a:p>
            <a:pPr algn="ctr" eaLnBrk="1" hangingPunct="1"/>
            <a:r>
              <a:rPr lang="zh-CN" altLang="en-US" sz="2800"/>
              <a:t>关于犬舍、建筑和建模的故事 </a:t>
            </a:r>
            <a:r>
              <a:rPr lang="en-US" altLang="zh-CN" sz="2800"/>
              <a:t>…</a:t>
            </a:r>
            <a:endParaRPr lang="en-US" altLang="zh-CN" sz="2800"/>
          </a:p>
        </p:txBody>
      </p:sp>
      <p:pic>
        <p:nvPicPr>
          <p:cNvPr id="15365" name="内容占位符 8" descr="屏幕快照 2018-02-25 上午12.51.52.png"/>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l="19379" r="19379"/>
          <a:stretch>
            <a:fillRect/>
          </a:stretch>
        </p:blipFill>
        <p:spPr>
          <a:xfrm>
            <a:off x="6237288" y="3224213"/>
            <a:ext cx="2906712" cy="2947987"/>
          </a:xfrm>
        </p:spPr>
      </p:pic>
      <p:sp>
        <p:nvSpPr>
          <p:cNvPr id="15366" name="文本占位符 2"/>
          <p:cNvSpPr>
            <a:spLocks noGrp="1" noChangeArrowheads="1"/>
          </p:cNvSpPr>
          <p:nvPr>
            <p:ph type="body" idx="4294967295"/>
          </p:nvPr>
        </p:nvSpPr>
        <p:spPr>
          <a:xfrm>
            <a:off x="1547664" y="1924049"/>
            <a:ext cx="7464425" cy="823913"/>
          </a:xfrm>
        </p:spPr>
        <p:txBody>
          <a:bodyPr/>
          <a:lstStyle/>
          <a:p>
            <a:pPr eaLnBrk="1" hangingPunct="1"/>
            <a:r>
              <a:rPr lang="en-US" altLang="zh-CN" sz="2000" dirty="0"/>
              <a:t>We are building a software skyscraper in a Kennel’s way</a:t>
            </a:r>
            <a:endParaRPr lang="en-US" altLang="zh-CN" sz="2000" dirty="0"/>
          </a:p>
          <a:p>
            <a:pPr eaLnBrk="1" hangingPunct="1"/>
            <a:r>
              <a:rPr lang="zh-CN" altLang="en-US" sz="2000" dirty="0"/>
              <a:t>我们正在用狗舍的方式建造一座软件摩天大楼</a:t>
            </a:r>
            <a:endParaRPr lang="en-US" altLang="zh-CN" sz="20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noChangeArrowheads="1"/>
          </p:cNvSpPr>
          <p:nvPr>
            <p:ph type="title"/>
          </p:nvPr>
        </p:nvSpPr>
        <p:spPr/>
        <p:txBody>
          <a:bodyPr anchor="ctr"/>
          <a:lstStyle/>
          <a:p>
            <a:r>
              <a:rPr lang="zh-CN" altLang="en-US" dirty="0"/>
              <a:t>犬舍的体系结构设计</a:t>
            </a:r>
            <a:endParaRPr lang="en-US" altLang="zh-CN" dirty="0"/>
          </a:p>
        </p:txBody>
      </p:sp>
      <p:pic>
        <p:nvPicPr>
          <p:cNvPr id="16387" name="内容占位符 4" descr="屏幕快照 2018-02-25 上午1.01.11.png"/>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5068329" y="1665287"/>
            <a:ext cx="2779241" cy="4351338"/>
          </a:xfrm>
        </p:spPr>
      </p:pic>
      <p:sp>
        <p:nvSpPr>
          <p:cNvPr id="16389" name="灯片编号占位符 2"/>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DEE1E60-ED9A-463D-9DF1-4B305063CFB7}" type="slidenum">
              <a:rPr lang="en-US" altLang="zh-CN" sz="1200" b="0" smtClean="0">
                <a:solidFill>
                  <a:srgbClr val="666666"/>
                </a:solidFill>
                <a:latin typeface="微软雅黑" panose="020B0503020204020204" pitchFamily="34" charset="-122"/>
                <a:ea typeface="微软雅黑" panose="020B0503020204020204" pitchFamily="34" charset="-122"/>
              </a:rPr>
            </a:fld>
            <a:endParaRPr lang="en-US" altLang="zh-CN" sz="1200" b="0">
              <a:solidFill>
                <a:srgbClr val="666666"/>
              </a:solidFill>
              <a:latin typeface="微软雅黑" panose="020B0503020204020204" pitchFamily="34" charset="-122"/>
              <a:ea typeface="微软雅黑" panose="020B0503020204020204" pitchFamily="34" charset="-122"/>
            </a:endParaRPr>
          </a:p>
        </p:txBody>
      </p:sp>
      <p:sp>
        <p:nvSpPr>
          <p:cNvPr id="4" name="文本占位符 3"/>
          <p:cNvSpPr>
            <a:spLocks noGrp="1"/>
          </p:cNvSpPr>
          <p:nvPr>
            <p:ph type="body" sz="half" idx="4294967295"/>
          </p:nvPr>
        </p:nvSpPr>
        <p:spPr>
          <a:xfrm>
            <a:off x="827584" y="1700808"/>
            <a:ext cx="3888432" cy="4493419"/>
          </a:xfrm>
        </p:spPr>
        <p:txBody>
          <a:bodyPr rtlCol="0"/>
          <a:lstStyle/>
          <a:p>
            <a:pPr eaLnBrk="1" hangingPunct="1">
              <a:defRPr/>
            </a:pPr>
            <a:r>
              <a:rPr lang="zh-CN" altLang="en-US" sz="3200" dirty="0"/>
              <a:t>一个人建造</a:t>
            </a:r>
            <a:endParaRPr lang="en-US" altLang="zh-CN" sz="3200" dirty="0"/>
          </a:p>
          <a:p>
            <a:pPr eaLnBrk="1" hangingPunct="1">
              <a:defRPr/>
            </a:pPr>
            <a:endParaRPr lang="en-US" altLang="zh-CN" sz="3200" dirty="0"/>
          </a:p>
          <a:p>
            <a:pPr eaLnBrk="1" hangingPunct="1">
              <a:defRPr/>
            </a:pPr>
            <a:r>
              <a:rPr lang="zh-CN" altLang="en-US" sz="3200" dirty="0"/>
              <a:t>需要</a:t>
            </a:r>
            <a:endParaRPr lang="en-US" altLang="zh-CN" sz="3200" dirty="0"/>
          </a:p>
          <a:p>
            <a:pPr lvl="1">
              <a:defRPr/>
            </a:pPr>
            <a:r>
              <a:rPr lang="zh-CN" altLang="en-US" sz="2800" dirty="0"/>
              <a:t>在建造者自己脑中设计</a:t>
            </a:r>
            <a:endParaRPr lang="en-US" altLang="zh-CN" sz="2800" dirty="0"/>
          </a:p>
          <a:p>
            <a:pPr lvl="1">
              <a:defRPr/>
            </a:pPr>
            <a:r>
              <a:rPr lang="zh-CN" altLang="en-US" sz="2800" dirty="0"/>
              <a:t>简单的建造过程</a:t>
            </a:r>
            <a:endParaRPr lang="en-US" altLang="zh-CN" sz="2800" dirty="0"/>
          </a:p>
          <a:p>
            <a:pPr lvl="1">
              <a:defRPr/>
            </a:pPr>
            <a:r>
              <a:rPr lang="zh-CN" altLang="en-US" sz="2800" dirty="0"/>
              <a:t>简单的工具</a:t>
            </a:r>
            <a:endParaRPr lang="en-US" altLang="zh-CN" sz="28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noChangeArrowheads="1"/>
          </p:cNvSpPr>
          <p:nvPr>
            <p:ph type="title"/>
          </p:nvPr>
        </p:nvSpPr>
        <p:spPr/>
        <p:txBody>
          <a:bodyPr anchor="ctr"/>
          <a:lstStyle/>
          <a:p>
            <a:pPr eaLnBrk="1" hangingPunct="1"/>
            <a:r>
              <a:rPr lang="zh-CN" altLang="en-US" dirty="0"/>
              <a:t>独栋房屋的体系结构设计</a:t>
            </a:r>
            <a:endParaRPr lang="en-US" altLang="zh-CN" dirty="0"/>
          </a:p>
        </p:txBody>
      </p:sp>
      <p:pic>
        <p:nvPicPr>
          <p:cNvPr id="17411" name="内容占位符 4" descr="屏幕快照 2018-02-25 上午1.01.19.png"/>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5584431" y="1665287"/>
            <a:ext cx="3033891" cy="4351338"/>
          </a:xfrm>
        </p:spPr>
      </p:pic>
      <p:sp>
        <p:nvSpPr>
          <p:cNvPr id="17413" name="灯片编号占位符 2"/>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C1EA5A04-074C-4DB4-A1C9-86B82FCA47F9}" type="slidenum">
              <a:rPr lang="en-US" altLang="zh-CN" sz="1200" b="0" smtClean="0">
                <a:solidFill>
                  <a:srgbClr val="666666"/>
                </a:solidFill>
                <a:latin typeface="微软雅黑" panose="020B0503020204020204" pitchFamily="34" charset="-122"/>
                <a:ea typeface="微软雅黑" panose="020B0503020204020204" pitchFamily="34" charset="-122"/>
              </a:rPr>
            </a:fld>
            <a:endParaRPr lang="en-US" altLang="zh-CN" sz="1200" b="0">
              <a:solidFill>
                <a:srgbClr val="666666"/>
              </a:solidFill>
              <a:latin typeface="微软雅黑" panose="020B0503020204020204" pitchFamily="34" charset="-122"/>
              <a:ea typeface="微软雅黑" panose="020B0503020204020204" pitchFamily="34" charset="-122"/>
            </a:endParaRPr>
          </a:p>
        </p:txBody>
      </p:sp>
      <p:sp>
        <p:nvSpPr>
          <p:cNvPr id="6" name="文本占位符 3"/>
          <p:cNvSpPr txBox="1"/>
          <p:nvPr/>
        </p:nvSpPr>
        <p:spPr bwMode="auto">
          <a:xfrm>
            <a:off x="395536" y="1665287"/>
            <a:ext cx="4464496" cy="4493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lst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sz="3200" dirty="0"/>
              <a:t>团队建造，要求高效、可靠</a:t>
            </a:r>
            <a:endParaRPr lang="en-US" altLang="zh-CN" sz="3200" dirty="0"/>
          </a:p>
          <a:p>
            <a:pPr>
              <a:defRPr/>
            </a:pPr>
            <a:endParaRPr lang="en-US" altLang="zh-CN" sz="3200" dirty="0"/>
          </a:p>
          <a:p>
            <a:pPr>
              <a:defRPr/>
            </a:pPr>
            <a:r>
              <a:rPr lang="zh-CN" altLang="en-US" sz="3200" dirty="0"/>
              <a:t>需要</a:t>
            </a:r>
            <a:endParaRPr lang="en-US" altLang="zh-CN" sz="3200" dirty="0"/>
          </a:p>
          <a:p>
            <a:pPr lvl="1">
              <a:defRPr/>
            </a:pPr>
            <a:r>
              <a:rPr lang="zh-CN" altLang="en-US" sz="2800" dirty="0"/>
              <a:t>设计、建模</a:t>
            </a:r>
            <a:endParaRPr lang="en-US" altLang="zh-CN" sz="2800" dirty="0"/>
          </a:p>
          <a:p>
            <a:pPr lvl="1">
              <a:defRPr/>
            </a:pPr>
            <a:r>
              <a:rPr lang="zh-CN" altLang="en-US" sz="2800" dirty="0"/>
              <a:t>明确定义的建造过程</a:t>
            </a:r>
            <a:endParaRPr lang="en-US" altLang="zh-CN" sz="2800" dirty="0"/>
          </a:p>
          <a:p>
            <a:pPr lvl="1">
              <a:defRPr/>
            </a:pPr>
            <a:r>
              <a:rPr lang="zh-CN" altLang="en-US" sz="2800" dirty="0"/>
              <a:t>强大的工具</a:t>
            </a:r>
            <a:endParaRPr lang="en-US" altLang="zh-CN" sz="28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noChangeArrowheads="1"/>
          </p:cNvSpPr>
          <p:nvPr>
            <p:ph type="title"/>
          </p:nvPr>
        </p:nvSpPr>
        <p:spPr/>
        <p:txBody>
          <a:bodyPr/>
          <a:lstStyle/>
          <a:p>
            <a:pPr eaLnBrk="1" hangingPunct="1"/>
            <a:r>
              <a:rPr lang="zh-CN" altLang="en-US" dirty="0"/>
              <a:t>摩天大楼的体系结构设计</a:t>
            </a:r>
            <a:endParaRPr lang="en-US" altLang="zh-CN" dirty="0"/>
          </a:p>
        </p:txBody>
      </p:sp>
      <p:sp>
        <p:nvSpPr>
          <p:cNvPr id="18435" name="内容占位符 3"/>
          <p:cNvSpPr>
            <a:spLocks noGrp="1" noChangeArrowheads="1"/>
          </p:cNvSpPr>
          <p:nvPr>
            <p:ph idx="1"/>
          </p:nvPr>
        </p:nvSpPr>
        <p:spPr>
          <a:xfrm>
            <a:off x="-108520" y="1760537"/>
            <a:ext cx="7886700" cy="4351338"/>
          </a:xfrm>
        </p:spPr>
        <p:txBody>
          <a:bodyPr/>
          <a:lstStyle/>
          <a:p>
            <a:pPr marL="0" indent="0" algn="ctr" eaLnBrk="1" hangingPunct="1">
              <a:buFont typeface="Wingdings" panose="05000000000000000000" pitchFamily="2" charset="2"/>
              <a:buNone/>
            </a:pPr>
            <a:r>
              <a:rPr lang="zh-CN" altLang="en-US" dirty="0"/>
              <a:t>如何建造？</a:t>
            </a:r>
            <a:endParaRPr lang="en-US" altLang="zh-CN" dirty="0"/>
          </a:p>
        </p:txBody>
      </p:sp>
      <p:sp>
        <p:nvSpPr>
          <p:cNvPr id="18437" name="灯片编号占位符 2"/>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34111129-4D8E-437C-ABC5-EE66E8E5A41C}" type="slidenum">
              <a:rPr lang="en-US" altLang="zh-CN" sz="1200" b="0" smtClean="0">
                <a:solidFill>
                  <a:srgbClr val="666666"/>
                </a:solidFill>
                <a:latin typeface="微软雅黑" panose="020B0503020204020204" pitchFamily="34" charset="-122"/>
                <a:ea typeface="微软雅黑" panose="020B0503020204020204" pitchFamily="34" charset="-122"/>
              </a:rPr>
            </a:fld>
            <a:endParaRPr lang="zh-CN" altLang="en-US" sz="1200" b="0">
              <a:solidFill>
                <a:srgbClr val="666666"/>
              </a:solidFill>
              <a:latin typeface="微软雅黑" panose="020B0503020204020204" pitchFamily="34" charset="-122"/>
              <a:ea typeface="微软雅黑" panose="020B0503020204020204" pitchFamily="34" charset="-122"/>
            </a:endParaRPr>
          </a:p>
        </p:txBody>
      </p:sp>
      <p:pic>
        <p:nvPicPr>
          <p:cNvPr id="18436" name="内容占位符 6" descr="屏幕快照 2018-02-25 上午1.07.33.png"/>
          <p:cNvPicPr>
            <a:picLocks noGrp="1" noChangeAspect="1" noChangeArrowheads="1"/>
          </p:cNvPicPr>
          <p:nvPr>
            <p:ph sz="quarter" idx="4294967295"/>
          </p:nvPr>
        </p:nvPicPr>
        <p:blipFill>
          <a:blip r:embed="rId1">
            <a:extLst>
              <a:ext uri="{28A0092B-C50C-407E-A947-70E740481C1C}">
                <a14:useLocalDpi xmlns:a14="http://schemas.microsoft.com/office/drawing/2010/main" val="0"/>
              </a:ext>
            </a:extLst>
          </a:blip>
          <a:srcRect t="6052" b="6052"/>
          <a:stretch>
            <a:fillRect/>
          </a:stretch>
        </p:blipFill>
        <p:spPr>
          <a:xfrm>
            <a:off x="5292080" y="1600200"/>
            <a:ext cx="3851920" cy="4876800"/>
          </a:xfrm>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noChangeArrowheads="1"/>
          </p:cNvSpPr>
          <p:nvPr>
            <p:ph type="title"/>
          </p:nvPr>
        </p:nvSpPr>
        <p:spPr/>
        <p:txBody>
          <a:bodyPr/>
          <a:lstStyle/>
          <a:p>
            <a:pPr eaLnBrk="1" hangingPunct="1"/>
            <a:r>
              <a:rPr lang="zh-CN" altLang="en-US" sz="2800" dirty="0"/>
              <a:t>体系结构的设计</a:t>
            </a:r>
            <a:endParaRPr lang="en-US" altLang="zh-CN" sz="2800" dirty="0"/>
          </a:p>
        </p:txBody>
      </p:sp>
      <p:sp>
        <p:nvSpPr>
          <p:cNvPr id="2" name="内容占位符 1"/>
          <p:cNvSpPr>
            <a:spLocks noGrp="1"/>
          </p:cNvSpPr>
          <p:nvPr>
            <p:ph idx="1"/>
          </p:nvPr>
        </p:nvSpPr>
        <p:spPr/>
        <p:txBody>
          <a:bodyPr/>
          <a:lstStyle/>
          <a:p>
            <a:endParaRPr lang="zh-CN" altLang="en-US"/>
          </a:p>
        </p:txBody>
      </p:sp>
      <p:sp>
        <p:nvSpPr>
          <p:cNvPr id="19462" name="灯片编号占位符 5"/>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B142D524-D083-4873-AA57-B914E1567ECD}" type="slidenum">
              <a:rPr lang="en-US" altLang="zh-CN" sz="1200" b="0" smtClean="0">
                <a:solidFill>
                  <a:srgbClr val="666666"/>
                </a:solidFill>
                <a:latin typeface="微软雅黑" panose="020B0503020204020204" pitchFamily="34" charset="-122"/>
                <a:ea typeface="微软雅黑" panose="020B0503020204020204" pitchFamily="34" charset="-122"/>
              </a:rPr>
            </a:fld>
            <a:endParaRPr lang="en-US" altLang="zh-CN" sz="1200" b="0">
              <a:solidFill>
                <a:srgbClr val="666666"/>
              </a:solidFill>
              <a:latin typeface="微软雅黑" panose="020B0503020204020204" pitchFamily="34" charset="-122"/>
              <a:ea typeface="微软雅黑" panose="020B0503020204020204" pitchFamily="34" charset="-122"/>
            </a:endParaRPr>
          </a:p>
        </p:txBody>
      </p:sp>
      <p:pic>
        <p:nvPicPr>
          <p:cNvPr id="3" name="Picture 4"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1050" y="1689100"/>
            <a:ext cx="7588250"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文本框 3"/>
          <p:cNvSpPr txBox="1">
            <a:spLocks noChangeArrowheads="1"/>
          </p:cNvSpPr>
          <p:nvPr/>
        </p:nvSpPr>
        <p:spPr bwMode="auto">
          <a:xfrm>
            <a:off x="5130800" y="1879600"/>
            <a:ext cx="2870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kumimoji="1" lang="en-US" altLang="zh-CN" sz="2000" b="0">
                <a:solidFill>
                  <a:schemeClr val="tx1"/>
                </a:solidFill>
              </a:rPr>
              <a:t>Point 1:the part and the whole</a:t>
            </a:r>
            <a:endParaRPr kumimoji="1" lang="zh-CN" altLang="en-US" sz="2000" b="0">
              <a:solidFill>
                <a:schemeClr val="tx1"/>
              </a:solidFill>
            </a:endParaRPr>
          </a:p>
        </p:txBody>
      </p:sp>
      <p:sp>
        <p:nvSpPr>
          <p:cNvPr id="19461" name="文本框 4"/>
          <p:cNvSpPr txBox="1">
            <a:spLocks noChangeArrowheads="1"/>
          </p:cNvSpPr>
          <p:nvPr/>
        </p:nvSpPr>
        <p:spPr bwMode="auto">
          <a:xfrm>
            <a:off x="698500" y="5257800"/>
            <a:ext cx="2870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kumimoji="1" lang="en-US" altLang="zh-CN" sz="2000" b="0">
                <a:solidFill>
                  <a:schemeClr val="tx1"/>
                </a:solidFill>
              </a:rPr>
              <a:t>Point 2:Modeling and Implementation</a:t>
            </a:r>
            <a:endParaRPr kumimoji="1" lang="zh-CN" altLang="en-US" sz="2000" b="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7171" name="Rectangle 2"/>
          <p:cNvSpPr>
            <a:spLocks noGrp="1" noChangeArrowheads="1"/>
          </p:cNvSpPr>
          <p:nvPr>
            <p:ph idx="1"/>
          </p:nvPr>
        </p:nvSpPr>
        <p:spPr/>
        <p:txBody>
          <a:bodyPr rtlCol="0" anchor="ctr"/>
          <a:lstStyle/>
          <a:p>
            <a:pPr eaLnBrk="1" hangingPunct="1">
              <a:spcBef>
                <a:spcPct val="0"/>
              </a:spcBef>
              <a:defRPr/>
            </a:pPr>
            <a:r>
              <a:rPr lang="zh-CN" altLang="en-US" sz="2800" dirty="0">
                <a:solidFill>
                  <a:srgbClr val="0033CC"/>
                </a:solidFill>
                <a:latin typeface="+mj-lt"/>
                <a:ea typeface="+mj-ea"/>
                <a:cs typeface="+mj-cs"/>
              </a:rPr>
              <a:t>“计算机体系结构”定义是</a:t>
            </a:r>
            <a:r>
              <a:rPr lang="en-US" altLang="zh-CN" sz="2800" dirty="0">
                <a:solidFill>
                  <a:srgbClr val="0033CC"/>
                </a:solidFill>
                <a:latin typeface="+mj-lt"/>
                <a:ea typeface="+mj-ea"/>
                <a:cs typeface="+mj-cs"/>
              </a:rPr>
              <a:t>1964</a:t>
            </a:r>
            <a:r>
              <a:rPr lang="zh-CN" altLang="en-US" sz="2800" dirty="0">
                <a:solidFill>
                  <a:srgbClr val="0033CC"/>
                </a:solidFill>
                <a:latin typeface="+mj-lt"/>
                <a:ea typeface="+mj-ea"/>
                <a:cs typeface="+mj-cs"/>
              </a:rPr>
              <a:t>年</a:t>
            </a:r>
            <a:r>
              <a:rPr lang="en-US" altLang="zh-CN" sz="2800" dirty="0">
                <a:solidFill>
                  <a:srgbClr val="0033CC"/>
                </a:solidFill>
                <a:latin typeface="+mj-lt"/>
                <a:ea typeface="+mj-ea"/>
                <a:cs typeface="+mj-cs"/>
              </a:rPr>
              <a:t>C. M. Amdahl</a:t>
            </a:r>
            <a:r>
              <a:rPr lang="zh-CN" altLang="en-US" sz="2800" dirty="0">
                <a:solidFill>
                  <a:srgbClr val="0033CC"/>
                </a:solidFill>
                <a:latin typeface="+mj-lt"/>
                <a:ea typeface="+mj-ea"/>
                <a:cs typeface="+mj-cs"/>
              </a:rPr>
              <a:t>在介绍</a:t>
            </a:r>
            <a:r>
              <a:rPr lang="en-US" altLang="zh-CN" sz="2800" dirty="0">
                <a:solidFill>
                  <a:srgbClr val="0033CC"/>
                </a:solidFill>
                <a:latin typeface="+mj-lt"/>
                <a:ea typeface="+mj-ea"/>
                <a:cs typeface="+mj-cs"/>
              </a:rPr>
              <a:t>IBM 360</a:t>
            </a:r>
            <a:r>
              <a:rPr lang="zh-CN" altLang="en-US" sz="2800" dirty="0">
                <a:solidFill>
                  <a:srgbClr val="0033CC"/>
                </a:solidFill>
                <a:latin typeface="+mj-lt"/>
                <a:ea typeface="+mj-ea"/>
                <a:cs typeface="+mj-cs"/>
              </a:rPr>
              <a:t>系统时提出的：计算机体系结构是程序员所看到的计算机的属性，即概念性结构与功能特性。</a:t>
            </a:r>
            <a:endParaRPr lang="zh-CN" altLang="en-US" sz="2800" dirty="0">
              <a:solidFill>
                <a:srgbClr val="0033CC"/>
              </a:solidFill>
              <a:latin typeface="+mj-lt"/>
              <a:ea typeface="+mj-ea"/>
              <a:cs typeface="+mj-cs"/>
            </a:endParaRPr>
          </a:p>
          <a:p>
            <a:pPr eaLnBrk="1" hangingPunct="1">
              <a:spcBef>
                <a:spcPct val="0"/>
              </a:spcBef>
              <a:defRPr/>
            </a:pPr>
            <a:endParaRPr lang="zh-CN" altLang="en-US" sz="2800" dirty="0">
              <a:solidFill>
                <a:srgbClr val="0033CC"/>
              </a:solidFill>
              <a:latin typeface="+mj-lt"/>
              <a:ea typeface="+mj-ea"/>
              <a:cs typeface="+mj-cs"/>
            </a:endParaRPr>
          </a:p>
          <a:p>
            <a:pPr eaLnBrk="1" hangingPunct="1">
              <a:spcBef>
                <a:spcPct val="0"/>
              </a:spcBef>
              <a:defRPr/>
            </a:pPr>
            <a:r>
              <a:rPr lang="zh-CN" altLang="en-US" sz="2800" dirty="0">
                <a:solidFill>
                  <a:srgbClr val="0033CC"/>
                </a:solidFill>
                <a:latin typeface="+mj-lt"/>
                <a:ea typeface="+mj-ea"/>
                <a:cs typeface="+mj-cs"/>
              </a:rPr>
              <a:t>“软件体系结构”的概念是</a:t>
            </a:r>
            <a:r>
              <a:rPr lang="en-US" altLang="zh-CN" sz="2800" dirty="0">
                <a:solidFill>
                  <a:srgbClr val="0033CC"/>
                </a:solidFill>
                <a:latin typeface="+mj-lt"/>
                <a:ea typeface="+mj-ea"/>
                <a:cs typeface="+mj-cs"/>
              </a:rPr>
              <a:t>20</a:t>
            </a:r>
            <a:r>
              <a:rPr lang="zh-CN" altLang="en-US" sz="2800" dirty="0">
                <a:solidFill>
                  <a:srgbClr val="0033CC"/>
                </a:solidFill>
                <a:latin typeface="+mj-lt"/>
                <a:ea typeface="+mj-ea"/>
                <a:cs typeface="+mj-cs"/>
              </a:rPr>
              <a:t>世纪</a:t>
            </a:r>
            <a:r>
              <a:rPr lang="en-US" altLang="zh-CN" sz="2800" dirty="0">
                <a:solidFill>
                  <a:srgbClr val="0033CC"/>
                </a:solidFill>
                <a:latin typeface="+mj-lt"/>
                <a:ea typeface="+mj-ea"/>
                <a:cs typeface="+mj-cs"/>
              </a:rPr>
              <a:t>90</a:t>
            </a:r>
            <a:r>
              <a:rPr lang="zh-CN" altLang="en-US" sz="2800" dirty="0">
                <a:solidFill>
                  <a:srgbClr val="0033CC"/>
                </a:solidFill>
                <a:latin typeface="+mj-lt"/>
                <a:ea typeface="+mj-ea"/>
                <a:cs typeface="+mj-cs"/>
              </a:rPr>
              <a:t>年代中期</a:t>
            </a:r>
            <a:r>
              <a:rPr lang="en-US" altLang="zh-CN" sz="2800" dirty="0">
                <a:solidFill>
                  <a:srgbClr val="0033CC"/>
                </a:solidFill>
                <a:latin typeface="+mj-lt"/>
                <a:ea typeface="+mj-ea"/>
                <a:cs typeface="+mj-cs"/>
              </a:rPr>
              <a:t>David </a:t>
            </a:r>
            <a:r>
              <a:rPr lang="en-US" altLang="zh-CN" sz="2800" dirty="0" err="1">
                <a:solidFill>
                  <a:srgbClr val="0033CC"/>
                </a:solidFill>
                <a:latin typeface="+mj-lt"/>
                <a:ea typeface="+mj-ea"/>
                <a:cs typeface="+mj-cs"/>
              </a:rPr>
              <a:t>Garlan</a:t>
            </a:r>
            <a:r>
              <a:rPr lang="zh-CN" altLang="en-US" sz="2800" dirty="0">
                <a:solidFill>
                  <a:srgbClr val="0033CC"/>
                </a:solidFill>
                <a:latin typeface="+mj-lt"/>
                <a:ea typeface="+mj-ea"/>
                <a:cs typeface="+mj-cs"/>
              </a:rPr>
              <a:t>和</a:t>
            </a:r>
            <a:r>
              <a:rPr lang="en-US" altLang="zh-CN" sz="2800" dirty="0">
                <a:solidFill>
                  <a:srgbClr val="0033CC"/>
                </a:solidFill>
                <a:latin typeface="+mj-lt"/>
                <a:ea typeface="+mj-ea"/>
                <a:cs typeface="+mj-cs"/>
              </a:rPr>
              <a:t>Mary Shaw</a:t>
            </a:r>
            <a:r>
              <a:rPr lang="zh-CN" altLang="en-US" sz="2800" dirty="0">
                <a:solidFill>
                  <a:srgbClr val="0033CC"/>
                </a:solidFill>
                <a:latin typeface="+mj-lt"/>
                <a:ea typeface="+mj-ea"/>
                <a:cs typeface="+mj-cs"/>
              </a:rPr>
              <a:t>在</a:t>
            </a:r>
            <a:r>
              <a:rPr lang="en-US" altLang="zh-CN" sz="2800" dirty="0">
                <a:solidFill>
                  <a:srgbClr val="0033CC"/>
                </a:solidFill>
                <a:latin typeface="+mj-lt"/>
                <a:ea typeface="+mj-ea"/>
                <a:cs typeface="+mj-cs"/>
              </a:rPr>
              <a:t>《An Introduction to Software Architecture》</a:t>
            </a:r>
            <a:r>
              <a:rPr lang="zh-CN" altLang="en-US" sz="2800" dirty="0">
                <a:solidFill>
                  <a:srgbClr val="0033CC"/>
                </a:solidFill>
                <a:latin typeface="+mj-lt"/>
                <a:ea typeface="+mj-ea"/>
                <a:cs typeface="+mj-cs"/>
              </a:rPr>
              <a:t>中提到的。</a:t>
            </a:r>
            <a:endParaRPr lang="zh-CN" altLang="en-US" sz="2800" dirty="0">
              <a:solidFill>
                <a:srgbClr val="0033CC"/>
              </a:solidFill>
              <a:latin typeface="+mj-lt"/>
              <a:ea typeface="+mj-ea"/>
              <a:cs typeface="+mj-cs"/>
            </a:endParaRPr>
          </a:p>
        </p:txBody>
      </p:sp>
      <p:sp>
        <p:nvSpPr>
          <p:cNvPr id="20483" name="日期占位符 5"/>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48C74531-AFDC-4598-ACB6-E88BECDA9DC7}" type="datetime1">
              <a:rPr lang="zh-CN" altLang="en-US" sz="1200" smtClean="0">
                <a:solidFill>
                  <a:schemeClr val="tx1"/>
                </a:solidFill>
              </a:rPr>
            </a:fld>
            <a:endParaRPr lang="zh-CN" altLang="en-US" sz="1200">
              <a:solidFill>
                <a:schemeClr val="tx1"/>
              </a:solidFill>
            </a:endParaRPr>
          </a:p>
        </p:txBody>
      </p:sp>
      <p:sp>
        <p:nvSpPr>
          <p:cNvPr id="20482" name="灯片编号占位符 4"/>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237846D8-BA07-4B57-891E-B61A639A984E}"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20485" name="Text Box 3"/>
          <p:cNvSpPr txBox="1">
            <a:spLocks noChangeArrowheads="1"/>
          </p:cNvSpPr>
          <p:nvPr/>
        </p:nvSpPr>
        <p:spPr bwMode="auto">
          <a:xfrm>
            <a:off x="468313" y="5870575"/>
            <a:ext cx="8496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1800" b="0">
                <a:solidFill>
                  <a:schemeClr val="tx1"/>
                </a:solidFill>
                <a:hlinkClick r:id="rId1"/>
              </a:rPr>
              <a:t>http://www.cs.utexas.edu/users/EWD/</a:t>
            </a:r>
            <a:br>
              <a:rPr lang="en-US" altLang="zh-CN" sz="1800" b="0">
                <a:solidFill>
                  <a:schemeClr val="tx1"/>
                </a:solidFill>
                <a:hlinkClick r:id="rId1"/>
              </a:rPr>
            </a:br>
            <a:r>
              <a:rPr lang="en-US" altLang="zh-CN" sz="1800" b="0">
                <a:solidFill>
                  <a:schemeClr val="tx1"/>
                </a:solidFill>
                <a:hlinkClick r:id="rId1"/>
              </a:rPr>
              <a:t>http://www.cs.utexas.edu/users/EWD/ewd01xx/EWD196.PDF</a:t>
            </a:r>
            <a:endParaRPr lang="en-US" altLang="zh-CN" sz="1800" b="0">
              <a:solidFill>
                <a:schemeClr val="tx1"/>
              </a:solidFill>
            </a:endParaRPr>
          </a:p>
        </p:txBody>
      </p:sp>
    </p:spTree>
  </p:cSld>
  <p:clrMapOvr>
    <a:masterClrMapping/>
  </p:clrMapOvr>
  <p:transition>
    <p:wipe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normAutofit/>
          </a:bodyPr>
          <a:lstStyle/>
          <a:p>
            <a:pPr eaLnBrk="1" hangingPunct="1"/>
            <a:r>
              <a:rPr lang="zh-CN" altLang="en-US" dirty="0"/>
              <a:t>软件体系结构的产生</a:t>
            </a:r>
            <a:endParaRPr lang="en-US" altLang="zh-CN" dirty="0"/>
          </a:p>
        </p:txBody>
      </p:sp>
      <p:sp>
        <p:nvSpPr>
          <p:cNvPr id="56323" name="Rectangle 3"/>
          <p:cNvSpPr>
            <a:spLocks noGrp="1" noChangeArrowheads="1"/>
          </p:cNvSpPr>
          <p:nvPr>
            <p:ph idx="1"/>
          </p:nvPr>
        </p:nvSpPr>
        <p:spPr>
          <a:xfrm>
            <a:off x="495746" y="1412776"/>
            <a:ext cx="7886700" cy="4351338"/>
          </a:xfrm>
        </p:spPr>
        <p:txBody>
          <a:bodyPr>
            <a:noAutofit/>
          </a:bodyPr>
          <a:lstStyle/>
          <a:p>
            <a:pPr>
              <a:lnSpc>
                <a:spcPct val="150000"/>
              </a:lnSpc>
              <a:spcAft>
                <a:spcPts val="600"/>
              </a:spcAft>
            </a:pPr>
            <a:r>
              <a:rPr lang="zh-CN" altLang="en-US" sz="2200" b="1" dirty="0">
                <a:ea typeface="宋体" panose="02010600030101010101" pitchFamily="2" charset="-122"/>
              </a:rPr>
              <a:t>软件体系结构的产生</a:t>
            </a:r>
            <a:endParaRPr lang="en-US" altLang="zh-CN" sz="2200" b="1" dirty="0">
              <a:ea typeface="宋体" panose="02010600030101010101" pitchFamily="2" charset="-122"/>
            </a:endParaRPr>
          </a:p>
          <a:p>
            <a:pPr lvl="1">
              <a:lnSpc>
                <a:spcPct val="150000"/>
              </a:lnSpc>
              <a:spcBef>
                <a:spcPts val="600"/>
              </a:spcBef>
              <a:spcAft>
                <a:spcPts val="600"/>
              </a:spcAft>
            </a:pPr>
            <a:r>
              <a:rPr lang="en-US" altLang="zh-CN" sz="2200" b="1" dirty="0">
                <a:ea typeface="宋体" panose="02010600030101010101" pitchFamily="2" charset="-122"/>
              </a:rPr>
              <a:t>20</a:t>
            </a:r>
            <a:r>
              <a:rPr lang="zh-CN" altLang="en-US" sz="2200" b="1" dirty="0">
                <a:ea typeface="宋体" panose="02010600030101010101" pitchFamily="2" charset="-122"/>
              </a:rPr>
              <a:t>世纪</a:t>
            </a:r>
            <a:r>
              <a:rPr lang="en-US" altLang="zh-CN" sz="2200" b="1" dirty="0">
                <a:ea typeface="宋体" panose="02010600030101010101" pitchFamily="2" charset="-122"/>
              </a:rPr>
              <a:t>90</a:t>
            </a:r>
            <a:r>
              <a:rPr lang="zh-CN" altLang="en-US" sz="2200" b="1" dirty="0">
                <a:ea typeface="宋体" panose="02010600030101010101" pitchFamily="2" charset="-122"/>
              </a:rPr>
              <a:t>年代， 研究人员展开了关于软件</a:t>
            </a:r>
            <a:r>
              <a:rPr lang="zh-CN" altLang="en-US" sz="2200" b="1" dirty="0"/>
              <a:t>体系结构</a:t>
            </a:r>
            <a:r>
              <a:rPr lang="zh-CN" altLang="en-US" sz="2200" b="1" dirty="0">
                <a:ea typeface="宋体" panose="02010600030101010101" pitchFamily="2" charset="-122"/>
              </a:rPr>
              <a:t>的基础研究，主要集中在</a:t>
            </a:r>
            <a:r>
              <a:rPr lang="zh-CN" altLang="en-US" sz="2200" b="1" dirty="0"/>
              <a:t>体系结构</a:t>
            </a:r>
            <a:r>
              <a:rPr lang="zh-CN" altLang="en-US" sz="2200" b="1" dirty="0">
                <a:ea typeface="宋体" panose="02010600030101010101" pitchFamily="2" charset="-122"/>
              </a:rPr>
              <a:t>风格</a:t>
            </a:r>
            <a:r>
              <a:rPr lang="en-US" altLang="en-US" sz="2200" b="1" dirty="0">
                <a:ea typeface="宋体" panose="02010600030101010101" pitchFamily="2" charset="-122"/>
              </a:rPr>
              <a:t>(</a:t>
            </a:r>
            <a:r>
              <a:rPr lang="zh-CN" altLang="en-US" sz="2200" b="1" dirty="0">
                <a:ea typeface="宋体" panose="02010600030101010101" pitchFamily="2" charset="-122"/>
              </a:rPr>
              <a:t>模式</a:t>
            </a:r>
            <a:r>
              <a:rPr lang="en-US" altLang="en-US" sz="2200" b="1" dirty="0">
                <a:ea typeface="宋体" panose="02010600030101010101" pitchFamily="2" charset="-122"/>
              </a:rPr>
              <a:t>)</a:t>
            </a:r>
            <a:r>
              <a:rPr lang="zh-CN" altLang="en-US" sz="2200" b="1" dirty="0">
                <a:ea typeface="宋体" panose="02010600030101010101" pitchFamily="2" charset="-122"/>
              </a:rPr>
              <a:t>、</a:t>
            </a:r>
            <a:r>
              <a:rPr lang="zh-CN" altLang="en-US" sz="2200" b="1" dirty="0"/>
              <a:t>体系结构</a:t>
            </a:r>
            <a:r>
              <a:rPr lang="zh-CN" altLang="en-US" sz="2200" b="1" dirty="0">
                <a:ea typeface="宋体" panose="02010600030101010101" pitchFamily="2" charset="-122"/>
              </a:rPr>
              <a:t>描述语言、</a:t>
            </a:r>
            <a:r>
              <a:rPr lang="zh-CN" altLang="en-US" sz="2200" b="1" dirty="0"/>
              <a:t>体系结构</a:t>
            </a:r>
            <a:r>
              <a:rPr lang="zh-CN" altLang="en-US" sz="2200" b="1" dirty="0">
                <a:ea typeface="宋体" panose="02010600030101010101" pitchFamily="2" charset="-122"/>
              </a:rPr>
              <a:t>文档和形式化方法。</a:t>
            </a:r>
            <a:endParaRPr lang="en-US" altLang="zh-CN" sz="2200" b="1" dirty="0">
              <a:ea typeface="宋体" panose="02010600030101010101" pitchFamily="2" charset="-122"/>
            </a:endParaRPr>
          </a:p>
          <a:p>
            <a:pPr lvl="1">
              <a:lnSpc>
                <a:spcPct val="150000"/>
              </a:lnSpc>
              <a:spcBef>
                <a:spcPts val="600"/>
              </a:spcBef>
              <a:spcAft>
                <a:spcPts val="600"/>
              </a:spcAft>
            </a:pPr>
            <a:r>
              <a:rPr lang="zh-CN" altLang="en-US" sz="2200" b="1" dirty="0">
                <a:ea typeface="宋体" panose="02010600030101010101" pitchFamily="2" charset="-122"/>
              </a:rPr>
              <a:t>软件</a:t>
            </a:r>
            <a:r>
              <a:rPr lang="zh-CN" altLang="en-US" sz="2200" b="1" dirty="0"/>
              <a:t>体系结构</a:t>
            </a:r>
            <a:r>
              <a:rPr lang="zh-CN" altLang="en-US" sz="2200" b="1" dirty="0">
                <a:ea typeface="宋体" panose="02010600030101010101" pitchFamily="2" charset="-122"/>
              </a:rPr>
              <a:t>在高级层次上对软件进行描述，便于软件开发过程中各个视角（例如用户、业务和系统）的统一，能够及早发现开发中的问题并支持各种解决方案的评估和预测。</a:t>
            </a:r>
            <a:endParaRPr lang="en-US" altLang="zh-CN" sz="2200" b="1" dirty="0">
              <a:ea typeface="宋体" panose="02010600030101010101" pitchFamily="2" charset="-122"/>
            </a:endParaRPr>
          </a:p>
          <a:p>
            <a:pPr lvl="1">
              <a:lnSpc>
                <a:spcPct val="150000"/>
              </a:lnSpc>
              <a:spcBef>
                <a:spcPts val="600"/>
              </a:spcBef>
              <a:spcAft>
                <a:spcPts val="600"/>
              </a:spcAft>
            </a:pPr>
            <a:r>
              <a:rPr lang="zh-CN" altLang="en-US" sz="2200" b="1" dirty="0">
                <a:ea typeface="宋体" panose="02010600030101010101" pitchFamily="2" charset="-122"/>
              </a:rPr>
              <a:t>其意义贯穿软件生命周期的各个阶段。</a:t>
            </a:r>
            <a:endParaRPr lang="en-US" altLang="zh-CN" sz="2200" b="1" dirty="0">
              <a:ea typeface="宋体" panose="02010600030101010101" pitchFamily="2" charset="-122"/>
            </a:endParaRPr>
          </a:p>
        </p:txBody>
      </p:sp>
    </p:spTree>
  </p:cSld>
  <p:clrMapOvr>
    <a:masterClrMapping/>
  </p:clrMapOvr>
  <p:transition>
    <p:wipe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3"/>
          <p:cNvSpPr>
            <a:spLocks noGrp="1"/>
          </p:cNvSpPr>
          <p:nvPr>
            <p:ph type="dt" sz="quarter"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17CEE2D3-4B8A-4E9E-B467-41C53E2C7B1D}" type="datetime1">
              <a:rPr kumimoji="0" lang="zh-CN" altLang="en-US" sz="1400" smtClean="0"/>
            </a:fld>
            <a:endParaRPr kumimoji="0" lang="en-US" altLang="zh-CN" sz="1400"/>
          </a:p>
        </p:txBody>
      </p:sp>
      <p:sp>
        <p:nvSpPr>
          <p:cNvPr id="6349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12AA8B5-690F-485E-AEBF-BB1A0776BA2A}" type="slidenum">
              <a:rPr kumimoji="0" lang="en-US" altLang="zh-CN" sz="1400"/>
            </a:fld>
            <a:endParaRPr kumimoji="0" lang="en-US" altLang="zh-CN" sz="1400"/>
          </a:p>
        </p:txBody>
      </p:sp>
      <p:sp>
        <p:nvSpPr>
          <p:cNvPr id="63494" name="Rectangle 3"/>
          <p:cNvSpPr>
            <a:spLocks noGrp="1" noChangeArrowheads="1"/>
          </p:cNvSpPr>
          <p:nvPr>
            <p:ph type="body" idx="1"/>
          </p:nvPr>
        </p:nvSpPr>
        <p:spPr>
          <a:xfrm>
            <a:off x="733537" y="1556792"/>
            <a:ext cx="7676926" cy="4560901"/>
          </a:xfrm>
        </p:spPr>
        <p:txBody>
          <a:bodyPr>
            <a:normAutofit/>
          </a:bodyPr>
          <a:lstStyle/>
          <a:p>
            <a:pPr eaLnBrk="1" hangingPunct="1"/>
            <a:r>
              <a:rPr lang="zh-CN" altLang="en-US" sz="3200" dirty="0"/>
              <a:t>基础研究阶段（</a:t>
            </a:r>
            <a:r>
              <a:rPr lang="en-US" altLang="zh-CN" sz="3200" dirty="0"/>
              <a:t>1968-1994</a:t>
            </a:r>
            <a:r>
              <a:rPr lang="zh-CN" altLang="en-US" sz="3200" dirty="0"/>
              <a:t>）</a:t>
            </a:r>
            <a:endParaRPr lang="en-US" altLang="zh-CN" sz="3200" dirty="0"/>
          </a:p>
          <a:p>
            <a:r>
              <a:rPr lang="zh-CN" altLang="en-US" sz="3200" dirty="0"/>
              <a:t>概念体系和核心技术形成阶段（</a:t>
            </a:r>
            <a:r>
              <a:rPr lang="en-US" altLang="en-US" sz="3200" dirty="0"/>
              <a:t>1991-2000</a:t>
            </a:r>
            <a:r>
              <a:rPr lang="zh-CN" altLang="en-US" sz="3200" dirty="0"/>
              <a:t>）</a:t>
            </a:r>
            <a:endParaRPr lang="en-US" altLang="zh-CN" sz="3200" dirty="0"/>
          </a:p>
          <a:p>
            <a:r>
              <a:rPr lang="zh-CN" altLang="en-US" sz="3200" dirty="0"/>
              <a:t>理论体系丰富发展阶段（</a:t>
            </a:r>
            <a:r>
              <a:rPr lang="en-US" altLang="en-US" sz="3200" dirty="0"/>
              <a:t>1996-</a:t>
            </a:r>
            <a:r>
              <a:rPr lang="en-US" altLang="zh-CN" sz="3200" dirty="0"/>
              <a:t>1999</a:t>
            </a:r>
            <a:r>
              <a:rPr lang="zh-CN" altLang="en-US" sz="3200" dirty="0"/>
              <a:t>）</a:t>
            </a:r>
            <a:endParaRPr lang="en-US" altLang="zh-CN" sz="3200" dirty="0"/>
          </a:p>
          <a:p>
            <a:r>
              <a:rPr lang="zh-CN" altLang="en-US" sz="3200" dirty="0"/>
              <a:t>理论完善和普及应用阶段（</a:t>
            </a:r>
            <a:r>
              <a:rPr lang="en-US" sz="3200" dirty="0"/>
              <a:t>1999</a:t>
            </a:r>
            <a:r>
              <a:rPr lang="zh-CN" altLang="en-US" sz="3200" dirty="0"/>
              <a:t>年至今）</a:t>
            </a:r>
            <a:endParaRPr lang="en-US" altLang="zh-CN" sz="3200" dirty="0"/>
          </a:p>
        </p:txBody>
      </p:sp>
      <p:sp>
        <p:nvSpPr>
          <p:cNvPr id="7" name="Rectangle 2"/>
          <p:cNvSpPr txBox="1">
            <a:spLocks noChangeArrowheads="1"/>
          </p:cNvSpPr>
          <p:nvPr/>
        </p:nvSpPr>
        <p:spPr>
          <a:xfrm>
            <a:off x="683568" y="260648"/>
            <a:ext cx="7620000" cy="730250"/>
          </a:xfrm>
          <a:prstGeom prst="rect">
            <a:avLst/>
          </a:prstGeom>
        </p:spPr>
        <p:txBody>
          <a:bodyPr anchor="ctr">
            <a:normAutofit fontScale="97500" lnSpcReduction="10000"/>
          </a:bodyPr>
          <a:lstStyle/>
          <a:p>
            <a:pPr marL="0" marR="0" lvl="0" indent="0" algn="l" defTabSz="914400" rtl="0" eaLnBrk="1" fontAlgn="auto" latinLnBrk="0" hangingPunct="1">
              <a:lnSpc>
                <a:spcPct val="100000"/>
              </a:lnSpc>
              <a:spcBef>
                <a:spcPct val="0"/>
              </a:spcBef>
              <a:spcAft>
                <a:spcPts val="0"/>
              </a:spcAft>
              <a:buClrTx/>
              <a:buSzTx/>
              <a:buFontTx/>
              <a:buNone/>
              <a:defRPr/>
            </a:pPr>
            <a:r>
              <a:rPr lang="zh-CN" altLang="en-US" sz="4400" dirty="0">
                <a:solidFill>
                  <a:schemeClr val="bg1"/>
                </a:solidFill>
                <a:latin typeface="+mj-lt"/>
                <a:ea typeface="+mj-ea"/>
                <a:cs typeface="+mj-cs"/>
              </a:rPr>
              <a:t>软件体系结构的发展阶段</a:t>
            </a:r>
            <a:endParaRPr lang="en-US" altLang="zh-CN" sz="4400" dirty="0">
              <a:solidFill>
                <a:schemeClr val="bg1"/>
              </a:solidFill>
              <a:latin typeface="+mj-lt"/>
              <a:ea typeface="+mj-ea"/>
              <a:cs typeface="+mj-cs"/>
            </a:endParaRPr>
          </a:p>
        </p:txBody>
      </p:sp>
    </p:spTree>
  </p:cSld>
  <p:clrMapOvr>
    <a:masterClrMapping/>
  </p:clrMapOvr>
  <p:transition>
    <p:wipe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683568" y="260648"/>
            <a:ext cx="7620000" cy="730250"/>
          </a:xfrm>
        </p:spPr>
        <p:txBody>
          <a:bodyPr>
            <a:normAutofit/>
          </a:bodyPr>
          <a:lstStyle/>
          <a:p>
            <a:pPr lvl="0" fontAlgn="auto">
              <a:lnSpc>
                <a:spcPct val="100000"/>
              </a:lnSpc>
              <a:spcAft>
                <a:spcPts val="0"/>
              </a:spcAft>
              <a:defRPr/>
            </a:pPr>
            <a:r>
              <a:rPr lang="zh-CN" altLang="en-US" sz="4000" dirty="0"/>
              <a:t>软件体系结构的发展阶段</a:t>
            </a:r>
            <a:endParaRPr lang="en-US" altLang="zh-CN" sz="4000" dirty="0"/>
          </a:p>
        </p:txBody>
      </p:sp>
      <p:sp>
        <p:nvSpPr>
          <p:cNvPr id="5" name="内容占位符 4"/>
          <p:cNvSpPr>
            <a:spLocks noGrp="1"/>
          </p:cNvSpPr>
          <p:nvPr>
            <p:ph idx="1"/>
          </p:nvPr>
        </p:nvSpPr>
        <p:spPr/>
        <p:txBody>
          <a:bodyPr>
            <a:normAutofit/>
          </a:bodyPr>
          <a:lstStyle/>
          <a:p>
            <a:r>
              <a:rPr lang="en-US" altLang="zh-CN" dirty="0"/>
              <a:t>1.</a:t>
            </a:r>
            <a:r>
              <a:rPr lang="zh-CN" altLang="en-US" dirty="0"/>
              <a:t>基础研究阶段（</a:t>
            </a:r>
            <a:r>
              <a:rPr lang="en-US" altLang="zh-CN" dirty="0"/>
              <a:t>1968-1994</a:t>
            </a:r>
            <a:r>
              <a:rPr lang="zh-CN" altLang="en-US" dirty="0"/>
              <a:t>）</a:t>
            </a:r>
            <a:endParaRPr lang="en-US" altLang="zh-CN" dirty="0"/>
          </a:p>
          <a:p>
            <a:pPr lvl="1"/>
            <a:r>
              <a:rPr lang="en-US" altLang="zh-CN" dirty="0"/>
              <a:t>1968</a:t>
            </a:r>
            <a:r>
              <a:rPr lang="zh-CN" altLang="en-US" dirty="0"/>
              <a:t>北大西洋公约组织</a:t>
            </a:r>
            <a:r>
              <a:rPr lang="en-US" dirty="0"/>
              <a:t>(NATO)</a:t>
            </a:r>
            <a:r>
              <a:rPr lang="zh-CN" altLang="en-US" dirty="0"/>
              <a:t>会议上第一次出现词语“软件体系结构”</a:t>
            </a:r>
            <a:endParaRPr lang="en-US" altLang="zh-CN" dirty="0"/>
          </a:p>
          <a:p>
            <a:pPr lvl="1"/>
            <a:r>
              <a:rPr lang="zh-CN" altLang="en-US" dirty="0"/>
              <a:t>直到</a:t>
            </a:r>
            <a:r>
              <a:rPr lang="en-US" altLang="zh-CN" dirty="0"/>
              <a:t>20</a:t>
            </a:r>
            <a:r>
              <a:rPr lang="zh-CN" altLang="en-US" dirty="0"/>
              <a:t>世纪</a:t>
            </a:r>
            <a:r>
              <a:rPr lang="en-US" dirty="0"/>
              <a:t>80</a:t>
            </a:r>
            <a:r>
              <a:rPr lang="zh-CN" altLang="en-US" dirty="0"/>
              <a:t>年代，“体系结构”一词大部分情况下被用于表示计算机系统的物理结构，偶尔被用于表示计算指令集的特定体系。</a:t>
            </a:r>
            <a:endParaRPr lang="en-US" altLang="zh-CN" dirty="0"/>
          </a:p>
          <a:p>
            <a:pPr lvl="1"/>
            <a:r>
              <a:rPr lang="zh-CN" altLang="en-US" dirty="0"/>
              <a:t>随着软件规模增大，开发者已经开始尝试</a:t>
            </a:r>
            <a:r>
              <a:rPr lang="zh-CN" altLang="en-US" b="1" dirty="0"/>
              <a:t>模块化（</a:t>
            </a:r>
            <a:r>
              <a:rPr lang="en-US" u="sng" dirty="0"/>
              <a:t>modularization</a:t>
            </a:r>
            <a:r>
              <a:rPr lang="zh-CN" altLang="en-US" b="1" dirty="0"/>
              <a:t>）</a:t>
            </a:r>
            <a:r>
              <a:rPr lang="zh-CN" altLang="en-US" dirty="0"/>
              <a:t>的实践</a:t>
            </a:r>
            <a:endParaRPr lang="en-US" altLang="zh-CN" dirty="0"/>
          </a:p>
        </p:txBody>
      </p:sp>
    </p:spTree>
  </p:cSld>
  <p:clrMapOvr>
    <a:masterClrMapping/>
  </p:clrMapOvr>
  <p:transition spd="slow">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539552" y="260648"/>
            <a:ext cx="7620000" cy="730250"/>
          </a:xfrm>
        </p:spPr>
        <p:txBody>
          <a:bodyPr>
            <a:normAutofit/>
          </a:bodyPr>
          <a:lstStyle/>
          <a:p>
            <a:pPr lvl="0">
              <a:defRPr/>
            </a:pPr>
            <a:r>
              <a:rPr lang="zh-CN" altLang="en-US" dirty="0"/>
              <a:t>软件体系结构的发展阶段</a:t>
            </a:r>
            <a:endParaRPr lang="en-US" altLang="zh-CN" sz="4300" dirty="0"/>
          </a:p>
        </p:txBody>
      </p:sp>
      <p:sp>
        <p:nvSpPr>
          <p:cNvPr id="5" name="内容占位符 4"/>
          <p:cNvSpPr>
            <a:spLocks noGrp="1"/>
          </p:cNvSpPr>
          <p:nvPr>
            <p:ph idx="1"/>
          </p:nvPr>
        </p:nvSpPr>
        <p:spPr/>
        <p:txBody>
          <a:bodyPr>
            <a:normAutofit/>
          </a:bodyPr>
          <a:lstStyle/>
          <a:p>
            <a:r>
              <a:rPr lang="en-US" altLang="zh-CN" dirty="0"/>
              <a:t>1.</a:t>
            </a:r>
            <a:r>
              <a:rPr lang="zh-CN" altLang="en-US" dirty="0"/>
              <a:t>基础研究阶段（</a:t>
            </a:r>
            <a:r>
              <a:rPr lang="en-US" altLang="zh-CN" dirty="0"/>
              <a:t>1968-1994</a:t>
            </a:r>
            <a:r>
              <a:rPr lang="zh-CN" altLang="en-US" dirty="0"/>
              <a:t>）</a:t>
            </a:r>
            <a:endParaRPr lang="en-US" altLang="zh-CN" dirty="0"/>
          </a:p>
          <a:p>
            <a:pPr lvl="1"/>
            <a:r>
              <a:rPr lang="zh-CN" altLang="en-US" b="1" dirty="0"/>
              <a:t>模块化</a:t>
            </a:r>
            <a:r>
              <a:rPr lang="en-US" altLang="zh-CN" b="1" dirty="0"/>
              <a:t>:</a:t>
            </a:r>
            <a:r>
              <a:rPr lang="zh-CN" altLang="en-US" dirty="0"/>
              <a:t>指的是一种软件开发方法，把一个待开发的软件分解成若干小的简单的部分，称为模块。每一个模块都独立地开发、测试，最后再组装出整个软件。</a:t>
            </a:r>
            <a:endParaRPr lang="en-US" altLang="zh-CN" dirty="0"/>
          </a:p>
          <a:p>
            <a:pPr lvl="1"/>
            <a:r>
              <a:rPr lang="zh-CN" altLang="en-US" dirty="0"/>
              <a:t>模块化规则：</a:t>
            </a:r>
            <a:endParaRPr lang="en-US" altLang="zh-CN" dirty="0"/>
          </a:p>
          <a:p>
            <a:pPr lvl="2"/>
            <a:r>
              <a:rPr lang="zh-CN" altLang="en-US" dirty="0"/>
              <a:t>高内聚，低耦合</a:t>
            </a:r>
            <a:endParaRPr lang="en-US" altLang="zh-CN" dirty="0"/>
          </a:p>
          <a:p>
            <a:pPr lvl="2"/>
            <a:r>
              <a:rPr lang="zh-CN" altLang="en-US" dirty="0"/>
              <a:t>模块大小适度</a:t>
            </a:r>
            <a:endParaRPr lang="en-US" altLang="zh-CN" dirty="0"/>
          </a:p>
          <a:p>
            <a:pPr lvl="2"/>
            <a:r>
              <a:rPr lang="zh-CN" altLang="en-US" dirty="0"/>
              <a:t>模块调用链的深度</a:t>
            </a:r>
            <a:r>
              <a:rPr lang="en-US" dirty="0"/>
              <a:t> (</a:t>
            </a:r>
            <a:r>
              <a:rPr lang="zh-CN" altLang="en-US" dirty="0"/>
              <a:t>嵌套层次</a:t>
            </a:r>
            <a:r>
              <a:rPr lang="en-US" dirty="0"/>
              <a:t>)</a:t>
            </a:r>
            <a:r>
              <a:rPr lang="zh-CN" altLang="en-US" dirty="0"/>
              <a:t>不可过多</a:t>
            </a:r>
            <a:endParaRPr lang="en-US" altLang="zh-CN" dirty="0"/>
          </a:p>
          <a:p>
            <a:pPr lvl="2"/>
            <a:r>
              <a:rPr lang="zh-CN" altLang="en-US" dirty="0"/>
              <a:t>接口干净，信息隐蔽</a:t>
            </a:r>
            <a:endParaRPr lang="en-US" altLang="zh-CN" dirty="0"/>
          </a:p>
          <a:p>
            <a:pPr lvl="2"/>
            <a:r>
              <a:rPr lang="zh-CN" altLang="en-US" dirty="0"/>
              <a:t>尽可能地复用已有模块</a:t>
            </a:r>
            <a:endParaRPr lang="zh-CN" altLang="en-US" dirty="0"/>
          </a:p>
          <a:p>
            <a:pPr lvl="2"/>
            <a:endParaRPr lang="en-US" altLang="zh-CN" dirty="0"/>
          </a:p>
        </p:txBody>
      </p:sp>
    </p:spTree>
  </p:cSld>
  <p:clrMapOvr>
    <a:masterClrMapping/>
  </p:clrMapOvr>
  <p:transition spd="slow">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467544" y="260648"/>
            <a:ext cx="7620000" cy="730250"/>
          </a:xfrm>
        </p:spPr>
        <p:txBody>
          <a:bodyPr>
            <a:normAutofit/>
          </a:bodyPr>
          <a:lstStyle/>
          <a:p>
            <a:pPr lvl="0">
              <a:defRPr/>
            </a:pPr>
            <a:r>
              <a:rPr lang="zh-CN" altLang="en-US" dirty="0"/>
              <a:t>软件体系结构的发展阶段</a:t>
            </a:r>
            <a:endParaRPr lang="en-US" altLang="zh-CN" sz="4300" dirty="0"/>
          </a:p>
        </p:txBody>
      </p:sp>
      <p:sp>
        <p:nvSpPr>
          <p:cNvPr id="5" name="内容占位符 4"/>
          <p:cNvSpPr>
            <a:spLocks noGrp="1"/>
          </p:cNvSpPr>
          <p:nvPr>
            <p:ph idx="1"/>
          </p:nvPr>
        </p:nvSpPr>
        <p:spPr/>
        <p:txBody>
          <a:bodyPr>
            <a:normAutofit/>
          </a:bodyPr>
          <a:lstStyle/>
          <a:p>
            <a:r>
              <a:rPr lang="en-US" altLang="zh-CN" dirty="0"/>
              <a:t>2.</a:t>
            </a:r>
            <a:r>
              <a:rPr lang="zh-CN" altLang="en-US" dirty="0"/>
              <a:t>概念体系和核心技术形成阶段（</a:t>
            </a:r>
            <a:r>
              <a:rPr lang="en-US" altLang="en-US" dirty="0"/>
              <a:t>1991-2000</a:t>
            </a:r>
            <a:r>
              <a:rPr lang="zh-CN" altLang="en-US" dirty="0"/>
              <a:t>）</a:t>
            </a:r>
            <a:endParaRPr lang="en-US" altLang="zh-CN" dirty="0"/>
          </a:p>
          <a:p>
            <a:pPr lvl="1"/>
            <a:r>
              <a:rPr lang="en-US" dirty="0"/>
              <a:t>1991</a:t>
            </a:r>
            <a:r>
              <a:rPr lang="zh-CN" altLang="en-US" dirty="0"/>
              <a:t>年，</a:t>
            </a:r>
            <a:r>
              <a:rPr lang="en-US" dirty="0"/>
              <a:t>Winston W. Royce </a:t>
            </a:r>
            <a:r>
              <a:rPr lang="zh-CN" altLang="en-US" dirty="0"/>
              <a:t>与</a:t>
            </a:r>
            <a:r>
              <a:rPr lang="en-US" dirty="0"/>
              <a:t> Walker Royce </a:t>
            </a:r>
            <a:r>
              <a:rPr lang="zh-CN" altLang="en-US" dirty="0"/>
              <a:t>首次对软件体系结构进行了定义。</a:t>
            </a:r>
            <a:endParaRPr lang="en-US" altLang="zh-CN" dirty="0"/>
          </a:p>
          <a:p>
            <a:pPr lvl="1"/>
            <a:r>
              <a:rPr lang="en-US" dirty="0"/>
              <a:t>1992</a:t>
            </a:r>
            <a:r>
              <a:rPr lang="zh-CN" altLang="en-US" dirty="0"/>
              <a:t>年</a:t>
            </a:r>
            <a:r>
              <a:rPr lang="en-US" dirty="0"/>
              <a:t>D </a:t>
            </a:r>
            <a:r>
              <a:rPr lang="en-US" dirty="0" err="1"/>
              <a:t>E.Perry</a:t>
            </a:r>
            <a:r>
              <a:rPr lang="zh-CN" altLang="en-US" dirty="0"/>
              <a:t>与</a:t>
            </a:r>
            <a:r>
              <a:rPr lang="en-US" dirty="0"/>
              <a:t>A </a:t>
            </a:r>
            <a:r>
              <a:rPr lang="en-US" dirty="0" err="1"/>
              <a:t>L.Wolf</a:t>
            </a:r>
            <a:r>
              <a:rPr lang="zh-CN" altLang="en-US" dirty="0"/>
              <a:t>对软件体系结构进行了阐述，提出了著名的</a:t>
            </a:r>
            <a:r>
              <a:rPr lang="en-US" dirty="0"/>
              <a:t>{elements, forms, rationale} = software architecture</a:t>
            </a:r>
            <a:r>
              <a:rPr lang="zh-CN" altLang="en-US" dirty="0"/>
              <a:t>公式</a:t>
            </a:r>
            <a:endParaRPr lang="en-US" altLang="zh-CN" dirty="0"/>
          </a:p>
          <a:p>
            <a:pPr lvl="1"/>
            <a:r>
              <a:rPr lang="en-US" dirty="0"/>
              <a:t>1996</a:t>
            </a:r>
            <a:r>
              <a:rPr lang="zh-CN" altLang="en-US" dirty="0"/>
              <a:t>年</a:t>
            </a:r>
            <a:r>
              <a:rPr lang="en-US" dirty="0"/>
              <a:t>CMU/SEI</a:t>
            </a:r>
            <a:r>
              <a:rPr lang="zh-CN" altLang="en-US" dirty="0"/>
              <a:t>的</a:t>
            </a:r>
            <a:r>
              <a:rPr lang="en-US" dirty="0"/>
              <a:t>Mary Shaw</a:t>
            </a:r>
            <a:r>
              <a:rPr lang="zh-CN" altLang="en-US" dirty="0"/>
              <a:t>和</a:t>
            </a:r>
            <a:r>
              <a:rPr lang="en-US" dirty="0"/>
              <a:t>David </a:t>
            </a:r>
            <a:r>
              <a:rPr lang="en-US" dirty="0" err="1"/>
              <a:t>Garlan</a:t>
            </a:r>
            <a:r>
              <a:rPr lang="zh-CN" altLang="en-US" dirty="0"/>
              <a:t>，出版了</a:t>
            </a:r>
            <a:r>
              <a:rPr lang="en-US" altLang="zh-CN" dirty="0"/>
              <a:t>《</a:t>
            </a:r>
            <a:r>
              <a:rPr lang="en-US" dirty="0"/>
              <a:t>Software Architecture: Perspectives on an Emerging Discipline</a:t>
            </a:r>
            <a:r>
              <a:rPr lang="en-US" altLang="zh-CN" dirty="0"/>
              <a:t>》</a:t>
            </a:r>
            <a:r>
              <a:rPr lang="zh-CN" altLang="en-US" dirty="0"/>
              <a:t>，对软件体系结构概念的内涵与外延进行了详尽阐述，对软件体系结构概念的形成起到了至关重要的作用。</a:t>
            </a:r>
            <a:endParaRPr lang="en-US" altLang="zh-CN" dirty="0"/>
          </a:p>
        </p:txBody>
      </p:sp>
    </p:spTree>
  </p:cSld>
  <p:clrMapOvr>
    <a:masterClrMapping/>
  </p:clrMapOvr>
  <p:transition spd="slow">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630957" y="260648"/>
            <a:ext cx="7620000" cy="730250"/>
          </a:xfrm>
        </p:spPr>
        <p:txBody>
          <a:bodyPr>
            <a:normAutofit/>
          </a:bodyPr>
          <a:lstStyle/>
          <a:p>
            <a:pPr lvl="0">
              <a:defRPr/>
            </a:pPr>
            <a:r>
              <a:rPr lang="zh-CN" altLang="en-US" dirty="0"/>
              <a:t>软件体系结构的发展阶段</a:t>
            </a:r>
            <a:endParaRPr lang="en-US" altLang="zh-CN" sz="4300" dirty="0"/>
          </a:p>
        </p:txBody>
      </p:sp>
      <p:sp>
        <p:nvSpPr>
          <p:cNvPr id="5" name="内容占位符 4"/>
          <p:cNvSpPr>
            <a:spLocks noGrp="1"/>
          </p:cNvSpPr>
          <p:nvPr>
            <p:ph idx="1"/>
          </p:nvPr>
        </p:nvSpPr>
        <p:spPr/>
        <p:txBody>
          <a:bodyPr>
            <a:normAutofit/>
          </a:bodyPr>
          <a:lstStyle/>
          <a:p>
            <a:r>
              <a:rPr lang="en-US" altLang="zh-CN" dirty="0"/>
              <a:t>2.</a:t>
            </a:r>
            <a:r>
              <a:rPr lang="zh-CN" altLang="en-US" dirty="0"/>
              <a:t>概念体系和核心技术形成阶段（</a:t>
            </a:r>
            <a:r>
              <a:rPr lang="en-US" altLang="en-US" dirty="0"/>
              <a:t>1991-2000</a:t>
            </a:r>
            <a:r>
              <a:rPr lang="zh-CN" altLang="en-US" dirty="0"/>
              <a:t>）</a:t>
            </a:r>
            <a:endParaRPr lang="en-US" altLang="zh-CN" dirty="0"/>
          </a:p>
          <a:p>
            <a:pPr lvl="1"/>
            <a:r>
              <a:rPr lang="zh-CN" altLang="en-US" dirty="0"/>
              <a:t>从</a:t>
            </a:r>
            <a:r>
              <a:rPr lang="en-US" dirty="0"/>
              <a:t>1995</a:t>
            </a:r>
            <a:r>
              <a:rPr lang="zh-CN" altLang="en-US" dirty="0"/>
              <a:t>年起，软件体系结构研究领域开始进入快速发展阶段</a:t>
            </a:r>
            <a:endParaRPr lang="en-US" altLang="zh-CN" dirty="0"/>
          </a:p>
          <a:p>
            <a:pPr lvl="1"/>
            <a:r>
              <a:rPr lang="en-US" dirty="0" err="1"/>
              <a:t>Booch</a:t>
            </a:r>
            <a:r>
              <a:rPr lang="zh-CN" altLang="en-US" dirty="0"/>
              <a:t>，</a:t>
            </a:r>
            <a:r>
              <a:rPr lang="en-US" dirty="0" err="1"/>
              <a:t>Rumbaugh</a:t>
            </a:r>
            <a:r>
              <a:rPr lang="en-US" dirty="0"/>
              <a:t> and Jacobson</a:t>
            </a:r>
            <a:r>
              <a:rPr lang="zh-CN" altLang="en-US" dirty="0"/>
              <a:t>从另一个角度对软件体系结构的概念进行了全新的诠释，认为体系结构是一系列重要决策的集合。</a:t>
            </a:r>
            <a:endParaRPr lang="en-US" altLang="zh-CN" dirty="0"/>
          </a:p>
          <a:p>
            <a:pPr lvl="1"/>
            <a:r>
              <a:rPr lang="zh-CN" altLang="en-US" dirty="0"/>
              <a:t>提出了软件体系结构实践方法体系</a:t>
            </a:r>
            <a:r>
              <a:rPr lang="en-US" dirty="0"/>
              <a:t>SAAM</a:t>
            </a:r>
            <a:r>
              <a:rPr lang="zh-CN" altLang="en-US" dirty="0"/>
              <a:t>；</a:t>
            </a:r>
            <a:endParaRPr lang="en-US" altLang="zh-CN" dirty="0"/>
          </a:p>
          <a:p>
            <a:pPr lvl="1"/>
            <a:r>
              <a:rPr lang="en-US" dirty="0" err="1"/>
              <a:t>Rechtin</a:t>
            </a:r>
            <a:r>
              <a:rPr lang="en-US" dirty="0"/>
              <a:t> </a:t>
            </a:r>
            <a:r>
              <a:rPr lang="zh-CN" altLang="en-US" dirty="0"/>
              <a:t>与</a:t>
            </a:r>
            <a:r>
              <a:rPr lang="en-US" dirty="0"/>
              <a:t> Mark Maier</a:t>
            </a:r>
            <a:r>
              <a:rPr lang="zh-CN" altLang="en-US" dirty="0"/>
              <a:t>在</a:t>
            </a:r>
            <a:r>
              <a:rPr lang="en-US" dirty="0"/>
              <a:t>1998</a:t>
            </a:r>
            <a:r>
              <a:rPr lang="zh-CN" altLang="en-US" dirty="0"/>
              <a:t>年出版的</a:t>
            </a:r>
            <a:r>
              <a:rPr lang="en-US" altLang="zh-CN" dirty="0"/>
              <a:t>《</a:t>
            </a:r>
            <a:r>
              <a:rPr lang="en-US" dirty="0"/>
              <a:t>The Art of Systems Architecting</a:t>
            </a:r>
            <a:r>
              <a:rPr lang="en-US" altLang="zh-CN" dirty="0"/>
              <a:t>》</a:t>
            </a:r>
            <a:r>
              <a:rPr lang="zh-CN" altLang="en-US" dirty="0"/>
              <a:t>很好地阐述了系统与软件的关系。</a:t>
            </a:r>
            <a:endParaRPr lang="zh-CN" altLang="en-US" dirty="0"/>
          </a:p>
          <a:p>
            <a:pPr lvl="1"/>
            <a:endParaRPr lang="en-US" altLang="zh-CN" dirty="0"/>
          </a:p>
        </p:txBody>
      </p:sp>
    </p:spTree>
  </p:cSld>
  <p:clrMapOvr>
    <a:masterClrMapping/>
  </p:clrMapOvr>
  <p:transition spd="slow">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467544" y="260648"/>
            <a:ext cx="7620000" cy="730250"/>
          </a:xfrm>
        </p:spPr>
        <p:txBody>
          <a:bodyPr>
            <a:normAutofit/>
          </a:bodyPr>
          <a:lstStyle/>
          <a:p>
            <a:pPr lvl="0">
              <a:defRPr/>
            </a:pPr>
            <a:r>
              <a:rPr lang="zh-CN" altLang="en-US" dirty="0"/>
              <a:t>软件体系结构的发展阶段</a:t>
            </a:r>
            <a:endParaRPr lang="en-US" altLang="zh-CN" sz="4300" dirty="0"/>
          </a:p>
        </p:txBody>
      </p:sp>
      <p:sp>
        <p:nvSpPr>
          <p:cNvPr id="5" name="内容占位符 4"/>
          <p:cNvSpPr>
            <a:spLocks noGrp="1"/>
          </p:cNvSpPr>
          <p:nvPr>
            <p:ph idx="1"/>
          </p:nvPr>
        </p:nvSpPr>
        <p:spPr/>
        <p:txBody>
          <a:bodyPr>
            <a:normAutofit/>
          </a:bodyPr>
          <a:lstStyle/>
          <a:p>
            <a:r>
              <a:rPr lang="en-US" altLang="zh-CN" dirty="0"/>
              <a:t>2.</a:t>
            </a:r>
            <a:r>
              <a:rPr lang="zh-CN" altLang="en-US" dirty="0"/>
              <a:t>概念体系和核心技术形成阶段（</a:t>
            </a:r>
            <a:r>
              <a:rPr lang="en-US" altLang="en-US" dirty="0"/>
              <a:t>1991-2000</a:t>
            </a:r>
            <a:r>
              <a:rPr lang="zh-CN" altLang="en-US" dirty="0"/>
              <a:t>）</a:t>
            </a:r>
            <a:endParaRPr lang="en-US" altLang="zh-CN" dirty="0"/>
          </a:p>
          <a:p>
            <a:pPr lvl="1"/>
            <a:r>
              <a:rPr lang="zh-CN" altLang="en-US" dirty="0"/>
              <a:t>这一阶段最重要的成果之一就是软件</a:t>
            </a:r>
            <a:r>
              <a:rPr lang="zh-CN" altLang="en-US" b="1" dirty="0"/>
              <a:t>组件</a:t>
            </a:r>
            <a:r>
              <a:rPr lang="zh-CN" altLang="en-US" dirty="0"/>
              <a:t>（</a:t>
            </a:r>
            <a:r>
              <a:rPr lang="en-US" u="sng" dirty="0"/>
              <a:t>component</a:t>
            </a:r>
            <a:r>
              <a:rPr lang="zh-CN" altLang="en-US" dirty="0"/>
              <a:t>）技术</a:t>
            </a:r>
            <a:endParaRPr lang="en-US" altLang="zh-CN" dirty="0"/>
          </a:p>
          <a:p>
            <a:pPr lvl="1"/>
            <a:r>
              <a:rPr lang="zh-CN" altLang="en-US" dirty="0"/>
              <a:t>组件化开发并不等同于模块化开发。模块化开发只是在逻辑上做了切分，物理上（开发出的系统代码）通常并没有真正意义上的隔离。</a:t>
            </a:r>
            <a:endParaRPr lang="en-US" altLang="zh-CN" dirty="0"/>
          </a:p>
          <a:p>
            <a:pPr lvl="1"/>
            <a:r>
              <a:rPr lang="zh-CN" altLang="en-US" dirty="0"/>
              <a:t>组件化也不等同于应用集成，应用集成是将一些基于不同平台或不同方案的应用软件和系统有机地集成到一个无缝的、并列的、易于访问的单一系统中，建立一个统一的综合应用。</a:t>
            </a:r>
            <a:endParaRPr lang="en-US" altLang="zh-CN" dirty="0"/>
          </a:p>
          <a:p>
            <a:pPr lvl="1"/>
            <a:r>
              <a:rPr lang="zh-CN" altLang="en-US" dirty="0"/>
              <a:t>组件化应比模块化更独立，但比应用集成结合得更加紧密。</a:t>
            </a:r>
            <a:endParaRPr lang="zh-CN" altLang="en-US" dirty="0"/>
          </a:p>
        </p:txBody>
      </p:sp>
    </p:spTree>
  </p:cSld>
  <p:clrMapOvr>
    <a:masterClrMapping/>
  </p:clrMapOvr>
  <p:transition spd="slow">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628650" y="260648"/>
            <a:ext cx="7620000" cy="730250"/>
          </a:xfrm>
        </p:spPr>
        <p:txBody>
          <a:bodyPr>
            <a:normAutofit/>
          </a:bodyPr>
          <a:lstStyle/>
          <a:p>
            <a:pPr lvl="0">
              <a:defRPr/>
            </a:pPr>
            <a:r>
              <a:rPr lang="zh-CN" altLang="en-US" dirty="0"/>
              <a:t>软件体系结构的发展阶段</a:t>
            </a:r>
            <a:endParaRPr lang="en-US" altLang="zh-CN" sz="4300" dirty="0"/>
          </a:p>
        </p:txBody>
      </p:sp>
      <p:sp>
        <p:nvSpPr>
          <p:cNvPr id="5" name="内容占位符 4"/>
          <p:cNvSpPr>
            <a:spLocks noGrp="1"/>
          </p:cNvSpPr>
          <p:nvPr>
            <p:ph idx="1"/>
          </p:nvPr>
        </p:nvSpPr>
        <p:spPr/>
        <p:txBody>
          <a:bodyPr>
            <a:normAutofit/>
          </a:bodyPr>
          <a:lstStyle/>
          <a:p>
            <a:r>
              <a:rPr lang="en-US" altLang="zh-CN" dirty="0"/>
              <a:t>3.</a:t>
            </a:r>
            <a:r>
              <a:rPr lang="zh-CN" altLang="en-US" dirty="0"/>
              <a:t>理论体系丰富发展阶段（</a:t>
            </a:r>
            <a:r>
              <a:rPr lang="en-US" dirty="0"/>
              <a:t>1996-</a:t>
            </a:r>
            <a:r>
              <a:rPr lang="en-US" altLang="zh-CN" dirty="0"/>
              <a:t>1999</a:t>
            </a:r>
            <a:r>
              <a:rPr lang="zh-CN" altLang="en-US" dirty="0"/>
              <a:t>）</a:t>
            </a:r>
            <a:endParaRPr lang="en-US" altLang="zh-CN" dirty="0"/>
          </a:p>
          <a:p>
            <a:pPr lvl="1"/>
            <a:r>
              <a:rPr lang="zh-CN" altLang="en-US" dirty="0"/>
              <a:t>随着基于组件软件体系结构理论的建立，与之相关的一些研究方向逐渐成为软件工程领域的研究热点。主要研究方向包括：</a:t>
            </a:r>
            <a:endParaRPr lang="en-US" altLang="zh-CN" dirty="0"/>
          </a:p>
          <a:p>
            <a:pPr lvl="2"/>
            <a:r>
              <a:rPr lang="zh-CN" altLang="en-US" dirty="0"/>
              <a:t>软件体系结构的描述与表示；</a:t>
            </a:r>
            <a:endParaRPr lang="en-US" altLang="zh-CN" dirty="0"/>
          </a:p>
          <a:p>
            <a:pPr lvl="2"/>
            <a:r>
              <a:rPr lang="zh-CN" altLang="en-US" dirty="0"/>
              <a:t>软件体系结构分析、设计与测试；</a:t>
            </a:r>
            <a:endParaRPr lang="en-US" altLang="zh-CN" dirty="0"/>
          </a:p>
          <a:p>
            <a:pPr lvl="2"/>
            <a:r>
              <a:rPr lang="zh-CN" altLang="en-US" dirty="0"/>
              <a:t>软件体系结构发现、演化与重用；</a:t>
            </a:r>
            <a:endParaRPr lang="en-US" altLang="zh-CN" dirty="0"/>
          </a:p>
          <a:p>
            <a:pPr lvl="2"/>
            <a:r>
              <a:rPr lang="zh-CN" altLang="en-US" dirty="0"/>
              <a:t>基于软件体系结构的开发方法；</a:t>
            </a:r>
            <a:endParaRPr lang="en-US" altLang="zh-CN" dirty="0"/>
          </a:p>
          <a:p>
            <a:pPr lvl="2"/>
            <a:r>
              <a:rPr lang="zh-CN" altLang="en-US" dirty="0"/>
              <a:t>软件体系结构的风格</a:t>
            </a:r>
            <a:endParaRPr lang="en-US" altLang="zh-CN" dirty="0"/>
          </a:p>
          <a:p>
            <a:pPr lvl="2"/>
            <a:r>
              <a:rPr lang="zh-CN" altLang="en-US" dirty="0"/>
              <a:t>等等</a:t>
            </a:r>
            <a:endParaRPr lang="zh-CN" altLang="en-US" dirty="0"/>
          </a:p>
          <a:p>
            <a:pPr lvl="1"/>
            <a:endParaRPr lang="en-US" altLang="zh-CN" dirty="0"/>
          </a:p>
        </p:txBody>
      </p:sp>
    </p:spTree>
  </p:cSld>
  <p:clrMapOvr>
    <a:masterClrMapping/>
  </p:clrMapOvr>
  <p:transition spd="slow">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467544" y="260648"/>
            <a:ext cx="7620000" cy="730250"/>
          </a:xfrm>
        </p:spPr>
        <p:txBody>
          <a:bodyPr>
            <a:normAutofit/>
          </a:bodyPr>
          <a:lstStyle/>
          <a:p>
            <a:pPr lvl="0">
              <a:defRPr/>
            </a:pPr>
            <a:r>
              <a:rPr lang="zh-CN" altLang="en-US" dirty="0"/>
              <a:t>软件体系结构的发展阶段</a:t>
            </a:r>
            <a:endParaRPr lang="en-US" altLang="zh-CN" sz="4300" dirty="0"/>
          </a:p>
        </p:txBody>
      </p:sp>
      <p:sp>
        <p:nvSpPr>
          <p:cNvPr id="5" name="内容占位符 4"/>
          <p:cNvSpPr>
            <a:spLocks noGrp="1"/>
          </p:cNvSpPr>
          <p:nvPr>
            <p:ph idx="1"/>
          </p:nvPr>
        </p:nvSpPr>
        <p:spPr/>
        <p:txBody>
          <a:bodyPr>
            <a:normAutofit/>
          </a:bodyPr>
          <a:lstStyle/>
          <a:p>
            <a:r>
              <a:rPr lang="en-US" altLang="zh-CN" sz="3300" dirty="0"/>
              <a:t>4.</a:t>
            </a:r>
            <a:r>
              <a:rPr lang="zh-CN" altLang="en-US" sz="3300" dirty="0"/>
              <a:t>理论完善和普及应用阶段（</a:t>
            </a:r>
            <a:r>
              <a:rPr lang="en-US" sz="3300" dirty="0"/>
              <a:t>1999-</a:t>
            </a:r>
            <a:r>
              <a:rPr lang="zh-CN" altLang="en-US" sz="3300" dirty="0"/>
              <a:t>至今）</a:t>
            </a:r>
            <a:endParaRPr lang="en-US" altLang="zh-CN" sz="3300" dirty="0"/>
          </a:p>
          <a:p>
            <a:pPr lvl="1"/>
            <a:r>
              <a:rPr lang="en-US" dirty="0"/>
              <a:t>1999</a:t>
            </a:r>
            <a:r>
              <a:rPr lang="zh-CN" altLang="en-US" dirty="0"/>
              <a:t>年，第一届</a:t>
            </a:r>
            <a:r>
              <a:rPr lang="en-US" dirty="0"/>
              <a:t>IFIP</a:t>
            </a:r>
            <a:r>
              <a:rPr lang="zh-CN" altLang="en-US" dirty="0"/>
              <a:t>软件体系结构会议召开；</a:t>
            </a:r>
            <a:r>
              <a:rPr lang="en-US" dirty="0"/>
              <a:t>Open Group </a:t>
            </a:r>
            <a:r>
              <a:rPr lang="zh-CN" altLang="en-US" dirty="0"/>
              <a:t>提出了体系结构描述</a:t>
            </a:r>
            <a:r>
              <a:rPr lang="en-US" dirty="0"/>
              <a:t>Markup</a:t>
            </a:r>
            <a:r>
              <a:rPr lang="zh-CN" altLang="en-US" dirty="0"/>
              <a:t>语言，一种基于</a:t>
            </a:r>
            <a:r>
              <a:rPr lang="en-US" dirty="0"/>
              <a:t>XML</a:t>
            </a:r>
            <a:r>
              <a:rPr lang="zh-CN" altLang="en-US" dirty="0"/>
              <a:t>的体系结构描述语言，支持广泛的体系结构模型共享；软件产品线成为了软件体系结构的一个重要分支，吸引了大量的大型企业的关注。</a:t>
            </a:r>
            <a:endParaRPr lang="en-US" altLang="zh-CN" dirty="0"/>
          </a:p>
          <a:p>
            <a:pPr lvl="1"/>
            <a:r>
              <a:rPr lang="en-US" dirty="0"/>
              <a:t>2000</a:t>
            </a:r>
            <a:r>
              <a:rPr lang="zh-CN" altLang="en-US" dirty="0"/>
              <a:t>年，</a:t>
            </a:r>
            <a:r>
              <a:rPr lang="en-US" dirty="0"/>
              <a:t>IEEE 1471-2000</a:t>
            </a:r>
            <a:r>
              <a:rPr lang="zh-CN" altLang="en-US" dirty="0"/>
              <a:t>发布，为软件体系结构的普及应用制定了标准化规范，该标准随后分别于</a:t>
            </a:r>
            <a:r>
              <a:rPr lang="en-US" dirty="0"/>
              <a:t>2007</a:t>
            </a:r>
            <a:r>
              <a:rPr lang="zh-CN" altLang="en-US" dirty="0"/>
              <a:t>年与</a:t>
            </a:r>
            <a:r>
              <a:rPr lang="en-US" dirty="0"/>
              <a:t>2011</a:t>
            </a:r>
            <a:r>
              <a:rPr lang="zh-CN" altLang="en-US" dirty="0"/>
              <a:t>年得到扩充与修改。</a:t>
            </a:r>
            <a:endParaRPr lang="en-US" altLang="zh-CN" dirty="0"/>
          </a:p>
          <a:p>
            <a:pPr lvl="1"/>
            <a:r>
              <a:rPr lang="en-US" dirty="0"/>
              <a:t>2003</a:t>
            </a:r>
            <a:r>
              <a:rPr lang="zh-CN" altLang="en-US" dirty="0"/>
              <a:t>年，</a:t>
            </a:r>
            <a:r>
              <a:rPr lang="en-US" altLang="zh-CN" dirty="0"/>
              <a:t>《</a:t>
            </a:r>
            <a:r>
              <a:rPr lang="en-US" dirty="0"/>
              <a:t>Software Architecture in Practice</a:t>
            </a:r>
            <a:r>
              <a:rPr lang="en-US" altLang="zh-CN" dirty="0"/>
              <a:t>》</a:t>
            </a:r>
            <a:r>
              <a:rPr lang="zh-CN" altLang="en-US" dirty="0"/>
              <a:t>一书出版。</a:t>
            </a:r>
            <a:endParaRPr lang="zh-CN" altLang="en-US" dirty="0"/>
          </a:p>
          <a:p>
            <a:pPr lvl="1"/>
            <a:endParaRPr lang="en-US" altLang="zh-CN" dirty="0"/>
          </a:p>
        </p:txBody>
      </p:sp>
    </p:spTree>
  </p:cSld>
  <p:clrMapOvr>
    <a:masterClrMapping/>
  </p:clrMapOvr>
  <p:transition spd="slow">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2532" name="Rectangle 2"/>
          <p:cNvSpPr>
            <a:spLocks noGrp="1" noChangeArrowheads="1"/>
          </p:cNvSpPr>
          <p:nvPr>
            <p:ph idx="1"/>
          </p:nvPr>
        </p:nvSpPr>
        <p:spPr/>
        <p:txBody>
          <a:bodyPr/>
          <a:lstStyle/>
          <a:p>
            <a:pPr marL="0" indent="0" eaLnBrk="1" hangingPunct="1">
              <a:buFont typeface="Wingdings" panose="05000000000000000000" pitchFamily="2" charset="2"/>
              <a:buNone/>
            </a:pPr>
            <a:r>
              <a:rPr lang="zh-CN" altLang="en-US" sz="2800" dirty="0">
                <a:latin typeface="+mn-ea"/>
              </a:rPr>
              <a:t>  软件体系结构是一个软件系统的高层结构，它高度抽象，超越了算法和数据结构，基本着眼点是系统结构和需求与实现之间的交互，是一个用于理解系统级目标的框架。 </a:t>
            </a:r>
            <a:endParaRPr lang="zh-CN" altLang="en-US" sz="2800" dirty="0">
              <a:latin typeface="+mn-ea"/>
            </a:endParaRPr>
          </a:p>
          <a:p>
            <a:pPr marL="0" indent="0" eaLnBrk="1" hangingPunct="1">
              <a:buFont typeface="Wingdings" panose="05000000000000000000" pitchFamily="2" charset="2"/>
              <a:buNone/>
            </a:pPr>
            <a:r>
              <a:rPr lang="zh-CN" altLang="en-US" sz="2800" dirty="0">
                <a:latin typeface="+mn-ea"/>
              </a:rPr>
              <a:t>  </a:t>
            </a:r>
            <a:r>
              <a:rPr lang="en-US" altLang="zh-CN" sz="2800" dirty="0">
                <a:latin typeface="+mn-ea"/>
              </a:rPr>
              <a:t>Mary Shaw</a:t>
            </a:r>
            <a:r>
              <a:rPr lang="zh-CN" altLang="en-US" sz="2800" dirty="0">
                <a:latin typeface="+mn-ea"/>
              </a:rPr>
              <a:t>和</a:t>
            </a:r>
            <a:r>
              <a:rPr lang="en-US" altLang="zh-CN" sz="2800" dirty="0">
                <a:latin typeface="+mn-ea"/>
              </a:rPr>
              <a:t>David </a:t>
            </a:r>
            <a:r>
              <a:rPr lang="en-US" altLang="zh-CN" sz="2800" dirty="0" err="1">
                <a:latin typeface="+mn-ea"/>
              </a:rPr>
              <a:t>Garlan</a:t>
            </a:r>
            <a:r>
              <a:rPr lang="zh-CN" altLang="en-US" sz="2800" dirty="0">
                <a:latin typeface="+mn-ea"/>
              </a:rPr>
              <a:t>认为，软件体系结构是软件设计过程中，超越计算中的</a:t>
            </a:r>
            <a:r>
              <a:rPr lang="zh-CN" altLang="en-US" sz="2800" dirty="0">
                <a:solidFill>
                  <a:srgbClr val="FF3300"/>
                </a:solidFill>
                <a:latin typeface="+mn-ea"/>
              </a:rPr>
              <a:t>算法设计和数据结构设计</a:t>
            </a:r>
            <a:r>
              <a:rPr lang="zh-CN" altLang="en-US" sz="2800" dirty="0">
                <a:latin typeface="+mn-ea"/>
              </a:rPr>
              <a:t>的一个层次。体系结构问题包括各方面的组织和全局控制结构，通信协议同步，数据存取，给设计元素分配特定功能，设计元素的组织，规模和性能，在各设计方案间进行选择等。 </a:t>
            </a:r>
            <a:endParaRPr lang="zh-CN" altLang="en-US" sz="2800" dirty="0">
              <a:latin typeface="+mn-ea"/>
            </a:endParaRPr>
          </a:p>
        </p:txBody>
      </p:sp>
      <p:sp>
        <p:nvSpPr>
          <p:cNvPr id="22531" name="日期占位符 5"/>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7299F56-DEAC-4B75-BD29-BB1629EE4AEE}" type="datetime1">
              <a:rPr lang="zh-CN" altLang="en-US" sz="1200" smtClean="0">
                <a:solidFill>
                  <a:schemeClr val="tx1"/>
                </a:solidFill>
              </a:rPr>
            </a:fld>
            <a:endParaRPr lang="zh-CN" altLang="en-US" sz="1200">
              <a:solidFill>
                <a:schemeClr val="tx1"/>
              </a:solidFill>
            </a:endParaRPr>
          </a:p>
        </p:txBody>
      </p:sp>
      <p:sp>
        <p:nvSpPr>
          <p:cNvPr id="22530" name="灯片编号占位符 4"/>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430A918D-4BCE-430A-957E-B44497CC4E14}"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4580" name="Rectangle 2"/>
          <p:cNvSpPr>
            <a:spLocks noGrp="1" noChangeArrowheads="1"/>
          </p:cNvSpPr>
          <p:nvPr>
            <p:ph idx="1"/>
          </p:nvPr>
        </p:nvSpPr>
        <p:spPr>
          <a:xfrm>
            <a:off x="395536" y="1196752"/>
            <a:ext cx="7886700" cy="5472608"/>
          </a:xfrm>
        </p:spPr>
        <p:txBody>
          <a:bodyPr>
            <a:normAutofit fontScale="77500" lnSpcReduction="20000"/>
          </a:bodyPr>
          <a:lstStyle/>
          <a:p>
            <a:pPr marL="0" indent="0" eaLnBrk="1" hangingPunct="1">
              <a:lnSpc>
                <a:spcPct val="120000"/>
              </a:lnSpc>
              <a:buFont typeface="Wingdings" panose="05000000000000000000" pitchFamily="2" charset="2"/>
              <a:buNone/>
            </a:pPr>
            <a:r>
              <a:rPr lang="zh-CN" altLang="en-US" sz="2400" dirty="0">
                <a:latin typeface="+mn-ea"/>
              </a:rPr>
              <a:t>    软件体系结构对软件生命周期中的各个阶段以及项目的管理有着重要的影响。</a:t>
            </a:r>
            <a:endParaRPr lang="en-US" altLang="zh-CN" sz="2400" dirty="0">
              <a:latin typeface="+mn-ea"/>
            </a:endParaRPr>
          </a:p>
          <a:p>
            <a:pPr>
              <a:lnSpc>
                <a:spcPct val="120000"/>
              </a:lnSpc>
            </a:pPr>
            <a:r>
              <a:rPr lang="zh-CN" altLang="en-US" sz="2400" dirty="0">
                <a:latin typeface="+mn-ea"/>
              </a:rPr>
              <a:t>体系结构设计是基于需求分析的一个迭代的过程，这就不可避免地会与</a:t>
            </a:r>
            <a:r>
              <a:rPr lang="zh-CN" altLang="en-US" sz="2400" dirty="0">
                <a:solidFill>
                  <a:srgbClr val="C00000"/>
                </a:solidFill>
                <a:latin typeface="+mn-ea"/>
              </a:rPr>
              <a:t>需求分析</a:t>
            </a:r>
            <a:r>
              <a:rPr lang="zh-CN" altLang="en-US" sz="2400" dirty="0">
                <a:latin typeface="+mn-ea"/>
              </a:rPr>
              <a:t>阶段进行交互。体系结构的设计又是后续阶段</a:t>
            </a:r>
            <a:r>
              <a:rPr lang="zh-CN" altLang="en-US" sz="2400" dirty="0">
                <a:solidFill>
                  <a:srgbClr val="C00000"/>
                </a:solidFill>
                <a:latin typeface="+mn-ea"/>
              </a:rPr>
              <a:t>详细设计</a:t>
            </a:r>
            <a:r>
              <a:rPr lang="zh-CN" altLang="en-US" sz="2400" dirty="0">
                <a:latin typeface="+mn-ea"/>
              </a:rPr>
              <a:t>的基础。</a:t>
            </a:r>
            <a:endParaRPr lang="en-US" altLang="zh-CN" sz="2400" dirty="0">
              <a:latin typeface="+mn-ea"/>
            </a:endParaRPr>
          </a:p>
          <a:p>
            <a:pPr>
              <a:lnSpc>
                <a:spcPct val="120000"/>
              </a:lnSpc>
            </a:pPr>
            <a:r>
              <a:rPr lang="zh-CN" altLang="en-US" sz="2400" dirty="0">
                <a:latin typeface="+mn-ea"/>
              </a:rPr>
              <a:t>在</a:t>
            </a:r>
            <a:r>
              <a:rPr lang="zh-CN" altLang="en-US" sz="2400" dirty="0">
                <a:solidFill>
                  <a:srgbClr val="C00000"/>
                </a:solidFill>
                <a:latin typeface="+mn-ea"/>
              </a:rPr>
              <a:t>开发阶段</a:t>
            </a:r>
            <a:r>
              <a:rPr lang="zh-CN" altLang="en-US" sz="2400" dirty="0">
                <a:latin typeface="+mn-ea"/>
              </a:rPr>
              <a:t>，开发人员正确地理解系统的体系结构是开发工作顺利进行的前提。</a:t>
            </a:r>
            <a:endParaRPr lang="en-US" altLang="zh-CN" sz="2400" dirty="0">
              <a:latin typeface="+mn-ea"/>
            </a:endParaRPr>
          </a:p>
          <a:p>
            <a:pPr>
              <a:lnSpc>
                <a:spcPct val="120000"/>
              </a:lnSpc>
            </a:pPr>
            <a:r>
              <a:rPr lang="zh-CN" altLang="en-US" sz="2400" dirty="0">
                <a:latin typeface="+mn-ea"/>
              </a:rPr>
              <a:t>在</a:t>
            </a:r>
            <a:r>
              <a:rPr lang="zh-CN" altLang="en-US" sz="2400" dirty="0">
                <a:solidFill>
                  <a:srgbClr val="C00000"/>
                </a:solidFill>
                <a:latin typeface="+mn-ea"/>
              </a:rPr>
              <a:t>测试阶段</a:t>
            </a:r>
            <a:r>
              <a:rPr lang="zh-CN" altLang="en-US" sz="2400" dirty="0">
                <a:latin typeface="+mn-ea"/>
              </a:rPr>
              <a:t>，体系结构对测试起指导作用。</a:t>
            </a:r>
            <a:endParaRPr lang="en-US" altLang="zh-CN" sz="2400" dirty="0">
              <a:latin typeface="+mn-ea"/>
            </a:endParaRPr>
          </a:p>
          <a:p>
            <a:pPr>
              <a:lnSpc>
                <a:spcPct val="120000"/>
              </a:lnSpc>
            </a:pPr>
            <a:r>
              <a:rPr lang="zh-CN" altLang="en-US" sz="2400" dirty="0">
                <a:latin typeface="+mn-ea"/>
              </a:rPr>
              <a:t>在</a:t>
            </a:r>
            <a:r>
              <a:rPr lang="zh-CN" altLang="en-US" sz="2400" dirty="0">
                <a:solidFill>
                  <a:srgbClr val="C00000"/>
                </a:solidFill>
                <a:latin typeface="+mn-ea"/>
              </a:rPr>
              <a:t>维护阶段</a:t>
            </a:r>
            <a:r>
              <a:rPr lang="zh-CN" altLang="en-US" sz="2400" dirty="0">
                <a:latin typeface="+mn-ea"/>
              </a:rPr>
              <a:t>，维护中的大量时间都花费在对现存代码的理解上，如果原始的设计结构能够得到清楚和明确的表达，特别是高层次的表达，就可以大大减少花在这方面的时间，而如果不知道系统的体系结构则使维护工作很难进行。对于一些已经存在但是不知其体系结构的系统，甚至有必要进行</a:t>
            </a:r>
            <a:r>
              <a:rPr lang="zh-CN" altLang="en-US" sz="2400" dirty="0">
                <a:solidFill>
                  <a:srgbClr val="C00000"/>
                </a:solidFill>
                <a:latin typeface="+mn-ea"/>
              </a:rPr>
              <a:t>体系结构重构</a:t>
            </a:r>
            <a:r>
              <a:rPr lang="zh-CN" altLang="en-US" sz="2400" dirty="0">
                <a:latin typeface="+mn-ea"/>
              </a:rPr>
              <a:t>。</a:t>
            </a:r>
            <a:endParaRPr lang="en-US" altLang="zh-CN" sz="2400" dirty="0">
              <a:latin typeface="+mn-ea"/>
            </a:endParaRPr>
          </a:p>
          <a:p>
            <a:pPr>
              <a:lnSpc>
                <a:spcPct val="120000"/>
              </a:lnSpc>
            </a:pPr>
            <a:r>
              <a:rPr lang="zh-CN" altLang="en-US" sz="2400" dirty="0">
                <a:latin typeface="+mn-ea"/>
              </a:rPr>
              <a:t>另外，体系结构对于项目的</a:t>
            </a:r>
            <a:r>
              <a:rPr lang="zh-CN" altLang="en-US" sz="2400" dirty="0">
                <a:solidFill>
                  <a:srgbClr val="C00000"/>
                </a:solidFill>
                <a:latin typeface="+mn-ea"/>
              </a:rPr>
              <a:t>组织管理</a:t>
            </a:r>
            <a:r>
              <a:rPr lang="zh-CN" altLang="en-US" sz="2400" dirty="0">
                <a:latin typeface="+mn-ea"/>
              </a:rPr>
              <a:t>也具有重要的意义，合理的体系结构设计还有利于开发任务在开发人员之间的分配，有利于开发人员之间关系的协调。 </a:t>
            </a:r>
            <a:endParaRPr lang="zh-CN" altLang="en-US" sz="2400" dirty="0">
              <a:latin typeface="+mn-ea"/>
            </a:endParaRPr>
          </a:p>
        </p:txBody>
      </p:sp>
      <p:sp>
        <p:nvSpPr>
          <p:cNvPr id="24579" name="日期占位符 5"/>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9CFA77DE-F6F2-44CE-9879-2BC31E3F193F}" type="datetime1">
              <a:rPr lang="zh-CN" altLang="en-US" sz="1200" smtClean="0">
                <a:solidFill>
                  <a:schemeClr val="tx1"/>
                </a:solidFill>
              </a:rPr>
            </a:fld>
            <a:endParaRPr lang="zh-CN" altLang="en-US" sz="1200">
              <a:solidFill>
                <a:schemeClr val="tx1"/>
              </a:solidFill>
            </a:endParaRPr>
          </a:p>
        </p:txBody>
      </p:sp>
      <p:sp>
        <p:nvSpPr>
          <p:cNvPr id="24578" name="灯片编号占位符 4"/>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569D51B-EF20-44BE-8EA8-15144B7F5012}"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6628" name="Rectangle 2"/>
          <p:cNvSpPr>
            <a:spLocks noGrp="1" noChangeArrowheads="1"/>
          </p:cNvSpPr>
          <p:nvPr>
            <p:ph idx="1"/>
          </p:nvPr>
        </p:nvSpPr>
        <p:spPr>
          <a:xfrm>
            <a:off x="596781" y="1412776"/>
            <a:ext cx="7886700" cy="4351338"/>
          </a:xfrm>
        </p:spPr>
        <p:txBody>
          <a:bodyPr/>
          <a:lstStyle/>
          <a:p>
            <a:pPr marL="0" indent="533400" eaLnBrk="1" hangingPunct="1">
              <a:buFont typeface="Wingdings" panose="05000000000000000000" pitchFamily="2" charset="2"/>
              <a:buNone/>
            </a:pPr>
            <a:r>
              <a:rPr lang="zh-CN" altLang="en-US" sz="2800" dirty="0"/>
              <a:t>综上所述，软件体系结构是整个软件设计成功的基础和关键所在：</a:t>
            </a:r>
            <a:endParaRPr lang="zh-CN" altLang="en-US" sz="2800" dirty="0"/>
          </a:p>
        </p:txBody>
      </p:sp>
      <p:sp>
        <p:nvSpPr>
          <p:cNvPr id="26627" name="日期占位符 5"/>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05E64F3-B059-400F-A8D2-D70B0E2580CF}" type="datetime1">
              <a:rPr lang="zh-CN" altLang="en-US" sz="1200" smtClean="0">
                <a:solidFill>
                  <a:schemeClr val="tx1"/>
                </a:solidFill>
              </a:rPr>
            </a:fld>
            <a:endParaRPr lang="zh-CN" altLang="en-US" sz="1200">
              <a:solidFill>
                <a:schemeClr val="tx1"/>
              </a:solidFill>
            </a:endParaRPr>
          </a:p>
        </p:txBody>
      </p:sp>
      <p:sp>
        <p:nvSpPr>
          <p:cNvPr id="26626" name="灯片编号占位符 4"/>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4EE9BD43-2695-44AA-A071-50ECE129D95C}"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26629" name="Text Box 3"/>
          <p:cNvSpPr txBox="1">
            <a:spLocks noChangeArrowheads="1"/>
          </p:cNvSpPr>
          <p:nvPr/>
        </p:nvSpPr>
        <p:spPr bwMode="auto">
          <a:xfrm>
            <a:off x="327700" y="2204864"/>
            <a:ext cx="8424862" cy="367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3400">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0"/>
              </a:spcBef>
              <a:buClrTx/>
              <a:buSzTx/>
              <a:buFont typeface="Wingdings" panose="05000000000000000000" pitchFamily="2" charset="2"/>
              <a:buChar char="l"/>
            </a:pPr>
            <a:r>
              <a:rPr lang="zh-CN" altLang="en-US" sz="2400" dirty="0"/>
              <a:t>软件体系结构是软件开发中各种角色之间进行交流的手段</a:t>
            </a:r>
            <a:endParaRPr lang="zh-CN" altLang="en-US" sz="2400" dirty="0"/>
          </a:p>
          <a:p>
            <a:pPr eaLnBrk="1" hangingPunct="1">
              <a:lnSpc>
                <a:spcPct val="140000"/>
              </a:lnSpc>
              <a:spcBef>
                <a:spcPct val="0"/>
              </a:spcBef>
              <a:buClrTx/>
              <a:buSzTx/>
              <a:buFont typeface="Wingdings" panose="05000000000000000000" pitchFamily="2" charset="2"/>
              <a:buChar char="l"/>
            </a:pPr>
            <a:r>
              <a:rPr lang="zh-CN" altLang="en-US" sz="2400" dirty="0"/>
              <a:t>软件体系结构是早期设计决策的体现</a:t>
            </a:r>
            <a:endParaRPr lang="zh-CN" altLang="en-US" sz="2400" dirty="0"/>
          </a:p>
          <a:p>
            <a:pPr eaLnBrk="1" hangingPunct="1">
              <a:lnSpc>
                <a:spcPct val="140000"/>
              </a:lnSpc>
              <a:spcBef>
                <a:spcPct val="0"/>
              </a:spcBef>
              <a:buClrTx/>
              <a:buSzTx/>
              <a:buFont typeface="Wingdings" panose="05000000000000000000" pitchFamily="2" charset="2"/>
              <a:buChar char="l"/>
            </a:pPr>
            <a:r>
              <a:rPr lang="zh-CN" altLang="en-US" sz="2400" dirty="0"/>
              <a:t>软件体系结构制约着软件的质量属性</a:t>
            </a:r>
            <a:endParaRPr lang="zh-CN" altLang="en-US" sz="2400" dirty="0"/>
          </a:p>
          <a:p>
            <a:pPr eaLnBrk="1" hangingPunct="1">
              <a:lnSpc>
                <a:spcPct val="140000"/>
              </a:lnSpc>
              <a:spcBef>
                <a:spcPct val="0"/>
              </a:spcBef>
              <a:buClrTx/>
              <a:buSzTx/>
              <a:buFont typeface="Wingdings" panose="05000000000000000000" pitchFamily="2" charset="2"/>
              <a:buChar char="l"/>
            </a:pPr>
            <a:r>
              <a:rPr lang="zh-CN" altLang="en-US" sz="2400" dirty="0"/>
              <a:t>软件体系结构是可重用的模型</a:t>
            </a:r>
            <a:endParaRPr lang="zh-CN" altLang="en-US" sz="2400" dirty="0"/>
          </a:p>
          <a:p>
            <a:pPr eaLnBrk="1" hangingPunct="1">
              <a:lnSpc>
                <a:spcPct val="140000"/>
              </a:lnSpc>
              <a:spcBef>
                <a:spcPct val="0"/>
              </a:spcBef>
              <a:buClrTx/>
              <a:buSzTx/>
              <a:buFont typeface="Wingdings" panose="05000000000000000000" pitchFamily="2" charset="2"/>
              <a:buChar char="l"/>
            </a:pPr>
            <a:r>
              <a:rPr lang="zh-CN" altLang="en-US" sz="2400" dirty="0"/>
              <a:t>软件体系结构影响着开发和维护组织的组织结构</a:t>
            </a:r>
            <a:endParaRPr lang="zh-CN" altLang="en-US" sz="2400" dirty="0"/>
          </a:p>
          <a:p>
            <a:pPr eaLnBrk="1" hangingPunct="1">
              <a:lnSpc>
                <a:spcPct val="140000"/>
              </a:lnSpc>
              <a:spcBef>
                <a:spcPct val="0"/>
              </a:spcBef>
              <a:buClrTx/>
              <a:buSzTx/>
              <a:buFont typeface="Wingdings" panose="05000000000000000000" pitchFamily="2" charset="2"/>
              <a:buChar char="l"/>
            </a:pPr>
            <a:r>
              <a:rPr lang="zh-CN" altLang="en-US" sz="2400" dirty="0"/>
              <a:t>软件体系结构为软件系统的整个开发过程都提供了有力的支持</a:t>
            </a:r>
            <a:endParaRPr lang="zh-CN" altLang="en-US" sz="2400" dirty="0"/>
          </a:p>
        </p:txBody>
      </p:sp>
    </p:spTree>
  </p:cSld>
  <p:clrMapOvr>
    <a:masterClrMapping/>
  </p:clrMapOvr>
  <p:transition>
    <p:wipe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title"/>
          </p:nvPr>
        </p:nvSpPr>
        <p:spPr/>
        <p:txBody>
          <a:bodyPr/>
          <a:lstStyle/>
          <a:p>
            <a:pPr eaLnBrk="1" hangingPunct="1"/>
            <a:r>
              <a:rPr lang="en-US" altLang="zh-CN" sz="4000"/>
              <a:t>1</a:t>
            </a:r>
            <a:r>
              <a:rPr lang="zh-CN" altLang="en-US" sz="4000"/>
              <a:t>、软件体系结构研究的主要内容</a:t>
            </a:r>
            <a:endParaRPr lang="zh-CN" altLang="en-US" sz="4000"/>
          </a:p>
        </p:txBody>
      </p:sp>
      <p:sp>
        <p:nvSpPr>
          <p:cNvPr id="28677" name="Rectangle 3"/>
          <p:cNvSpPr>
            <a:spLocks noGrp="1" noChangeArrowheads="1"/>
          </p:cNvSpPr>
          <p:nvPr>
            <p:ph idx="1"/>
          </p:nvPr>
        </p:nvSpPr>
        <p:spPr/>
        <p:txBody>
          <a:bodyPr/>
          <a:lstStyle/>
          <a:p>
            <a:pPr eaLnBrk="1" hangingPunct="1">
              <a:lnSpc>
                <a:spcPct val="90000"/>
              </a:lnSpc>
            </a:pPr>
            <a:r>
              <a:rPr lang="zh-CN" altLang="en-US" sz="2800" dirty="0">
                <a:latin typeface="+mj-ea"/>
                <a:ea typeface="+mj-ea"/>
              </a:rPr>
              <a:t>软件体系结构描述语言 </a:t>
            </a:r>
            <a:endParaRPr lang="zh-CN" altLang="en-US" sz="2800" dirty="0">
              <a:latin typeface="+mj-ea"/>
              <a:ea typeface="+mj-ea"/>
            </a:endParaRPr>
          </a:p>
          <a:p>
            <a:pPr eaLnBrk="1" hangingPunct="1">
              <a:lnSpc>
                <a:spcPct val="90000"/>
              </a:lnSpc>
            </a:pPr>
            <a:r>
              <a:rPr lang="zh-CN" altLang="en-US" sz="2800" dirty="0">
                <a:latin typeface="+mj-ea"/>
                <a:ea typeface="+mj-ea"/>
              </a:rPr>
              <a:t>体系结构描述构造与表示 </a:t>
            </a:r>
            <a:endParaRPr lang="zh-CN" altLang="en-US" sz="2800" dirty="0">
              <a:latin typeface="+mj-ea"/>
              <a:ea typeface="+mj-ea"/>
            </a:endParaRPr>
          </a:p>
          <a:p>
            <a:pPr eaLnBrk="1" hangingPunct="1">
              <a:lnSpc>
                <a:spcPct val="90000"/>
              </a:lnSpc>
            </a:pPr>
            <a:r>
              <a:rPr lang="zh-CN" altLang="en-US" sz="2800" dirty="0">
                <a:latin typeface="+mj-ea"/>
                <a:ea typeface="+mj-ea"/>
              </a:rPr>
              <a:t>体系结构的设计、分析与验证 </a:t>
            </a:r>
            <a:endParaRPr lang="zh-CN" altLang="en-US" sz="2800" dirty="0">
              <a:latin typeface="+mj-ea"/>
              <a:ea typeface="+mj-ea"/>
            </a:endParaRPr>
          </a:p>
          <a:p>
            <a:pPr eaLnBrk="1" hangingPunct="1">
              <a:lnSpc>
                <a:spcPct val="90000"/>
              </a:lnSpc>
            </a:pPr>
            <a:r>
              <a:rPr lang="zh-CN" altLang="en-US" sz="2800" dirty="0">
                <a:latin typeface="+mj-ea"/>
                <a:ea typeface="+mj-ea"/>
              </a:rPr>
              <a:t>体系结构发现、演化与重用 </a:t>
            </a:r>
            <a:endParaRPr lang="zh-CN" altLang="en-US" sz="2800" dirty="0">
              <a:latin typeface="+mj-ea"/>
              <a:ea typeface="+mj-ea"/>
            </a:endParaRPr>
          </a:p>
          <a:p>
            <a:pPr eaLnBrk="1" hangingPunct="1">
              <a:lnSpc>
                <a:spcPct val="90000"/>
              </a:lnSpc>
            </a:pPr>
            <a:r>
              <a:rPr lang="zh-CN" altLang="en-US" sz="2800" dirty="0">
                <a:latin typeface="+mj-ea"/>
                <a:ea typeface="+mj-ea"/>
              </a:rPr>
              <a:t>基于体系结构的软件开发方法 </a:t>
            </a:r>
            <a:endParaRPr lang="zh-CN" altLang="en-US" sz="2800" dirty="0">
              <a:latin typeface="+mj-ea"/>
              <a:ea typeface="+mj-ea"/>
            </a:endParaRPr>
          </a:p>
          <a:p>
            <a:pPr eaLnBrk="1" hangingPunct="1">
              <a:lnSpc>
                <a:spcPct val="90000"/>
              </a:lnSpc>
            </a:pPr>
            <a:r>
              <a:rPr lang="zh-CN" altLang="en-US" sz="2800" dirty="0">
                <a:latin typeface="+mj-ea"/>
                <a:ea typeface="+mj-ea"/>
              </a:rPr>
              <a:t>特定领域的软件体系结构 </a:t>
            </a:r>
            <a:endParaRPr lang="zh-CN" altLang="en-US" sz="2800" dirty="0">
              <a:latin typeface="+mj-ea"/>
              <a:ea typeface="+mj-ea"/>
            </a:endParaRPr>
          </a:p>
          <a:p>
            <a:pPr eaLnBrk="1" hangingPunct="1">
              <a:lnSpc>
                <a:spcPct val="90000"/>
              </a:lnSpc>
            </a:pPr>
            <a:r>
              <a:rPr lang="zh-CN" altLang="en-US" sz="2800" dirty="0">
                <a:latin typeface="+mj-ea"/>
                <a:ea typeface="+mj-ea"/>
              </a:rPr>
              <a:t>软件体系结构支持工具 </a:t>
            </a:r>
            <a:endParaRPr lang="zh-CN" altLang="en-US" sz="2800" dirty="0">
              <a:latin typeface="+mj-ea"/>
              <a:ea typeface="+mj-ea"/>
            </a:endParaRPr>
          </a:p>
          <a:p>
            <a:pPr eaLnBrk="1" hangingPunct="1">
              <a:lnSpc>
                <a:spcPct val="90000"/>
              </a:lnSpc>
            </a:pPr>
            <a:r>
              <a:rPr lang="zh-CN" altLang="en-US" sz="2800" dirty="0">
                <a:latin typeface="+mj-ea"/>
                <a:ea typeface="+mj-ea"/>
              </a:rPr>
              <a:t>软件产品线体系结构 </a:t>
            </a:r>
            <a:endParaRPr lang="zh-CN" altLang="en-US" sz="2800" dirty="0">
              <a:latin typeface="+mj-ea"/>
              <a:ea typeface="+mj-ea"/>
            </a:endParaRPr>
          </a:p>
        </p:txBody>
      </p:sp>
      <p:sp>
        <p:nvSpPr>
          <p:cNvPr id="28675"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27481122-531E-4428-8F10-4B08FF466B41}" type="datetime1">
              <a:rPr lang="zh-CN" altLang="en-US" sz="1200" smtClean="0">
                <a:solidFill>
                  <a:schemeClr val="tx1"/>
                </a:solidFill>
              </a:rPr>
            </a:fld>
            <a:endParaRPr lang="zh-CN" altLang="en-US" sz="1200">
              <a:solidFill>
                <a:schemeClr val="tx1"/>
              </a:solidFill>
            </a:endParaRPr>
          </a:p>
        </p:txBody>
      </p:sp>
      <p:sp>
        <p:nvSpPr>
          <p:cNvPr id="28674"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B4256FE3-2B15-4803-A2BC-3B3A26107E7C}"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p:txBody>
          <a:bodyPr/>
          <a:lstStyle/>
          <a:p>
            <a:pPr eaLnBrk="1" hangingPunct="1"/>
            <a:r>
              <a:rPr lang="zh-CN" altLang="en-US" sz="4000" dirty="0"/>
              <a:t>（</a:t>
            </a:r>
            <a:r>
              <a:rPr lang="en-US" altLang="zh-CN" sz="4000" dirty="0"/>
              <a:t>1</a:t>
            </a:r>
            <a:r>
              <a:rPr lang="zh-CN" altLang="en-US" sz="4000" dirty="0"/>
              <a:t>）软件体系结构描述语言</a:t>
            </a:r>
            <a:endParaRPr lang="zh-CN" altLang="en-US" sz="4000" dirty="0"/>
          </a:p>
        </p:txBody>
      </p:sp>
      <p:sp>
        <p:nvSpPr>
          <p:cNvPr id="2" name="内容占位符 1"/>
          <p:cNvSpPr>
            <a:spLocks noGrp="1"/>
          </p:cNvSpPr>
          <p:nvPr>
            <p:ph idx="1"/>
          </p:nvPr>
        </p:nvSpPr>
        <p:spPr/>
        <p:txBody>
          <a:bodyPr/>
          <a:lstStyle/>
          <a:p>
            <a:endParaRPr lang="zh-CN" altLang="en-US"/>
          </a:p>
        </p:txBody>
      </p:sp>
      <p:sp>
        <p:nvSpPr>
          <p:cNvPr id="30723" name="日期占位符 5"/>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08A955F7-886C-4FC3-8B6C-7D6F94C82FA3}" type="datetime1">
              <a:rPr lang="zh-CN" altLang="en-US" sz="1200" smtClean="0">
                <a:solidFill>
                  <a:schemeClr val="tx1"/>
                </a:solidFill>
              </a:rPr>
            </a:fld>
            <a:endParaRPr lang="zh-CN" altLang="en-US" sz="1200">
              <a:solidFill>
                <a:schemeClr val="tx1"/>
              </a:solidFill>
            </a:endParaRPr>
          </a:p>
        </p:txBody>
      </p:sp>
      <p:sp>
        <p:nvSpPr>
          <p:cNvPr id="30722" name="灯片编号占位符 4"/>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764B3371-0683-440A-80EB-E2130997C8AD}"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30725" name="Text Box 3"/>
          <p:cNvSpPr txBox="1">
            <a:spLocks noChangeArrowheads="1"/>
          </p:cNvSpPr>
          <p:nvPr/>
        </p:nvSpPr>
        <p:spPr bwMode="auto">
          <a:xfrm>
            <a:off x="395288" y="1700213"/>
            <a:ext cx="81375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b="0">
              <a:solidFill>
                <a:schemeClr val="tx1"/>
              </a:solidFill>
            </a:endParaRPr>
          </a:p>
        </p:txBody>
      </p:sp>
      <p:sp>
        <p:nvSpPr>
          <p:cNvPr id="30726" name="Text Box 4"/>
          <p:cNvSpPr txBox="1">
            <a:spLocks noChangeArrowheads="1"/>
          </p:cNvSpPr>
          <p:nvPr/>
        </p:nvSpPr>
        <p:spPr bwMode="auto">
          <a:xfrm>
            <a:off x="234156" y="2066925"/>
            <a:ext cx="8675688" cy="403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 typeface="Arial" panose="020B0604020202020204" pitchFamily="34" charset="0"/>
              <a:buNone/>
            </a:pPr>
            <a:r>
              <a:rPr lang="zh-CN" altLang="en-US" sz="2400" b="0" dirty="0">
                <a:solidFill>
                  <a:schemeClr val="tx1"/>
                </a:solidFill>
              </a:rPr>
              <a:t>软件体系结构描述语言（</a:t>
            </a:r>
            <a:r>
              <a:rPr lang="en-US" altLang="zh-CN" sz="2400" b="0" dirty="0">
                <a:solidFill>
                  <a:schemeClr val="tx1"/>
                </a:solidFill>
              </a:rPr>
              <a:t>Architecture Description Language</a:t>
            </a:r>
            <a:r>
              <a:rPr lang="zh-CN" altLang="en-US" sz="2400" b="0" dirty="0">
                <a:solidFill>
                  <a:schemeClr val="tx1"/>
                </a:solidFill>
              </a:rPr>
              <a:t>，简称为</a:t>
            </a:r>
            <a:r>
              <a:rPr lang="en-US" altLang="zh-CN" sz="2400" b="0" dirty="0">
                <a:solidFill>
                  <a:schemeClr val="tx1"/>
                </a:solidFill>
              </a:rPr>
              <a:t>ADL</a:t>
            </a:r>
            <a:r>
              <a:rPr lang="zh-CN" altLang="en-US" sz="2400" b="0" dirty="0">
                <a:solidFill>
                  <a:schemeClr val="tx1"/>
                </a:solidFill>
              </a:rPr>
              <a:t>）是一种形式化语言，它在</a:t>
            </a:r>
            <a:r>
              <a:rPr lang="zh-CN" altLang="en-US" sz="2400" b="0" dirty="0">
                <a:solidFill>
                  <a:srgbClr val="FF3300"/>
                </a:solidFill>
              </a:rPr>
              <a:t>底层语义模型</a:t>
            </a:r>
            <a:r>
              <a:rPr lang="zh-CN" altLang="en-US" sz="2400" b="0" dirty="0">
                <a:solidFill>
                  <a:schemeClr val="tx1"/>
                </a:solidFill>
              </a:rPr>
              <a:t>的支持下，为软件系统的概念体系结构建模提供了具体的语法和概念框架。基于底层语义的工具为软件体系结构的表示、分析、演化、细化、设计过程等提供支持，包括</a:t>
            </a:r>
            <a:r>
              <a:rPr lang="zh-CN" altLang="en-US" sz="2400" b="0" dirty="0">
                <a:solidFill>
                  <a:srgbClr val="FF3300"/>
                </a:solidFill>
              </a:rPr>
              <a:t>构件、连接件和约束</a:t>
            </a:r>
            <a:r>
              <a:rPr lang="zh-CN" altLang="en-US" sz="2400" b="0" dirty="0">
                <a:solidFill>
                  <a:schemeClr val="tx1"/>
                </a:solidFill>
              </a:rPr>
              <a:t>三个基本元素。主要的体系结构描述语言有</a:t>
            </a:r>
            <a:r>
              <a:rPr lang="en-US" altLang="zh-CN" sz="2400" b="0" dirty="0">
                <a:solidFill>
                  <a:schemeClr val="tx1"/>
                </a:solidFill>
              </a:rPr>
              <a:t>C2</a:t>
            </a:r>
            <a:r>
              <a:rPr lang="zh-CN" altLang="en-US" sz="2400" b="0" dirty="0">
                <a:solidFill>
                  <a:schemeClr val="tx1"/>
                </a:solidFill>
              </a:rPr>
              <a:t>，</a:t>
            </a:r>
            <a:r>
              <a:rPr lang="en-US" altLang="zh-CN" sz="2400" b="0" dirty="0" err="1">
                <a:solidFill>
                  <a:schemeClr val="tx1"/>
                </a:solidFill>
              </a:rPr>
              <a:t>UniCon</a:t>
            </a:r>
            <a:r>
              <a:rPr lang="zh-CN" altLang="en-US" sz="2400" b="0" dirty="0">
                <a:solidFill>
                  <a:schemeClr val="tx1"/>
                </a:solidFill>
              </a:rPr>
              <a:t>，</a:t>
            </a:r>
            <a:r>
              <a:rPr lang="en-US" altLang="zh-CN" sz="2400" b="0" dirty="0" err="1">
                <a:solidFill>
                  <a:schemeClr val="tx1"/>
                </a:solidFill>
              </a:rPr>
              <a:t>MetaH</a:t>
            </a:r>
            <a:r>
              <a:rPr lang="zh-CN" altLang="en-US" sz="2400" b="0" dirty="0">
                <a:solidFill>
                  <a:schemeClr val="tx1"/>
                </a:solidFill>
              </a:rPr>
              <a:t>，</a:t>
            </a:r>
            <a:r>
              <a:rPr lang="en-US" altLang="zh-CN" sz="2400" b="0" dirty="0">
                <a:solidFill>
                  <a:schemeClr val="tx1"/>
                </a:solidFill>
              </a:rPr>
              <a:t>Aesop</a:t>
            </a:r>
            <a:r>
              <a:rPr lang="zh-CN" altLang="en-US" sz="2400" b="0" dirty="0">
                <a:solidFill>
                  <a:schemeClr val="tx1"/>
                </a:solidFill>
              </a:rPr>
              <a:t>，</a:t>
            </a:r>
            <a:r>
              <a:rPr lang="en-US" altLang="zh-CN" sz="2400" b="0" dirty="0">
                <a:solidFill>
                  <a:schemeClr val="tx1"/>
                </a:solidFill>
              </a:rPr>
              <a:t>SADL</a:t>
            </a:r>
            <a:r>
              <a:rPr lang="zh-CN" altLang="en-US" sz="2400" b="0" dirty="0">
                <a:solidFill>
                  <a:schemeClr val="tx1"/>
                </a:solidFill>
              </a:rPr>
              <a:t>，</a:t>
            </a:r>
            <a:r>
              <a:rPr lang="en-US" altLang="zh-CN" sz="2400" b="0" dirty="0" err="1">
                <a:solidFill>
                  <a:schemeClr val="tx1"/>
                </a:solidFill>
              </a:rPr>
              <a:t>Rapide</a:t>
            </a:r>
            <a:r>
              <a:rPr lang="zh-CN" altLang="en-US" sz="2400" b="0" dirty="0">
                <a:solidFill>
                  <a:schemeClr val="tx1"/>
                </a:solidFill>
              </a:rPr>
              <a:t>，</a:t>
            </a:r>
            <a:r>
              <a:rPr lang="en-US" altLang="zh-CN" sz="2400" b="0" dirty="0">
                <a:solidFill>
                  <a:schemeClr val="tx1"/>
                </a:solidFill>
              </a:rPr>
              <a:t>Wright</a:t>
            </a:r>
            <a:r>
              <a:rPr lang="zh-CN" altLang="en-US" sz="2400" b="0" dirty="0">
                <a:solidFill>
                  <a:schemeClr val="tx1"/>
                </a:solidFill>
              </a:rPr>
              <a:t>等。</a:t>
            </a:r>
            <a:r>
              <a:rPr lang="en-US" altLang="zh-CN" sz="2400" b="0" dirty="0">
                <a:solidFill>
                  <a:schemeClr val="tx1"/>
                </a:solidFill>
              </a:rPr>
              <a:t>ADL</a:t>
            </a:r>
            <a:r>
              <a:rPr lang="zh-CN" altLang="en-US" sz="2400" b="0" dirty="0">
                <a:solidFill>
                  <a:schemeClr val="tx1"/>
                </a:solidFill>
              </a:rPr>
              <a:t>的目的就是提供一种</a:t>
            </a:r>
            <a:r>
              <a:rPr lang="zh-CN" altLang="en-US" sz="2400" b="0" dirty="0">
                <a:solidFill>
                  <a:srgbClr val="FF3300"/>
                </a:solidFill>
              </a:rPr>
              <a:t>规范化的体系结构描述</a:t>
            </a:r>
            <a:r>
              <a:rPr lang="zh-CN" altLang="en-US" sz="2400" b="0" dirty="0">
                <a:solidFill>
                  <a:schemeClr val="tx1"/>
                </a:solidFill>
              </a:rPr>
              <a:t>，以便与人交流，并能够用提供的工具对许多实例进行分析。 </a:t>
            </a:r>
            <a:endParaRPr lang="zh-CN" altLang="en-US" sz="2400" b="0" dirty="0">
              <a:solidFill>
                <a:schemeClr val="tx1"/>
              </a:solidFill>
            </a:endParaRPr>
          </a:p>
        </p:txBody>
      </p:sp>
    </p:spTree>
  </p:cSld>
  <p:clrMapOvr>
    <a:masterClrMapping/>
  </p:clrMapOvr>
  <p:transition>
    <p:wipe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p:txBody>
          <a:bodyPr/>
          <a:lstStyle/>
          <a:p>
            <a:pPr eaLnBrk="1" hangingPunct="1"/>
            <a:r>
              <a:rPr lang="zh-CN" altLang="en-US" sz="4000" dirty="0"/>
              <a:t>（</a:t>
            </a:r>
            <a:r>
              <a:rPr lang="en-US" altLang="zh-CN" sz="4000" dirty="0"/>
              <a:t>2</a:t>
            </a:r>
            <a:r>
              <a:rPr lang="zh-CN" altLang="en-US" sz="4000" dirty="0"/>
              <a:t>）体系结构描述构造与表示</a:t>
            </a:r>
            <a:endParaRPr lang="zh-CN" altLang="en-US" sz="4000" dirty="0"/>
          </a:p>
        </p:txBody>
      </p:sp>
      <p:sp>
        <p:nvSpPr>
          <p:cNvPr id="2" name="内容占位符 1"/>
          <p:cNvSpPr>
            <a:spLocks noGrp="1"/>
          </p:cNvSpPr>
          <p:nvPr>
            <p:ph idx="1"/>
          </p:nvPr>
        </p:nvSpPr>
        <p:spPr/>
        <p:txBody>
          <a:bodyPr/>
          <a:lstStyle/>
          <a:p>
            <a:endParaRPr lang="zh-CN" altLang="en-US"/>
          </a:p>
        </p:txBody>
      </p:sp>
      <p:sp>
        <p:nvSpPr>
          <p:cNvPr id="31747" name="日期占位符 5"/>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C0224CD5-18B7-4F1E-8D8F-52B25EB69FED}" type="datetime1">
              <a:rPr lang="zh-CN" altLang="en-US" sz="1200" smtClean="0">
                <a:solidFill>
                  <a:schemeClr val="tx1"/>
                </a:solidFill>
              </a:rPr>
            </a:fld>
            <a:endParaRPr lang="zh-CN" altLang="en-US" sz="1200">
              <a:solidFill>
                <a:schemeClr val="tx1"/>
              </a:solidFill>
            </a:endParaRPr>
          </a:p>
        </p:txBody>
      </p:sp>
      <p:sp>
        <p:nvSpPr>
          <p:cNvPr id="31746" name="灯片编号占位符 4"/>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AB829726-0F76-4F75-BF3B-3643C43E71C7}"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31749" name="Text Box 3"/>
          <p:cNvSpPr txBox="1">
            <a:spLocks noChangeArrowheads="1"/>
          </p:cNvSpPr>
          <p:nvPr/>
        </p:nvSpPr>
        <p:spPr bwMode="auto">
          <a:xfrm>
            <a:off x="395288" y="1700213"/>
            <a:ext cx="81375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b="0">
              <a:solidFill>
                <a:schemeClr val="tx1"/>
              </a:solidFill>
            </a:endParaRPr>
          </a:p>
        </p:txBody>
      </p:sp>
      <p:sp>
        <p:nvSpPr>
          <p:cNvPr id="31750" name="Text Box 4"/>
          <p:cNvSpPr txBox="1">
            <a:spLocks noChangeArrowheads="1"/>
          </p:cNvSpPr>
          <p:nvPr/>
        </p:nvSpPr>
        <p:spPr bwMode="auto">
          <a:xfrm>
            <a:off x="250825" y="1341438"/>
            <a:ext cx="8675688" cy="49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 typeface="Arial" panose="020B0604020202020204" pitchFamily="34" charset="0"/>
              <a:buNone/>
            </a:pPr>
            <a:r>
              <a:rPr lang="zh-CN" altLang="en-US" sz="2400" b="0">
                <a:solidFill>
                  <a:schemeClr val="tx1"/>
                </a:solidFill>
              </a:rPr>
              <a:t>按照一定的描述方法，用体系结构描述语言对体系结构进行说明的结果则称为体系结构的表示，而将描述体系结构的过程称为体系结构构造。在体系结构描述方面，</a:t>
            </a:r>
            <a:r>
              <a:rPr lang="en-US" altLang="zh-CN" sz="2400" b="0">
                <a:solidFill>
                  <a:schemeClr val="tx1"/>
                </a:solidFill>
              </a:rPr>
              <a:t>Kruchten</a:t>
            </a:r>
            <a:r>
              <a:rPr lang="zh-CN" altLang="en-US" sz="2400" b="0">
                <a:solidFill>
                  <a:schemeClr val="tx1"/>
                </a:solidFill>
              </a:rPr>
              <a:t>提出的</a:t>
            </a:r>
            <a:r>
              <a:rPr lang="zh-CN" altLang="en-US" sz="2400" b="0">
                <a:solidFill>
                  <a:srgbClr val="C00000"/>
                </a:solidFill>
              </a:rPr>
              <a:t>“</a:t>
            </a:r>
            <a:r>
              <a:rPr lang="en-US" altLang="zh-CN" sz="2400" b="0">
                <a:solidFill>
                  <a:srgbClr val="C00000"/>
                </a:solidFill>
              </a:rPr>
              <a:t>4+1”</a:t>
            </a:r>
            <a:r>
              <a:rPr lang="zh-CN" altLang="en-US" sz="2400" b="0">
                <a:solidFill>
                  <a:srgbClr val="C00000"/>
                </a:solidFill>
              </a:rPr>
              <a:t>模型</a:t>
            </a:r>
            <a:r>
              <a:rPr lang="zh-CN" altLang="en-US" sz="2400" b="0">
                <a:solidFill>
                  <a:schemeClr val="tx1"/>
                </a:solidFill>
              </a:rPr>
              <a:t>是当今软件体系结构描述的一个经典范例，该模型由</a:t>
            </a:r>
            <a:r>
              <a:rPr lang="zh-CN" altLang="en-US" sz="2400" b="0">
                <a:solidFill>
                  <a:srgbClr val="C00000"/>
                </a:solidFill>
              </a:rPr>
              <a:t>逻辑视图、开发视图、过程视图</a:t>
            </a:r>
            <a:r>
              <a:rPr lang="zh-CN" altLang="en-US" sz="2400" b="0">
                <a:solidFill>
                  <a:schemeClr val="tx1"/>
                </a:solidFill>
              </a:rPr>
              <a:t>和</a:t>
            </a:r>
            <a:r>
              <a:rPr lang="zh-CN" altLang="en-US" sz="2400" b="0">
                <a:solidFill>
                  <a:srgbClr val="C00000"/>
                </a:solidFill>
              </a:rPr>
              <a:t>物理视图</a:t>
            </a:r>
            <a:r>
              <a:rPr lang="zh-CN" altLang="en-US" sz="2400" b="0">
                <a:solidFill>
                  <a:schemeClr val="tx1"/>
                </a:solidFill>
              </a:rPr>
              <a:t>组成，并通过</a:t>
            </a:r>
            <a:r>
              <a:rPr lang="zh-CN" altLang="en-US" sz="2400" b="0">
                <a:solidFill>
                  <a:srgbClr val="C00000"/>
                </a:solidFill>
              </a:rPr>
              <a:t>场景</a:t>
            </a:r>
            <a:r>
              <a:rPr lang="zh-CN" altLang="en-US" sz="2400" b="0">
                <a:solidFill>
                  <a:schemeClr val="tx1"/>
                </a:solidFill>
              </a:rPr>
              <a:t>将这四种视图有机地结合起来，比较细致地描述了需求和体系结构之间的关系。而</a:t>
            </a:r>
            <a:r>
              <a:rPr lang="en-US" altLang="zh-CN" sz="2400" b="0">
                <a:solidFill>
                  <a:schemeClr val="tx1"/>
                </a:solidFill>
              </a:rPr>
              <a:t>Booch</a:t>
            </a:r>
            <a:r>
              <a:rPr lang="zh-CN" altLang="en-US" sz="2400" b="0">
                <a:solidFill>
                  <a:schemeClr val="tx1"/>
                </a:solidFill>
              </a:rPr>
              <a:t>从</a:t>
            </a:r>
            <a:r>
              <a:rPr lang="en-US" altLang="zh-CN" sz="2400" b="0">
                <a:solidFill>
                  <a:schemeClr val="tx1"/>
                </a:solidFill>
              </a:rPr>
              <a:t>UML</a:t>
            </a:r>
            <a:r>
              <a:rPr lang="zh-CN" altLang="en-US" sz="2400" b="0">
                <a:solidFill>
                  <a:schemeClr val="tx1"/>
                </a:solidFill>
              </a:rPr>
              <a:t>的角度出发给出了一种由</a:t>
            </a:r>
            <a:r>
              <a:rPr lang="zh-CN" altLang="en-US" sz="2400" b="0">
                <a:solidFill>
                  <a:srgbClr val="C00000"/>
                </a:solidFill>
              </a:rPr>
              <a:t>设计视图、过程视图、实现视图和部署视图</a:t>
            </a:r>
            <a:r>
              <a:rPr lang="zh-CN" altLang="en-US" sz="2400" b="0">
                <a:solidFill>
                  <a:schemeClr val="tx1"/>
                </a:solidFill>
              </a:rPr>
              <a:t>，再加上一个</a:t>
            </a:r>
            <a:r>
              <a:rPr lang="zh-CN" altLang="en-US" sz="2400" b="0">
                <a:solidFill>
                  <a:srgbClr val="C00000"/>
                </a:solidFill>
              </a:rPr>
              <a:t>用例视图</a:t>
            </a:r>
            <a:r>
              <a:rPr lang="zh-CN" altLang="en-US" sz="2400" b="0">
                <a:solidFill>
                  <a:schemeClr val="tx1"/>
                </a:solidFill>
              </a:rPr>
              <a:t>构成的体系结构描述模型。</a:t>
            </a:r>
            <a:r>
              <a:rPr lang="en-US" altLang="zh-CN" sz="2400" b="0">
                <a:solidFill>
                  <a:schemeClr val="tx1"/>
                </a:solidFill>
              </a:rPr>
              <a:t>IEEE</a:t>
            </a:r>
            <a:r>
              <a:rPr lang="zh-CN" altLang="en-US" sz="2400" b="0">
                <a:solidFill>
                  <a:schemeClr val="tx1"/>
                </a:solidFill>
              </a:rPr>
              <a:t>于</a:t>
            </a:r>
            <a:r>
              <a:rPr lang="en-US" altLang="zh-CN" sz="2400" b="0">
                <a:solidFill>
                  <a:schemeClr val="tx1"/>
                </a:solidFill>
              </a:rPr>
              <a:t>1995</a:t>
            </a:r>
            <a:r>
              <a:rPr lang="zh-CN" altLang="en-US" sz="2400" b="0">
                <a:solidFill>
                  <a:schemeClr val="tx1"/>
                </a:solidFill>
              </a:rPr>
              <a:t>年成立了体系结构工作组，综合了体系结构描述研究的成果，并参考业界的体系结构描述的实践，起草了体系结构描述标准</a:t>
            </a:r>
            <a:r>
              <a:rPr lang="en-US" altLang="zh-CN" sz="2400" b="0">
                <a:solidFill>
                  <a:schemeClr val="tx1"/>
                </a:solidFill>
              </a:rPr>
              <a:t>IEEE P1471</a:t>
            </a:r>
            <a:r>
              <a:rPr lang="zh-CN" altLang="en-US" sz="2400" b="0">
                <a:solidFill>
                  <a:schemeClr val="tx1"/>
                </a:solidFill>
              </a:rPr>
              <a:t>。</a:t>
            </a:r>
            <a:endParaRPr lang="zh-CN" altLang="en-US" sz="2400" b="0">
              <a:solidFill>
                <a:schemeClr val="tx1"/>
              </a:solidFill>
            </a:endParaRPr>
          </a:p>
        </p:txBody>
      </p:sp>
    </p:spTree>
  </p:cSld>
  <p:clrMapOvr>
    <a:masterClrMapping/>
  </p:clrMapOvr>
  <p:transition>
    <p:wipe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a:xfrm>
            <a:off x="0" y="0"/>
            <a:ext cx="7886700" cy="1325563"/>
          </a:xfrm>
        </p:spPr>
        <p:txBody>
          <a:bodyPr/>
          <a:lstStyle/>
          <a:p>
            <a:pPr eaLnBrk="1" hangingPunct="1"/>
            <a:r>
              <a:rPr lang="zh-CN" altLang="en-US" sz="4000" dirty="0"/>
              <a:t>（</a:t>
            </a:r>
            <a:r>
              <a:rPr lang="en-US" altLang="zh-CN" sz="4000" dirty="0"/>
              <a:t>3</a:t>
            </a:r>
            <a:r>
              <a:rPr lang="zh-CN" altLang="en-US" sz="4000" dirty="0"/>
              <a:t>）体系结构的设计、分析与验证</a:t>
            </a:r>
            <a:endParaRPr lang="zh-CN" altLang="en-US" sz="4000" dirty="0"/>
          </a:p>
        </p:txBody>
      </p:sp>
      <p:sp>
        <p:nvSpPr>
          <p:cNvPr id="2" name="内容占位符 1"/>
          <p:cNvSpPr>
            <a:spLocks noGrp="1"/>
          </p:cNvSpPr>
          <p:nvPr>
            <p:ph idx="1"/>
          </p:nvPr>
        </p:nvSpPr>
        <p:spPr/>
        <p:txBody>
          <a:bodyPr/>
          <a:lstStyle/>
          <a:p>
            <a:endParaRPr lang="zh-CN" altLang="en-US"/>
          </a:p>
        </p:txBody>
      </p:sp>
      <p:sp>
        <p:nvSpPr>
          <p:cNvPr id="32771" name="日期占位符 5"/>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0BFF708E-5880-4296-949B-363D7BA97687}" type="datetime1">
              <a:rPr lang="zh-CN" altLang="en-US" sz="1200" smtClean="0">
                <a:solidFill>
                  <a:schemeClr val="tx1"/>
                </a:solidFill>
              </a:rPr>
            </a:fld>
            <a:endParaRPr lang="zh-CN" altLang="en-US" sz="1200">
              <a:solidFill>
                <a:schemeClr val="tx1"/>
              </a:solidFill>
            </a:endParaRPr>
          </a:p>
        </p:txBody>
      </p:sp>
      <p:sp>
        <p:nvSpPr>
          <p:cNvPr id="32770" name="灯片编号占位符 4"/>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CC8E4763-97CF-4D21-BB44-B9A960C62CAD}"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32773" name="Text Box 3"/>
          <p:cNvSpPr txBox="1">
            <a:spLocks noChangeArrowheads="1"/>
          </p:cNvSpPr>
          <p:nvPr/>
        </p:nvSpPr>
        <p:spPr bwMode="auto">
          <a:xfrm>
            <a:off x="395288" y="1700213"/>
            <a:ext cx="81375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b="0">
              <a:solidFill>
                <a:schemeClr val="tx1"/>
              </a:solidFill>
            </a:endParaRPr>
          </a:p>
        </p:txBody>
      </p:sp>
      <p:sp>
        <p:nvSpPr>
          <p:cNvPr id="32774" name="Text Box 4"/>
          <p:cNvSpPr txBox="1">
            <a:spLocks noChangeArrowheads="1"/>
          </p:cNvSpPr>
          <p:nvPr/>
        </p:nvSpPr>
        <p:spPr bwMode="auto">
          <a:xfrm>
            <a:off x="179512" y="1339850"/>
            <a:ext cx="8675688"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000" b="0" dirty="0">
                <a:solidFill>
                  <a:schemeClr val="tx1"/>
                </a:solidFill>
              </a:rPr>
              <a:t>生成一个</a:t>
            </a:r>
            <a:r>
              <a:rPr lang="zh-CN" altLang="en-US" sz="2000" b="0" dirty="0">
                <a:solidFill>
                  <a:srgbClr val="C00000"/>
                </a:solidFill>
              </a:rPr>
              <a:t>满足软件需求的体系结构</a:t>
            </a:r>
            <a:r>
              <a:rPr lang="zh-CN" altLang="en-US" sz="2000" b="0" dirty="0">
                <a:solidFill>
                  <a:schemeClr val="tx1"/>
                </a:solidFill>
              </a:rPr>
              <a:t>的过程即为体系结构设计。体系结构设计的本质在于：将系统分解成相应的组成成分，并将这些成分重新组装成一个系统。软件体系结构设计是软件设计中非常重要的一个环节，软件开发过程中只要需求和体系结构确定之后，这个软件基本上也就定型了。体系结构设计有</a:t>
            </a:r>
            <a:r>
              <a:rPr lang="zh-CN" altLang="en-US" sz="2000" b="0" dirty="0">
                <a:solidFill>
                  <a:srgbClr val="C00000"/>
                </a:solidFill>
              </a:rPr>
              <a:t>过程驱动方法</a:t>
            </a:r>
            <a:r>
              <a:rPr lang="zh-CN" altLang="en-US" sz="2000" b="0" dirty="0">
                <a:solidFill>
                  <a:schemeClr val="tx1"/>
                </a:solidFill>
              </a:rPr>
              <a:t>和</a:t>
            </a:r>
            <a:r>
              <a:rPr lang="zh-CN" altLang="en-US" sz="2000" b="0" dirty="0">
                <a:solidFill>
                  <a:srgbClr val="C00000"/>
                </a:solidFill>
              </a:rPr>
              <a:t>问题列表驱动方法</a:t>
            </a:r>
            <a:r>
              <a:rPr lang="zh-CN" altLang="en-US" sz="2000" b="0" dirty="0">
                <a:solidFill>
                  <a:schemeClr val="tx1"/>
                </a:solidFill>
              </a:rPr>
              <a:t>。体系结构设计研究的重点内容之一是</a:t>
            </a:r>
            <a:r>
              <a:rPr lang="zh-CN" altLang="en-US" sz="2000" b="0" dirty="0">
                <a:solidFill>
                  <a:srgbClr val="C00000"/>
                </a:solidFill>
              </a:rPr>
              <a:t>体系结构风格</a:t>
            </a:r>
            <a:r>
              <a:rPr lang="zh-CN" altLang="en-US" sz="2000" b="0" dirty="0">
                <a:solidFill>
                  <a:schemeClr val="tx1"/>
                </a:solidFill>
              </a:rPr>
              <a:t>，体系结构风格在本质上反映了一些特定的元素按照特定的方式组成一个特定的结构，该结构应有利于上下文环境中的特定问题的解决。</a:t>
            </a:r>
            <a:endParaRPr lang="zh-CN" altLang="en-US" sz="2000" b="0" dirty="0">
              <a:solidFill>
                <a:schemeClr val="tx1"/>
              </a:solidFill>
            </a:endParaRPr>
          </a:p>
          <a:p>
            <a:pPr eaLnBrk="1" hangingPunct="1">
              <a:spcBef>
                <a:spcPct val="0"/>
              </a:spcBef>
              <a:buClrTx/>
              <a:buSzTx/>
              <a:buFont typeface="Arial" panose="020B0604020202020204" pitchFamily="34" charset="0"/>
              <a:buNone/>
            </a:pPr>
            <a:r>
              <a:rPr lang="zh-CN" altLang="en-US" sz="2000" b="0" dirty="0">
                <a:solidFill>
                  <a:schemeClr val="tx1"/>
                </a:solidFill>
              </a:rPr>
              <a:t>体系结构是对系统的高层抽象，并只对感兴趣的属性进行建模。由于体系结构是在软件开发过程之初产生的，因此好的体系结构可以减少和避免软件错误的产生和维护阶段的高昂代价。体系结构是系统集成的蓝本、系统验收的依据，体系结构本身需要分析与测试，以确定这样的体系结构是否满足需求。比较重要的体系结构分析（评估）方法有</a:t>
            </a:r>
            <a:r>
              <a:rPr lang="zh-CN" altLang="en-US" sz="2000" b="0" dirty="0">
                <a:solidFill>
                  <a:srgbClr val="C00000"/>
                </a:solidFill>
              </a:rPr>
              <a:t>体系结构权衡分析方法</a:t>
            </a:r>
            <a:r>
              <a:rPr lang="zh-CN" altLang="en-US" sz="2000" b="0" dirty="0">
                <a:solidFill>
                  <a:schemeClr val="tx1"/>
                </a:solidFill>
              </a:rPr>
              <a:t>（</a:t>
            </a:r>
            <a:r>
              <a:rPr lang="en-US" altLang="zh-CN" sz="2000" b="0" dirty="0">
                <a:solidFill>
                  <a:schemeClr val="tx1"/>
                </a:solidFill>
              </a:rPr>
              <a:t>Architecture Tradeoff Analysis Method</a:t>
            </a:r>
            <a:r>
              <a:rPr lang="zh-CN" altLang="en-US" sz="2000" b="0" dirty="0">
                <a:solidFill>
                  <a:schemeClr val="tx1"/>
                </a:solidFill>
              </a:rPr>
              <a:t>，简称为</a:t>
            </a:r>
            <a:r>
              <a:rPr lang="en-US" altLang="zh-CN" sz="2000" b="0" dirty="0">
                <a:solidFill>
                  <a:schemeClr val="tx1"/>
                </a:solidFill>
              </a:rPr>
              <a:t>ATAM</a:t>
            </a:r>
            <a:r>
              <a:rPr lang="zh-CN" altLang="en-US" sz="2000" b="0" dirty="0">
                <a:solidFill>
                  <a:schemeClr val="tx1"/>
                </a:solidFill>
              </a:rPr>
              <a:t>）、</a:t>
            </a:r>
            <a:r>
              <a:rPr lang="zh-CN" altLang="en-US" sz="2000" b="0" dirty="0">
                <a:solidFill>
                  <a:srgbClr val="C00000"/>
                </a:solidFill>
              </a:rPr>
              <a:t>软件体系结构分析方法</a:t>
            </a:r>
            <a:r>
              <a:rPr lang="zh-CN" altLang="en-US" sz="2000" b="0" dirty="0">
                <a:solidFill>
                  <a:schemeClr val="tx1"/>
                </a:solidFill>
              </a:rPr>
              <a:t>（</a:t>
            </a:r>
            <a:r>
              <a:rPr lang="en-US" altLang="zh-CN" sz="2000" b="0" dirty="0">
                <a:solidFill>
                  <a:schemeClr val="tx1"/>
                </a:solidFill>
              </a:rPr>
              <a:t>Software Architecture Analysis Method</a:t>
            </a:r>
            <a:r>
              <a:rPr lang="zh-CN" altLang="en-US" sz="2000" b="0" dirty="0">
                <a:solidFill>
                  <a:schemeClr val="tx1"/>
                </a:solidFill>
              </a:rPr>
              <a:t>，简称为</a:t>
            </a:r>
            <a:r>
              <a:rPr lang="en-US" altLang="zh-CN" sz="2000" b="0" dirty="0">
                <a:solidFill>
                  <a:schemeClr val="tx1"/>
                </a:solidFill>
              </a:rPr>
              <a:t>SAAM</a:t>
            </a:r>
            <a:r>
              <a:rPr lang="zh-CN" altLang="en-US" sz="2000" b="0" dirty="0">
                <a:solidFill>
                  <a:schemeClr val="tx1"/>
                </a:solidFill>
              </a:rPr>
              <a:t>）和</a:t>
            </a:r>
            <a:r>
              <a:rPr lang="zh-CN" altLang="en-US" sz="2000" b="0" dirty="0">
                <a:solidFill>
                  <a:srgbClr val="C00000"/>
                </a:solidFill>
              </a:rPr>
              <a:t>中间设计积极评审法</a:t>
            </a:r>
            <a:r>
              <a:rPr lang="zh-CN" altLang="en-US" sz="2000" b="0" dirty="0">
                <a:solidFill>
                  <a:schemeClr val="tx1"/>
                </a:solidFill>
              </a:rPr>
              <a:t>（</a:t>
            </a:r>
            <a:r>
              <a:rPr lang="en-US" altLang="zh-CN" sz="2000" b="0" dirty="0">
                <a:solidFill>
                  <a:schemeClr val="tx1"/>
                </a:solidFill>
              </a:rPr>
              <a:t>Active Reviews for Intermediate Design</a:t>
            </a:r>
            <a:r>
              <a:rPr lang="zh-CN" altLang="en-US" sz="2000" b="0" dirty="0">
                <a:solidFill>
                  <a:schemeClr val="tx1"/>
                </a:solidFill>
              </a:rPr>
              <a:t>，简称为</a:t>
            </a:r>
            <a:r>
              <a:rPr lang="en-US" altLang="zh-CN" sz="2000" b="0" dirty="0">
                <a:solidFill>
                  <a:schemeClr val="tx1"/>
                </a:solidFill>
              </a:rPr>
              <a:t>ARID</a:t>
            </a:r>
            <a:r>
              <a:rPr lang="zh-CN" altLang="en-US" sz="2000" b="0" dirty="0">
                <a:solidFill>
                  <a:schemeClr val="tx1"/>
                </a:solidFill>
              </a:rPr>
              <a:t>）。</a:t>
            </a:r>
            <a:r>
              <a:rPr lang="zh-CN" altLang="en-US" sz="1800" b="0" dirty="0">
                <a:solidFill>
                  <a:schemeClr val="tx1"/>
                </a:solidFill>
              </a:rPr>
              <a:t> </a:t>
            </a:r>
            <a:endParaRPr lang="zh-CN" altLang="en-US" sz="1800" b="0" dirty="0">
              <a:solidFill>
                <a:schemeClr val="tx1"/>
              </a:solidFill>
            </a:endParaRPr>
          </a:p>
        </p:txBody>
      </p:sp>
    </p:spTree>
  </p:cSld>
  <p:clrMapOvr>
    <a:masterClrMapping/>
  </p:clrMapOvr>
  <p:transition>
    <p:wipe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p:txBody>
          <a:bodyPr/>
          <a:lstStyle/>
          <a:p>
            <a:pPr eaLnBrk="1" hangingPunct="1"/>
            <a:r>
              <a:rPr lang="zh-CN" altLang="en-US" sz="4000" dirty="0"/>
              <a:t>（</a:t>
            </a:r>
            <a:r>
              <a:rPr lang="en-US" altLang="zh-CN" sz="4000" dirty="0"/>
              <a:t>4</a:t>
            </a:r>
            <a:r>
              <a:rPr lang="zh-CN" altLang="en-US" sz="4000" dirty="0"/>
              <a:t>）体系结构发现、演化与重用</a:t>
            </a:r>
            <a:endParaRPr lang="zh-CN" altLang="en-US" sz="4000" dirty="0"/>
          </a:p>
        </p:txBody>
      </p:sp>
      <p:sp>
        <p:nvSpPr>
          <p:cNvPr id="2" name="内容占位符 1"/>
          <p:cNvSpPr>
            <a:spLocks noGrp="1"/>
          </p:cNvSpPr>
          <p:nvPr>
            <p:ph idx="1"/>
          </p:nvPr>
        </p:nvSpPr>
        <p:spPr/>
        <p:txBody>
          <a:bodyPr/>
          <a:lstStyle/>
          <a:p>
            <a:endParaRPr lang="zh-CN" altLang="en-US"/>
          </a:p>
        </p:txBody>
      </p:sp>
      <p:sp>
        <p:nvSpPr>
          <p:cNvPr id="33795" name="日期占位符 5"/>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6BB78131-96E4-4867-B346-0FE6D4BD4132}" type="datetime1">
              <a:rPr lang="zh-CN" altLang="en-US" sz="1200" smtClean="0">
                <a:solidFill>
                  <a:schemeClr val="tx1"/>
                </a:solidFill>
              </a:rPr>
            </a:fld>
            <a:endParaRPr lang="zh-CN" altLang="en-US" sz="1200">
              <a:solidFill>
                <a:schemeClr val="tx1"/>
              </a:solidFill>
            </a:endParaRPr>
          </a:p>
        </p:txBody>
      </p:sp>
      <p:sp>
        <p:nvSpPr>
          <p:cNvPr id="33794" name="灯片编号占位符 4"/>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D391D25-6EA5-4D39-A442-10AFA25F291E}"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33797" name="Text Box 3"/>
          <p:cNvSpPr txBox="1">
            <a:spLocks noChangeArrowheads="1"/>
          </p:cNvSpPr>
          <p:nvPr/>
        </p:nvSpPr>
        <p:spPr bwMode="auto">
          <a:xfrm>
            <a:off x="395288" y="1700213"/>
            <a:ext cx="81375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b="0">
              <a:solidFill>
                <a:schemeClr val="tx1"/>
              </a:solidFill>
            </a:endParaRPr>
          </a:p>
        </p:txBody>
      </p:sp>
      <p:sp>
        <p:nvSpPr>
          <p:cNvPr id="33798" name="Text Box 4"/>
          <p:cNvSpPr txBox="1">
            <a:spLocks noChangeArrowheads="1"/>
          </p:cNvSpPr>
          <p:nvPr/>
        </p:nvSpPr>
        <p:spPr bwMode="auto">
          <a:xfrm>
            <a:off x="250825" y="1341438"/>
            <a:ext cx="8675688"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0">
                <a:solidFill>
                  <a:schemeClr val="tx1"/>
                </a:solidFill>
              </a:rPr>
              <a:t>对于一个已经存在但是不知道其体系结构的软件系统，对其进行维护是一件很困难的事情，这时可以通过</a:t>
            </a:r>
            <a:r>
              <a:rPr lang="zh-CN" altLang="en-US" sz="2400" b="0">
                <a:solidFill>
                  <a:srgbClr val="C00000"/>
                </a:solidFill>
              </a:rPr>
              <a:t>体系结构发现</a:t>
            </a:r>
            <a:r>
              <a:rPr lang="zh-CN" altLang="en-US" sz="2400" b="0">
                <a:solidFill>
                  <a:schemeClr val="tx1"/>
                </a:solidFill>
              </a:rPr>
              <a:t>来解决这个问题。体系结构发现就是从己经存在的软件系统中提取出软件体系结构，这可以帮助维护人员理解系统，保证维护工作的顺利进行。</a:t>
            </a:r>
            <a:endParaRPr lang="zh-CN" altLang="en-US" sz="2400" b="0">
              <a:solidFill>
                <a:schemeClr val="tx1"/>
              </a:solidFill>
            </a:endParaRPr>
          </a:p>
          <a:p>
            <a:pPr eaLnBrk="1" hangingPunct="1">
              <a:spcBef>
                <a:spcPct val="0"/>
              </a:spcBef>
              <a:buClrTx/>
              <a:buSzTx/>
              <a:buFont typeface="Arial" panose="020B0604020202020204" pitchFamily="34" charset="0"/>
              <a:buNone/>
            </a:pPr>
            <a:endParaRPr lang="zh-CN" altLang="en-US" sz="2400" b="0">
              <a:solidFill>
                <a:schemeClr val="tx1"/>
              </a:solidFill>
            </a:endParaRPr>
          </a:p>
          <a:p>
            <a:pPr eaLnBrk="1" hangingPunct="1">
              <a:spcBef>
                <a:spcPct val="0"/>
              </a:spcBef>
              <a:buClrTx/>
              <a:buSzTx/>
              <a:buFont typeface="Arial" panose="020B0604020202020204" pitchFamily="34" charset="0"/>
              <a:buNone/>
            </a:pPr>
            <a:r>
              <a:rPr lang="zh-CN" altLang="en-US" sz="2400" b="0">
                <a:solidFill>
                  <a:schemeClr val="tx1"/>
                </a:solidFill>
              </a:rPr>
              <a:t>由于系统需求、技术、环境、分布等因素的变化而最终导致软件体系结构的变动，称为</a:t>
            </a:r>
            <a:r>
              <a:rPr lang="zh-CN" altLang="en-US" sz="2400" b="0">
                <a:solidFill>
                  <a:srgbClr val="C00000"/>
                </a:solidFill>
              </a:rPr>
              <a:t>软件体系结构演化</a:t>
            </a:r>
            <a:r>
              <a:rPr lang="zh-CN" altLang="en-US" sz="2400" b="0">
                <a:solidFill>
                  <a:schemeClr val="tx1"/>
                </a:solidFill>
              </a:rPr>
              <a:t>。而</a:t>
            </a:r>
            <a:r>
              <a:rPr lang="zh-CN" altLang="en-US" sz="2400" b="0">
                <a:solidFill>
                  <a:srgbClr val="C00000"/>
                </a:solidFill>
              </a:rPr>
              <a:t>体系结构重用</a:t>
            </a:r>
            <a:r>
              <a:rPr lang="zh-CN" altLang="en-US" sz="2400" b="0">
                <a:solidFill>
                  <a:schemeClr val="tx1"/>
                </a:solidFill>
              </a:rPr>
              <a:t>是属于比代码重用更高级的设计重用。重用是软件工程领域所倡导的有效技术之一，体系结构级的重用会导致大批构件的重用，不仅极大地提高了软件开发的</a:t>
            </a:r>
            <a:r>
              <a:rPr lang="zh-CN" altLang="en-US" sz="2400" b="0">
                <a:solidFill>
                  <a:srgbClr val="C00000"/>
                </a:solidFill>
              </a:rPr>
              <a:t>效率</a:t>
            </a:r>
            <a:r>
              <a:rPr lang="zh-CN" altLang="en-US" sz="2400" b="0">
                <a:solidFill>
                  <a:schemeClr val="tx1"/>
                </a:solidFill>
              </a:rPr>
              <a:t>、降低了软件开发的</a:t>
            </a:r>
            <a:r>
              <a:rPr lang="zh-CN" altLang="en-US" sz="2400" b="0">
                <a:solidFill>
                  <a:srgbClr val="C00000"/>
                </a:solidFill>
              </a:rPr>
              <a:t>成本</a:t>
            </a:r>
            <a:r>
              <a:rPr lang="zh-CN" altLang="en-US" sz="2400" b="0">
                <a:solidFill>
                  <a:schemeClr val="tx1"/>
                </a:solidFill>
              </a:rPr>
              <a:t>，而且对于提高多种软件</a:t>
            </a:r>
            <a:r>
              <a:rPr lang="zh-CN" altLang="en-US" sz="2400" b="0">
                <a:solidFill>
                  <a:srgbClr val="C00000"/>
                </a:solidFill>
              </a:rPr>
              <a:t>质量</a:t>
            </a:r>
            <a:r>
              <a:rPr lang="zh-CN" altLang="en-US" sz="2400" b="0">
                <a:solidFill>
                  <a:schemeClr val="tx1"/>
                </a:solidFill>
              </a:rPr>
              <a:t>都有很大的作用。 </a:t>
            </a:r>
            <a:endParaRPr lang="zh-CN" altLang="en-US" sz="2400" b="0">
              <a:solidFill>
                <a:schemeClr val="tx1"/>
              </a:solidFill>
            </a:endParaRPr>
          </a:p>
        </p:txBody>
      </p:sp>
    </p:spTree>
  </p:cSld>
  <p:clrMapOvr>
    <a:masterClrMapping/>
  </p:clrMapOvr>
  <p:transition>
    <p:wipe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p:txBody>
          <a:bodyPr/>
          <a:lstStyle/>
          <a:p>
            <a:pPr eaLnBrk="1" hangingPunct="1"/>
            <a:r>
              <a:rPr lang="zh-CN" altLang="en-US" sz="3200" dirty="0"/>
              <a:t>（</a:t>
            </a:r>
            <a:r>
              <a:rPr lang="en-US" altLang="zh-CN" sz="3200" dirty="0"/>
              <a:t>5</a:t>
            </a:r>
            <a:r>
              <a:rPr lang="zh-CN" altLang="en-US" sz="3200" dirty="0"/>
              <a:t>）基于体系结构的软件开发方法</a:t>
            </a:r>
            <a:endParaRPr lang="zh-CN" altLang="en-US" sz="3200" dirty="0"/>
          </a:p>
        </p:txBody>
      </p:sp>
      <p:sp>
        <p:nvSpPr>
          <p:cNvPr id="2" name="内容占位符 1"/>
          <p:cNvSpPr>
            <a:spLocks noGrp="1"/>
          </p:cNvSpPr>
          <p:nvPr>
            <p:ph idx="1"/>
          </p:nvPr>
        </p:nvSpPr>
        <p:spPr/>
        <p:txBody>
          <a:bodyPr/>
          <a:lstStyle/>
          <a:p>
            <a:endParaRPr lang="zh-CN" altLang="en-US"/>
          </a:p>
        </p:txBody>
      </p:sp>
      <p:sp>
        <p:nvSpPr>
          <p:cNvPr id="34819" name="日期占位符 5"/>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7B9765A0-0641-4DD2-A565-2957038559FD}" type="datetime1">
              <a:rPr lang="zh-CN" altLang="en-US" sz="1200" smtClean="0">
                <a:solidFill>
                  <a:schemeClr val="tx1"/>
                </a:solidFill>
              </a:rPr>
            </a:fld>
            <a:endParaRPr lang="zh-CN" altLang="en-US" sz="1200">
              <a:solidFill>
                <a:schemeClr val="tx1"/>
              </a:solidFill>
            </a:endParaRPr>
          </a:p>
        </p:txBody>
      </p:sp>
      <p:sp>
        <p:nvSpPr>
          <p:cNvPr id="34818" name="灯片编号占位符 4"/>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9E4860C-2967-439F-AA0C-3EFFA76F393F}"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34821" name="Text Box 3"/>
          <p:cNvSpPr txBox="1">
            <a:spLocks noChangeArrowheads="1"/>
          </p:cNvSpPr>
          <p:nvPr/>
        </p:nvSpPr>
        <p:spPr bwMode="auto">
          <a:xfrm>
            <a:off x="395288" y="1700213"/>
            <a:ext cx="81375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b="0">
              <a:solidFill>
                <a:schemeClr val="tx1"/>
              </a:solidFill>
            </a:endParaRPr>
          </a:p>
        </p:txBody>
      </p:sp>
      <p:sp>
        <p:nvSpPr>
          <p:cNvPr id="34822" name="Text Box 4"/>
          <p:cNvSpPr txBox="1">
            <a:spLocks noChangeArrowheads="1"/>
          </p:cNvSpPr>
          <p:nvPr/>
        </p:nvSpPr>
        <p:spPr bwMode="auto">
          <a:xfrm>
            <a:off x="539750" y="1700213"/>
            <a:ext cx="8208963"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0">
                <a:solidFill>
                  <a:schemeClr val="tx1"/>
                </a:solidFill>
              </a:rPr>
              <a:t>在本质上，软件体系结构是对软件需求的一种抽象解决方案。在引入了体系结构的软件开发之后，应用系统的构造过程变为</a:t>
            </a:r>
            <a:endParaRPr lang="zh-CN" altLang="en-US" sz="2400" b="0">
              <a:solidFill>
                <a:schemeClr val="tx1"/>
              </a:solidFill>
            </a:endParaRPr>
          </a:p>
          <a:p>
            <a:pPr eaLnBrk="1" hangingPunct="1">
              <a:spcBef>
                <a:spcPct val="0"/>
              </a:spcBef>
              <a:buClrTx/>
              <a:buSzTx/>
              <a:buFont typeface="Arial" panose="020B0604020202020204" pitchFamily="34" charset="0"/>
              <a:buNone/>
            </a:pPr>
            <a:endParaRPr lang="zh-CN" altLang="en-US" sz="2400" b="0">
              <a:solidFill>
                <a:schemeClr val="tx1"/>
              </a:solidFill>
            </a:endParaRPr>
          </a:p>
          <a:p>
            <a:pPr eaLnBrk="1" hangingPunct="1">
              <a:spcBef>
                <a:spcPct val="0"/>
              </a:spcBef>
              <a:buClrTx/>
              <a:buSzTx/>
              <a:buFont typeface="Arial" panose="020B0604020202020204" pitchFamily="34" charset="0"/>
              <a:buNone/>
            </a:pPr>
            <a:r>
              <a:rPr lang="zh-CN" altLang="en-US" sz="2400" b="0">
                <a:solidFill>
                  <a:schemeClr val="tx1"/>
                </a:solidFill>
              </a:rPr>
              <a:t>“问题定义</a:t>
            </a:r>
            <a:r>
              <a:rPr lang="en-US" altLang="zh-CN" sz="2400" b="0">
                <a:solidFill>
                  <a:schemeClr val="tx1"/>
                </a:solidFill>
              </a:rPr>
              <a:t>——</a:t>
            </a:r>
            <a:r>
              <a:rPr lang="zh-CN" altLang="en-US" sz="2400" b="0">
                <a:solidFill>
                  <a:schemeClr val="tx1"/>
                </a:solidFill>
              </a:rPr>
              <a:t>软件需求</a:t>
            </a:r>
            <a:r>
              <a:rPr lang="en-US" altLang="zh-CN" sz="2400" b="0">
                <a:solidFill>
                  <a:schemeClr val="tx1"/>
                </a:solidFill>
              </a:rPr>
              <a:t>——</a:t>
            </a:r>
            <a:r>
              <a:rPr lang="zh-CN" altLang="en-US" sz="2400" b="0">
                <a:solidFill>
                  <a:srgbClr val="C00000"/>
                </a:solidFill>
              </a:rPr>
              <a:t>软件体系结构</a:t>
            </a:r>
            <a:r>
              <a:rPr lang="en-US" altLang="zh-CN" sz="2400" b="0">
                <a:solidFill>
                  <a:schemeClr val="tx1"/>
                </a:solidFill>
              </a:rPr>
              <a:t>——</a:t>
            </a:r>
            <a:r>
              <a:rPr lang="zh-CN" altLang="en-US" sz="2400" b="0">
                <a:solidFill>
                  <a:schemeClr val="tx1"/>
                </a:solidFill>
              </a:rPr>
              <a:t>软件实现”，</a:t>
            </a:r>
            <a:endParaRPr lang="zh-CN" altLang="en-US" sz="2400" b="0">
              <a:solidFill>
                <a:schemeClr val="tx1"/>
              </a:solidFill>
            </a:endParaRPr>
          </a:p>
          <a:p>
            <a:pPr eaLnBrk="1" hangingPunct="1">
              <a:spcBef>
                <a:spcPct val="0"/>
              </a:spcBef>
              <a:buClrTx/>
              <a:buSzTx/>
              <a:buFont typeface="Arial" panose="020B0604020202020204" pitchFamily="34" charset="0"/>
              <a:buNone/>
            </a:pPr>
            <a:endParaRPr lang="zh-CN" altLang="en-US" sz="2400" b="0">
              <a:solidFill>
                <a:schemeClr val="tx1"/>
              </a:solidFill>
            </a:endParaRPr>
          </a:p>
          <a:p>
            <a:pPr eaLnBrk="1" hangingPunct="1">
              <a:spcBef>
                <a:spcPct val="0"/>
              </a:spcBef>
              <a:buClrTx/>
              <a:buSzTx/>
              <a:buFont typeface="Arial" panose="020B0604020202020204" pitchFamily="34" charset="0"/>
              <a:buNone/>
            </a:pPr>
            <a:r>
              <a:rPr lang="zh-CN" altLang="en-US" sz="2400" b="0">
                <a:solidFill>
                  <a:schemeClr val="tx1"/>
                </a:solidFill>
              </a:rPr>
              <a:t>可以认为软件体系结构架起了软件需求和软件设计之间的一座桥梁。在基于构件和软件体系结构的软件开发逐渐成为主流的开发方法的情况下，已经出现了基于构件的软件工程。</a:t>
            </a:r>
            <a:endParaRPr lang="zh-CN" altLang="en-US" sz="2400" b="0">
              <a:solidFill>
                <a:schemeClr val="tx1"/>
              </a:solidFill>
            </a:endParaRPr>
          </a:p>
        </p:txBody>
      </p:sp>
    </p:spTree>
  </p:cSld>
  <p:clrMapOvr>
    <a:masterClrMapping/>
  </p:clrMapOvr>
  <p:transition>
    <p:wipe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p:nvPr>
        </p:nvSpPr>
        <p:spPr>
          <a:xfrm>
            <a:off x="179512" y="18255"/>
            <a:ext cx="7886700" cy="1325563"/>
          </a:xfrm>
        </p:spPr>
        <p:txBody>
          <a:bodyPr/>
          <a:lstStyle/>
          <a:p>
            <a:pPr eaLnBrk="1" hangingPunct="1"/>
            <a:r>
              <a:rPr lang="zh-CN" altLang="en-US" sz="4000" dirty="0"/>
              <a:t>（</a:t>
            </a:r>
            <a:r>
              <a:rPr lang="en-US" altLang="zh-CN" sz="4000" dirty="0"/>
              <a:t>6</a:t>
            </a:r>
            <a:r>
              <a:rPr lang="zh-CN" altLang="en-US" sz="4000" dirty="0"/>
              <a:t>）特定领域的软件体系结构</a:t>
            </a:r>
            <a:endParaRPr lang="zh-CN" altLang="en-US" sz="4000" dirty="0"/>
          </a:p>
        </p:txBody>
      </p:sp>
      <p:sp>
        <p:nvSpPr>
          <p:cNvPr id="2" name="内容占位符 1"/>
          <p:cNvSpPr>
            <a:spLocks noGrp="1"/>
          </p:cNvSpPr>
          <p:nvPr>
            <p:ph idx="1"/>
          </p:nvPr>
        </p:nvSpPr>
        <p:spPr/>
        <p:txBody>
          <a:bodyPr/>
          <a:lstStyle/>
          <a:p>
            <a:endParaRPr lang="zh-CN" altLang="en-US"/>
          </a:p>
        </p:txBody>
      </p:sp>
      <p:sp>
        <p:nvSpPr>
          <p:cNvPr id="35843" name="日期占位符 5"/>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AEE5C7E4-B473-4B0D-8CB2-1E91B0D6442A}" type="datetime1">
              <a:rPr lang="zh-CN" altLang="en-US" sz="1200" smtClean="0">
                <a:solidFill>
                  <a:schemeClr val="tx1"/>
                </a:solidFill>
              </a:rPr>
            </a:fld>
            <a:endParaRPr lang="zh-CN" altLang="en-US" sz="1200">
              <a:solidFill>
                <a:schemeClr val="tx1"/>
              </a:solidFill>
            </a:endParaRPr>
          </a:p>
        </p:txBody>
      </p:sp>
      <p:sp>
        <p:nvSpPr>
          <p:cNvPr id="35842" name="灯片编号占位符 4"/>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97B69F1F-9FE0-48F1-93E3-C29989F1BDB4}"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35845" name="Text Box 3"/>
          <p:cNvSpPr txBox="1">
            <a:spLocks noChangeArrowheads="1"/>
          </p:cNvSpPr>
          <p:nvPr/>
        </p:nvSpPr>
        <p:spPr bwMode="auto">
          <a:xfrm>
            <a:off x="395288" y="1700213"/>
            <a:ext cx="81375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b="0">
              <a:solidFill>
                <a:schemeClr val="tx1"/>
              </a:solidFill>
            </a:endParaRPr>
          </a:p>
        </p:txBody>
      </p:sp>
      <p:sp>
        <p:nvSpPr>
          <p:cNvPr id="35846" name="Text Box 4"/>
          <p:cNvSpPr txBox="1">
            <a:spLocks noChangeArrowheads="1"/>
          </p:cNvSpPr>
          <p:nvPr/>
        </p:nvSpPr>
        <p:spPr bwMode="auto">
          <a:xfrm>
            <a:off x="539750" y="1700213"/>
            <a:ext cx="784860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400" b="0">
                <a:solidFill>
                  <a:srgbClr val="C00000"/>
                </a:solidFill>
              </a:rPr>
              <a:t>特定领域的软件体系结构</a:t>
            </a:r>
            <a:r>
              <a:rPr lang="zh-CN" altLang="en-US" sz="2400" b="0">
                <a:solidFill>
                  <a:schemeClr val="tx1"/>
                </a:solidFill>
              </a:rPr>
              <a:t>（</a:t>
            </a:r>
            <a:r>
              <a:rPr lang="en-US" altLang="zh-CN" sz="2400" b="0">
                <a:solidFill>
                  <a:schemeClr val="tx1"/>
                </a:solidFill>
              </a:rPr>
              <a:t>Domain Specific Software Architecture</a:t>
            </a:r>
            <a:r>
              <a:rPr lang="zh-CN" altLang="en-US" sz="2400" b="0">
                <a:solidFill>
                  <a:schemeClr val="tx1"/>
                </a:solidFill>
              </a:rPr>
              <a:t>，简称为</a:t>
            </a:r>
            <a:r>
              <a:rPr lang="en-US" altLang="zh-CN" sz="2400" b="0">
                <a:solidFill>
                  <a:schemeClr val="tx1"/>
                </a:solidFill>
              </a:rPr>
              <a:t>DSSA</a:t>
            </a:r>
            <a:r>
              <a:rPr lang="zh-CN" altLang="en-US" sz="2400" b="0">
                <a:solidFill>
                  <a:schemeClr val="tx1"/>
                </a:solidFill>
              </a:rPr>
              <a:t>）是一门以</a:t>
            </a:r>
            <a:r>
              <a:rPr lang="zh-CN" altLang="en-US" sz="2400" b="0">
                <a:solidFill>
                  <a:srgbClr val="C00000"/>
                </a:solidFill>
              </a:rPr>
              <a:t>软件重用</a:t>
            </a:r>
            <a:r>
              <a:rPr lang="zh-CN" altLang="en-US" sz="2400" b="0">
                <a:solidFill>
                  <a:schemeClr val="tx1"/>
                </a:solidFill>
              </a:rPr>
              <a:t>为核心，研究软件应用框架的获取、表示和应用等问题的软件方法学。</a:t>
            </a:r>
            <a:r>
              <a:rPr lang="en-US" altLang="zh-CN" sz="2400" b="0">
                <a:solidFill>
                  <a:schemeClr val="tx1"/>
                </a:solidFill>
              </a:rPr>
              <a:t>DSSA</a:t>
            </a:r>
            <a:r>
              <a:rPr lang="zh-CN" altLang="en-US" sz="2400" b="0">
                <a:solidFill>
                  <a:schemeClr val="tx1"/>
                </a:solidFill>
              </a:rPr>
              <a:t>将软件体系结构理论应用到具体领域，因为特定领域的应用具有相似的特征，所以可以借鉴领域中己经成熟的软件体系结构。通过特定领域的软件体系结构，可以实现解决方法在某个领域内的重用。</a:t>
            </a:r>
            <a:endParaRPr lang="zh-CN" altLang="en-US" sz="2400" b="0">
              <a:solidFill>
                <a:schemeClr val="tx1"/>
              </a:solidFill>
            </a:endParaRPr>
          </a:p>
        </p:txBody>
      </p:sp>
    </p:spTree>
  </p:cSld>
  <p:clrMapOvr>
    <a:masterClrMapping/>
  </p:clrMapOvr>
  <p:transition>
    <p:wipe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Grp="1" noChangeArrowheads="1"/>
          </p:cNvSpPr>
          <p:nvPr>
            <p:ph type="title"/>
          </p:nvPr>
        </p:nvSpPr>
        <p:spPr/>
        <p:txBody>
          <a:bodyPr/>
          <a:lstStyle/>
          <a:p>
            <a:pPr eaLnBrk="1" hangingPunct="1"/>
            <a:r>
              <a:rPr lang="zh-CN" altLang="en-US" sz="4000" dirty="0"/>
              <a:t>（</a:t>
            </a:r>
            <a:r>
              <a:rPr lang="en-US" altLang="zh-CN" sz="4000" dirty="0"/>
              <a:t>7</a:t>
            </a:r>
            <a:r>
              <a:rPr lang="zh-CN" altLang="en-US" sz="4000" dirty="0"/>
              <a:t>）软件体系结构支持工具</a:t>
            </a:r>
            <a:endParaRPr lang="zh-CN" altLang="en-US" sz="4000" dirty="0"/>
          </a:p>
        </p:txBody>
      </p:sp>
      <p:sp>
        <p:nvSpPr>
          <p:cNvPr id="2" name="内容占位符 1"/>
          <p:cNvSpPr>
            <a:spLocks noGrp="1"/>
          </p:cNvSpPr>
          <p:nvPr>
            <p:ph idx="1"/>
          </p:nvPr>
        </p:nvSpPr>
        <p:spPr/>
        <p:txBody>
          <a:bodyPr/>
          <a:lstStyle/>
          <a:p>
            <a:endParaRPr lang="zh-CN" altLang="en-US"/>
          </a:p>
        </p:txBody>
      </p:sp>
      <p:sp>
        <p:nvSpPr>
          <p:cNvPr id="36867" name="日期占位符 5"/>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4E7BDC23-8C13-41A0-985C-282F13A0D675}" type="datetime1">
              <a:rPr lang="zh-CN" altLang="en-US" sz="1200" smtClean="0">
                <a:solidFill>
                  <a:schemeClr val="tx1"/>
                </a:solidFill>
              </a:rPr>
            </a:fld>
            <a:endParaRPr lang="zh-CN" altLang="en-US" sz="1200">
              <a:solidFill>
                <a:schemeClr val="tx1"/>
              </a:solidFill>
            </a:endParaRPr>
          </a:p>
        </p:txBody>
      </p:sp>
      <p:sp>
        <p:nvSpPr>
          <p:cNvPr id="36866" name="灯片编号占位符 4"/>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A4A0F946-5E84-4FE0-9AC7-BE2F67A60147}"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36869" name="Text Box 3"/>
          <p:cNvSpPr txBox="1">
            <a:spLocks noChangeArrowheads="1"/>
          </p:cNvSpPr>
          <p:nvPr/>
        </p:nvSpPr>
        <p:spPr bwMode="auto">
          <a:xfrm>
            <a:off x="395288" y="1700213"/>
            <a:ext cx="81375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b="0">
              <a:solidFill>
                <a:schemeClr val="tx1"/>
              </a:solidFill>
            </a:endParaRPr>
          </a:p>
        </p:txBody>
      </p:sp>
      <p:sp>
        <p:nvSpPr>
          <p:cNvPr id="36870" name="Text Box 4"/>
          <p:cNvSpPr txBox="1">
            <a:spLocks noChangeArrowheads="1"/>
          </p:cNvSpPr>
          <p:nvPr/>
        </p:nvSpPr>
        <p:spPr bwMode="auto">
          <a:xfrm>
            <a:off x="539750" y="1700213"/>
            <a:ext cx="8135938" cy="403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400" b="0">
                <a:solidFill>
                  <a:schemeClr val="tx1"/>
                </a:solidFill>
              </a:rPr>
              <a:t>几乎每一种软件体系结构描述语言都有相应的支持工具，如</a:t>
            </a:r>
            <a:r>
              <a:rPr lang="en-US" altLang="zh-CN" sz="2400" b="0">
                <a:solidFill>
                  <a:schemeClr val="tx1"/>
                </a:solidFill>
              </a:rPr>
              <a:t>Unicon</a:t>
            </a:r>
            <a:r>
              <a:rPr lang="zh-CN" altLang="en-US" sz="2400" b="0">
                <a:solidFill>
                  <a:schemeClr val="tx1"/>
                </a:solidFill>
              </a:rPr>
              <a:t>， </a:t>
            </a:r>
            <a:r>
              <a:rPr lang="en-US" altLang="zh-CN" sz="2400" b="0">
                <a:solidFill>
                  <a:schemeClr val="tx1"/>
                </a:solidFill>
              </a:rPr>
              <a:t>Aesop</a:t>
            </a:r>
            <a:r>
              <a:rPr lang="zh-CN" altLang="en-US" sz="2400" b="0">
                <a:solidFill>
                  <a:schemeClr val="tx1"/>
                </a:solidFill>
              </a:rPr>
              <a:t>等体系结构支持环境，</a:t>
            </a:r>
            <a:r>
              <a:rPr lang="en-US" altLang="zh-CN" sz="2400" b="0">
                <a:solidFill>
                  <a:schemeClr val="tx1"/>
                </a:solidFill>
              </a:rPr>
              <a:t>C2</a:t>
            </a:r>
            <a:r>
              <a:rPr lang="zh-CN" altLang="en-US" sz="2400" b="0">
                <a:solidFill>
                  <a:schemeClr val="tx1"/>
                </a:solidFill>
              </a:rPr>
              <a:t>的支持环境</a:t>
            </a:r>
            <a:r>
              <a:rPr lang="en-US" altLang="zh-CN" sz="2400" b="0">
                <a:solidFill>
                  <a:schemeClr val="tx1"/>
                </a:solidFill>
              </a:rPr>
              <a:t>ArchStudio</a:t>
            </a:r>
            <a:r>
              <a:rPr lang="zh-CN" altLang="en-US" sz="2400" b="0">
                <a:solidFill>
                  <a:schemeClr val="tx1"/>
                </a:solidFill>
              </a:rPr>
              <a:t>等。除了软件体系结构描述语言的支持工具外，还有一些基于软件体系结构的开发方法的支持工具，例如</a:t>
            </a:r>
            <a:r>
              <a:rPr lang="en-US" altLang="zh-CN" sz="2400" b="0">
                <a:solidFill>
                  <a:schemeClr val="tx1"/>
                </a:solidFill>
              </a:rPr>
              <a:t>ABC</a:t>
            </a:r>
            <a:r>
              <a:rPr lang="zh-CN" altLang="en-US" sz="2400" b="0">
                <a:solidFill>
                  <a:schemeClr val="tx1"/>
                </a:solidFill>
              </a:rPr>
              <a:t>（</a:t>
            </a:r>
            <a:r>
              <a:rPr lang="en-US" altLang="zh-CN" sz="2400" b="0">
                <a:solidFill>
                  <a:schemeClr val="tx1"/>
                </a:solidFill>
              </a:rPr>
              <a:t>architecture-based component composition</a:t>
            </a:r>
            <a:r>
              <a:rPr lang="zh-CN" altLang="en-US" sz="2400" b="0">
                <a:solidFill>
                  <a:schemeClr val="tx1"/>
                </a:solidFill>
              </a:rPr>
              <a:t>）是一种基于软件体系结构面向构件的软件开发方法，</a:t>
            </a:r>
            <a:r>
              <a:rPr lang="en-US" altLang="zh-CN" sz="2400" b="0">
                <a:solidFill>
                  <a:schemeClr val="tx1"/>
                </a:solidFill>
              </a:rPr>
              <a:t>ABC-Tool</a:t>
            </a:r>
            <a:r>
              <a:rPr lang="zh-CN" altLang="en-US" sz="2400" b="0">
                <a:solidFill>
                  <a:schemeClr val="tx1"/>
                </a:solidFill>
              </a:rPr>
              <a:t>就是</a:t>
            </a:r>
            <a:r>
              <a:rPr lang="en-US" altLang="zh-CN" sz="2400" b="0">
                <a:solidFill>
                  <a:schemeClr val="tx1"/>
                </a:solidFill>
              </a:rPr>
              <a:t>ABC</a:t>
            </a:r>
            <a:r>
              <a:rPr lang="zh-CN" altLang="en-US" sz="2400" b="0">
                <a:solidFill>
                  <a:schemeClr val="tx1"/>
                </a:solidFill>
              </a:rPr>
              <a:t>方法的支持工具。另外还有一些支持体系结构静态分析的工具、体系结构性能仿真工具等，但是与其他成熟的软件开发环境相比，体系结构的支持工具还不是很实用。</a:t>
            </a:r>
            <a:endParaRPr lang="zh-CN" altLang="en-US" sz="2400" b="0">
              <a:solidFill>
                <a:schemeClr val="tx1"/>
              </a:solidFill>
            </a:endParaRPr>
          </a:p>
        </p:txBody>
      </p:sp>
    </p:spTree>
  </p:cSld>
  <p:clrMapOvr>
    <a:masterClrMapping/>
  </p:clrMapOvr>
  <p:transition>
    <p:wipe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p:txBody>
          <a:bodyPr/>
          <a:lstStyle/>
          <a:p>
            <a:pPr eaLnBrk="1" hangingPunct="1"/>
            <a:r>
              <a:rPr lang="zh-CN" altLang="en-US" sz="4000" dirty="0"/>
              <a:t>（</a:t>
            </a:r>
            <a:r>
              <a:rPr lang="en-US" altLang="zh-CN" sz="4000" dirty="0"/>
              <a:t>8</a:t>
            </a:r>
            <a:r>
              <a:rPr lang="zh-CN" altLang="en-US" sz="4000" dirty="0"/>
              <a:t>）软件产品线体系结构</a:t>
            </a:r>
            <a:endParaRPr lang="zh-CN" altLang="en-US" sz="4000" dirty="0"/>
          </a:p>
        </p:txBody>
      </p:sp>
      <p:sp>
        <p:nvSpPr>
          <p:cNvPr id="2" name="内容占位符 1"/>
          <p:cNvSpPr>
            <a:spLocks noGrp="1"/>
          </p:cNvSpPr>
          <p:nvPr>
            <p:ph idx="1"/>
          </p:nvPr>
        </p:nvSpPr>
        <p:spPr/>
        <p:txBody>
          <a:bodyPr/>
          <a:lstStyle/>
          <a:p>
            <a:endParaRPr lang="zh-CN" altLang="en-US"/>
          </a:p>
        </p:txBody>
      </p:sp>
      <p:sp>
        <p:nvSpPr>
          <p:cNvPr id="37891" name="日期占位符 5"/>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3C8C42DE-88C4-4CFD-82BF-D4FB4F4C9B5D}" type="datetime1">
              <a:rPr lang="zh-CN" altLang="en-US" sz="1200" smtClean="0">
                <a:solidFill>
                  <a:schemeClr val="tx1"/>
                </a:solidFill>
              </a:rPr>
            </a:fld>
            <a:endParaRPr lang="zh-CN" altLang="en-US" sz="1200">
              <a:solidFill>
                <a:schemeClr val="tx1"/>
              </a:solidFill>
            </a:endParaRPr>
          </a:p>
        </p:txBody>
      </p:sp>
      <p:sp>
        <p:nvSpPr>
          <p:cNvPr id="37890" name="灯片编号占位符 4"/>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763793A-35B3-4167-8D31-8978ACF17CEE}"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37893" name="Text Box 3"/>
          <p:cNvSpPr txBox="1">
            <a:spLocks noChangeArrowheads="1"/>
          </p:cNvSpPr>
          <p:nvPr/>
        </p:nvSpPr>
        <p:spPr bwMode="auto">
          <a:xfrm>
            <a:off x="395288" y="1700213"/>
            <a:ext cx="81375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b="0">
              <a:solidFill>
                <a:schemeClr val="tx1"/>
              </a:solidFill>
            </a:endParaRPr>
          </a:p>
        </p:txBody>
      </p:sp>
      <p:sp>
        <p:nvSpPr>
          <p:cNvPr id="37894" name="Text Box 4"/>
          <p:cNvSpPr txBox="1">
            <a:spLocks noChangeArrowheads="1"/>
          </p:cNvSpPr>
          <p:nvPr/>
        </p:nvSpPr>
        <p:spPr bwMode="auto">
          <a:xfrm>
            <a:off x="539750" y="1700213"/>
            <a:ext cx="81359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400" b="0" dirty="0">
                <a:solidFill>
                  <a:schemeClr val="tx1"/>
                </a:solidFill>
              </a:rPr>
              <a:t>软件体系结构的开发是大型软件系统开发的关键环节，对于软件产品线的开发来说更是具有至关重要的作用。在这种开发生产中，基于同一个软件体系结构，可以创建具有不同功能的多个系统。在软件产品族之间共享体系结构和一组可重用的构件，可以降低开发和维护的成本。</a:t>
            </a:r>
            <a:endParaRPr lang="zh-CN" altLang="en-US" sz="2400" b="0" dirty="0">
              <a:solidFill>
                <a:schemeClr val="tx1"/>
              </a:solidFill>
            </a:endParaRPr>
          </a:p>
        </p:txBody>
      </p:sp>
    </p:spTree>
  </p:cSld>
  <p:clrMapOvr>
    <a:masterClrMapping/>
  </p:clrMapOvr>
  <p:transition>
    <p:wipe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lstStyle/>
          <a:p>
            <a:pPr eaLnBrk="1" hangingPunct="1"/>
            <a:r>
              <a:rPr lang="en-US" altLang="zh-CN"/>
              <a:t>2 SA</a:t>
            </a:r>
            <a:r>
              <a:rPr lang="zh-CN" altLang="en-US"/>
              <a:t>的定义</a:t>
            </a:r>
            <a:endParaRPr lang="zh-CN" altLang="en-US"/>
          </a:p>
        </p:txBody>
      </p:sp>
      <p:sp>
        <p:nvSpPr>
          <p:cNvPr id="2" name="Rectangle 3"/>
          <p:cNvSpPr>
            <a:spLocks noGrp="1" noChangeArrowheads="1"/>
          </p:cNvSpPr>
          <p:nvPr>
            <p:ph idx="1"/>
          </p:nvPr>
        </p:nvSpPr>
        <p:spPr/>
        <p:txBody>
          <a:bodyPr/>
          <a:lstStyle/>
          <a:p>
            <a:pPr eaLnBrk="1" hangingPunct="1">
              <a:defRPr/>
            </a:pPr>
            <a:r>
              <a:rPr lang="zh-CN" altLang="en-US" sz="2800" dirty="0"/>
              <a:t>“</a:t>
            </a:r>
            <a:r>
              <a:rPr lang="en-US" altLang="zh-CN" sz="2800" dirty="0"/>
              <a:t>There is no standard, universally-accepted definition of the term, for software architecture is a field in its infancy, although its roots run deep in software engineering. ”</a:t>
            </a:r>
            <a:br>
              <a:rPr lang="en-US" altLang="zh-CN" sz="2800" dirty="0"/>
            </a:br>
            <a:r>
              <a:rPr lang="en-US" altLang="zh-CN" sz="2800" dirty="0">
                <a:hlinkClick r:id="rId1"/>
              </a:rPr>
              <a:t>http://www.sei.cmu.edu/architecture/definitions.html</a:t>
            </a:r>
            <a:endParaRPr lang="en-US" altLang="zh-CN" sz="2800" dirty="0"/>
          </a:p>
          <a:p>
            <a:pPr eaLnBrk="1" hangingPunct="1">
              <a:buFont typeface="Wingdings" panose="05000000000000000000" pitchFamily="2" charset="2"/>
              <a:buNone/>
              <a:defRPr/>
            </a:pPr>
            <a:r>
              <a:rPr lang="en-US" altLang="zh-CN" sz="2800" dirty="0">
                <a:latin typeface="宋体" panose="02010600030101010101" pitchFamily="2" charset="-122"/>
              </a:rPr>
              <a:t>  </a:t>
            </a:r>
            <a:r>
              <a:rPr lang="zh-CN" altLang="en-US" sz="2800" dirty="0">
                <a:latin typeface="宋体" panose="02010600030101010101" pitchFamily="2" charset="-122"/>
              </a:rPr>
              <a:t>软件体系结构尚处在发展期，对于其定义，目前学术界尚未形成统一意见，不同学者有不同看法。</a:t>
            </a:r>
            <a:r>
              <a:rPr lang="zh-CN" altLang="en-US" sz="2800" dirty="0"/>
              <a:t> </a:t>
            </a:r>
            <a:endParaRPr lang="zh-CN" altLang="en-US" sz="2800" dirty="0"/>
          </a:p>
        </p:txBody>
      </p:sp>
      <p:sp>
        <p:nvSpPr>
          <p:cNvPr id="38915"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DF3495FE-03BE-47BE-BAEC-B71CE8D9E4E4}" type="datetime1">
              <a:rPr lang="zh-CN" altLang="en-US" sz="1200" smtClean="0">
                <a:solidFill>
                  <a:schemeClr val="tx1"/>
                </a:solidFill>
              </a:rPr>
            </a:fld>
            <a:endParaRPr lang="zh-CN" altLang="en-US" sz="1200">
              <a:solidFill>
                <a:schemeClr val="tx1"/>
              </a:solidFill>
            </a:endParaRPr>
          </a:p>
        </p:txBody>
      </p:sp>
      <p:sp>
        <p:nvSpPr>
          <p:cNvPr id="38914"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731A08F-9DE0-4E7C-8DFD-8C5B0EB8D9C8}"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1331491"/>
            <a:ext cx="8496944" cy="4351338"/>
          </a:xfrm>
        </p:spPr>
        <p:txBody>
          <a:bodyPr/>
          <a:lstStyle/>
          <a:p>
            <a:r>
              <a:rPr lang="zh-CN" altLang="en-US" b="1" dirty="0"/>
              <a:t>软件体系结构的定义一出现就存在比较大的争论。</a:t>
            </a:r>
            <a:endParaRPr lang="zh-CN" altLang="en-US" b="1" dirty="0"/>
          </a:p>
          <a:p>
            <a:pPr lvl="1">
              <a:lnSpc>
                <a:spcPct val="150000"/>
              </a:lnSpc>
              <a:spcBef>
                <a:spcPts val="600"/>
              </a:spcBef>
              <a:spcAft>
                <a:spcPts val="600"/>
              </a:spcAft>
            </a:pPr>
            <a:r>
              <a:rPr lang="zh-CN" altLang="en-US" sz="2500" dirty="0"/>
              <a:t>研究人员一般认为：软件体系结构就是一个系统的草图。</a:t>
            </a:r>
            <a:endParaRPr lang="zh-CN" altLang="en-US" sz="2500" dirty="0"/>
          </a:p>
          <a:p>
            <a:pPr lvl="1">
              <a:lnSpc>
                <a:spcPct val="150000"/>
              </a:lnSpc>
              <a:spcBef>
                <a:spcPts val="600"/>
              </a:spcBef>
              <a:spcAft>
                <a:spcPts val="600"/>
              </a:spcAft>
            </a:pPr>
            <a:r>
              <a:rPr lang="zh-CN" altLang="en-US" sz="2500" dirty="0"/>
              <a:t>业界人士虽然也认同研究人员对软件体系结构概念的描述，但实际上很多时候很难用某个软件体系结构定义来对问题进行系统的、全面的、准确的刻画，也很难解决到满意的程度。</a:t>
            </a:r>
            <a:endParaRPr lang="zh-CN" altLang="en-US" sz="2500" dirty="0"/>
          </a:p>
          <a:p>
            <a:pPr lvl="1">
              <a:lnSpc>
                <a:spcPct val="150000"/>
              </a:lnSpc>
              <a:spcBef>
                <a:spcPts val="600"/>
              </a:spcBef>
              <a:spcAft>
                <a:spcPts val="600"/>
              </a:spcAft>
            </a:pPr>
            <a:r>
              <a:rPr lang="zh-CN" altLang="en-US" sz="2500" dirty="0"/>
              <a:t>由于学术界和工业界的联系不紧密，导致对软件体系结构的认识不一致，使得软件体系结构至今很难有个统一的定义。</a:t>
            </a:r>
            <a:endParaRPr lang="zh-CN" altLang="en-US" sz="2500" dirty="0"/>
          </a:p>
          <a:p>
            <a:endParaRPr lang="zh-CN" altLang="en-US" dirty="0"/>
          </a:p>
        </p:txBody>
      </p:sp>
      <p:sp>
        <p:nvSpPr>
          <p:cNvPr id="4" name="灯片编号占位符 3"/>
          <p:cNvSpPr>
            <a:spLocks noGrp="1"/>
          </p:cNvSpPr>
          <p:nvPr>
            <p:ph type="sldNum" sz="quarter" idx="11"/>
          </p:nvPr>
        </p:nvSpPr>
        <p:spPr/>
        <p:txBody>
          <a:bodyPr/>
          <a:lstStyle/>
          <a:p>
            <a:pPr>
              <a:defRPr/>
            </a:pPr>
            <a:fld id="{6BF530E8-F43B-4C96-89F0-9964C1590B71}" type="slidenum">
              <a:rPr lang="zh-CN" altLang="en-US" smtClean="0"/>
            </a:fld>
            <a:endParaRPr lang="zh-CN" altLang="en-US"/>
          </a:p>
        </p:txBody>
      </p:sp>
    </p:spTree>
  </p:cSld>
  <p:clrMapOvr>
    <a:masterClrMapping/>
  </p:clrMapOvr>
  <p:transition>
    <p:wipe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定义概述</a:t>
            </a:r>
            <a:endParaRPr lang="zh-CN" altLang="en-US" dirty="0"/>
          </a:p>
        </p:txBody>
      </p:sp>
      <p:sp>
        <p:nvSpPr>
          <p:cNvPr id="3" name="内容占位符 2"/>
          <p:cNvSpPr>
            <a:spLocks noGrp="1"/>
          </p:cNvSpPr>
          <p:nvPr>
            <p:ph idx="1"/>
          </p:nvPr>
        </p:nvSpPr>
        <p:spPr>
          <a:xfrm>
            <a:off x="628650" y="1412776"/>
            <a:ext cx="7886700" cy="4764187"/>
          </a:xfrm>
        </p:spPr>
        <p:txBody>
          <a:bodyPr/>
          <a:lstStyle/>
          <a:p>
            <a:pPr>
              <a:lnSpc>
                <a:spcPct val="170000"/>
              </a:lnSpc>
            </a:pPr>
            <a:r>
              <a:rPr lang="zh-CN" altLang="en-US" b="1" dirty="0">
                <a:latin typeface="+mn-ea"/>
              </a:rPr>
              <a:t>软件体系结构的定义驳杂多端，其中影响较大的定义派别是：</a:t>
            </a:r>
            <a:r>
              <a:rPr lang="zh-CN" altLang="en-US" b="1" dirty="0">
                <a:solidFill>
                  <a:srgbClr val="FF0000"/>
                </a:solidFill>
                <a:latin typeface="+mn-ea"/>
              </a:rPr>
              <a:t>组成派和决策派</a:t>
            </a:r>
            <a:r>
              <a:rPr lang="zh-CN" altLang="en-US" b="1" dirty="0">
                <a:latin typeface="+mn-ea"/>
              </a:rPr>
              <a:t>。</a:t>
            </a:r>
            <a:endParaRPr lang="zh-CN" altLang="en-US" b="1" dirty="0">
              <a:latin typeface="+mn-ea"/>
            </a:endParaRPr>
          </a:p>
          <a:p>
            <a:pPr>
              <a:lnSpc>
                <a:spcPct val="170000"/>
              </a:lnSpc>
            </a:pPr>
            <a:r>
              <a:rPr lang="zh-CN" altLang="en-US" b="1" dirty="0">
                <a:solidFill>
                  <a:srgbClr val="FF0000"/>
                </a:solidFill>
                <a:latin typeface="+mn-ea"/>
              </a:rPr>
              <a:t>组成派</a:t>
            </a:r>
            <a:r>
              <a:rPr lang="zh-CN" altLang="en-US" b="1" dirty="0">
                <a:latin typeface="+mn-ea"/>
              </a:rPr>
              <a:t>关注于软件本身，将软件体系结构看做构件和交互的集合；</a:t>
            </a:r>
            <a:endParaRPr lang="zh-CN" altLang="en-US" b="1" dirty="0">
              <a:latin typeface="+mn-ea"/>
            </a:endParaRPr>
          </a:p>
          <a:p>
            <a:pPr>
              <a:lnSpc>
                <a:spcPct val="170000"/>
              </a:lnSpc>
            </a:pPr>
            <a:r>
              <a:rPr lang="zh-CN" altLang="en-US" b="1" dirty="0">
                <a:solidFill>
                  <a:srgbClr val="FF0000"/>
                </a:solidFill>
                <a:latin typeface="+mn-ea"/>
              </a:rPr>
              <a:t>决策派</a:t>
            </a:r>
            <a:r>
              <a:rPr lang="zh-CN" altLang="en-US" b="1" dirty="0">
                <a:latin typeface="+mn-ea"/>
              </a:rPr>
              <a:t>关注于软件体系结构中的实体（人），将软件体系结构视为一系列重要设计决策的集合。</a:t>
            </a:r>
            <a:endParaRPr lang="zh-CN" altLang="en-US" b="1" dirty="0">
              <a:latin typeface="+mn-ea"/>
            </a:endParaRPr>
          </a:p>
          <a:p>
            <a:endParaRPr lang="zh-CN" altLang="en-US" dirty="0"/>
          </a:p>
        </p:txBody>
      </p:sp>
      <p:sp>
        <p:nvSpPr>
          <p:cNvPr id="4" name="灯片编号占位符 3"/>
          <p:cNvSpPr>
            <a:spLocks noGrp="1"/>
          </p:cNvSpPr>
          <p:nvPr>
            <p:ph type="sldNum" sz="quarter" idx="11"/>
          </p:nvPr>
        </p:nvSpPr>
        <p:spPr/>
        <p:txBody>
          <a:bodyPr/>
          <a:lstStyle/>
          <a:p>
            <a:pPr>
              <a:defRPr/>
            </a:pPr>
            <a:fld id="{6BF530E8-F43B-4C96-89F0-9964C1590B71}" type="slidenum">
              <a:rPr lang="zh-CN" altLang="en-US" smtClean="0"/>
            </a:fld>
            <a:endParaRPr lang="zh-CN" altLang="en-US"/>
          </a:p>
        </p:txBody>
      </p:sp>
    </p:spTree>
  </p:cSld>
  <p:clrMapOvr>
    <a:masterClrMapping/>
  </p:clrMapOvr>
  <p:transition>
    <p:wipe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组成派的主要定义</a:t>
            </a:r>
            <a:endParaRPr lang="zh-CN" altLang="en-US" dirty="0"/>
          </a:p>
        </p:txBody>
      </p:sp>
      <p:sp>
        <p:nvSpPr>
          <p:cNvPr id="3" name="内容占位符 2"/>
          <p:cNvSpPr>
            <a:spLocks noGrp="1"/>
          </p:cNvSpPr>
          <p:nvPr>
            <p:ph idx="1"/>
          </p:nvPr>
        </p:nvSpPr>
        <p:spPr/>
        <p:txBody>
          <a:bodyPr/>
          <a:lstStyle/>
          <a:p>
            <a:r>
              <a:rPr lang="en-US" altLang="zh-CN" sz="3200" dirty="0">
                <a:solidFill>
                  <a:srgbClr val="000000"/>
                </a:solidFill>
                <a:latin typeface="+mn-ea"/>
              </a:rPr>
              <a:t> </a:t>
            </a:r>
            <a:r>
              <a:rPr lang="en-US" altLang="zh-CN" sz="3200" dirty="0" err="1">
                <a:solidFill>
                  <a:srgbClr val="000000"/>
                </a:solidFill>
                <a:latin typeface="+mn-ea"/>
              </a:rPr>
              <a:t>组成派定义</a:t>
            </a:r>
            <a:r>
              <a:rPr lang="zh-CN" altLang="en-US" sz="3200" dirty="0">
                <a:solidFill>
                  <a:srgbClr val="000000"/>
                </a:solidFill>
                <a:latin typeface="+mn-ea"/>
              </a:rPr>
              <a:t>依据：</a:t>
            </a:r>
            <a:r>
              <a:rPr lang="en-US" altLang="zh-CN" sz="3200" dirty="0" err="1">
                <a:solidFill>
                  <a:srgbClr val="000000"/>
                </a:solidFill>
                <a:latin typeface="+mn-ea"/>
              </a:rPr>
              <a:t>软件</a:t>
            </a:r>
            <a:r>
              <a:rPr lang="zh-CN" altLang="en-US" sz="3200" dirty="0">
                <a:solidFill>
                  <a:srgbClr val="000000"/>
                </a:solidFill>
                <a:latin typeface="+mn-ea"/>
              </a:rPr>
              <a:t>体系结构</a:t>
            </a:r>
            <a:r>
              <a:rPr lang="en-US" altLang="zh-CN" sz="3200" dirty="0" err="1">
                <a:solidFill>
                  <a:srgbClr val="000000"/>
                </a:solidFill>
                <a:latin typeface="+mn-ea"/>
              </a:rPr>
              <a:t>主要反映系统由哪些部分组成，以及这些部分是如何组成的，强调软件系统的整体结构和配置</a:t>
            </a:r>
            <a:r>
              <a:rPr lang="en-US" altLang="zh-CN" sz="3200" dirty="0">
                <a:solidFill>
                  <a:srgbClr val="000000"/>
                </a:solidFill>
                <a:latin typeface="+mn-ea"/>
              </a:rPr>
              <a:t>。</a:t>
            </a:r>
            <a:endParaRPr lang="zh-CN" altLang="en-US" sz="3200" dirty="0">
              <a:latin typeface="+mn-ea"/>
            </a:endParaRPr>
          </a:p>
        </p:txBody>
      </p:sp>
      <p:sp>
        <p:nvSpPr>
          <p:cNvPr id="4" name="灯片编号占位符 3"/>
          <p:cNvSpPr>
            <a:spLocks noGrp="1"/>
          </p:cNvSpPr>
          <p:nvPr>
            <p:ph type="sldNum" sz="quarter" idx="11"/>
          </p:nvPr>
        </p:nvSpPr>
        <p:spPr/>
        <p:txBody>
          <a:bodyPr/>
          <a:lstStyle/>
          <a:p>
            <a:pPr>
              <a:defRPr/>
            </a:pPr>
            <a:fld id="{6BF530E8-F43B-4C96-89F0-9964C1590B71}" type="slidenum">
              <a:rPr lang="zh-CN" altLang="en-US" smtClean="0"/>
            </a:fld>
            <a:endParaRPr lang="zh-CN" altLang="en-US"/>
          </a:p>
        </p:txBody>
      </p:sp>
    </p:spTree>
  </p:cSld>
  <p:clrMapOvr>
    <a:masterClrMapping/>
  </p:clrMapOvr>
  <p:transition>
    <p:wipe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p:txBody>
          <a:bodyPr/>
          <a:lstStyle/>
          <a:p>
            <a:pPr eaLnBrk="1" hangingPunct="1"/>
            <a:r>
              <a:rPr lang="en-US" altLang="zh-CN"/>
              <a:t>SA</a:t>
            </a:r>
            <a:r>
              <a:rPr lang="zh-CN" altLang="en-US"/>
              <a:t>的定义</a:t>
            </a:r>
            <a:endParaRPr lang="zh-CN" altLang="en-US"/>
          </a:p>
        </p:txBody>
      </p:sp>
      <p:sp>
        <p:nvSpPr>
          <p:cNvPr id="2" name="Rectangle 3"/>
          <p:cNvSpPr>
            <a:spLocks noGrp="1" noChangeArrowheads="1"/>
          </p:cNvSpPr>
          <p:nvPr>
            <p:ph idx="1"/>
          </p:nvPr>
        </p:nvSpPr>
        <p:spPr/>
        <p:txBody>
          <a:bodyPr/>
          <a:lstStyle/>
          <a:p>
            <a:pPr marL="290830" indent="0">
              <a:defRPr/>
            </a:pPr>
            <a:r>
              <a:rPr lang="zh-CN" altLang="en-US" dirty="0"/>
              <a:t> Dewayne </a:t>
            </a:r>
            <a:r>
              <a:rPr lang="en-US" altLang="zh-CN" dirty="0"/>
              <a:t>Perry and </a:t>
            </a:r>
            <a:r>
              <a:rPr lang="zh-CN" altLang="en-US" dirty="0"/>
              <a:t>Alexander </a:t>
            </a:r>
            <a:r>
              <a:rPr lang="en-US" altLang="zh-CN" dirty="0"/>
              <a:t>Wolf</a:t>
            </a:r>
            <a:r>
              <a:rPr lang="en-US" altLang="zh-CN" sz="2800" dirty="0"/>
              <a:t>, 1992:</a:t>
            </a:r>
            <a:br>
              <a:rPr lang="en-US" altLang="zh-CN" sz="2800" dirty="0"/>
            </a:br>
            <a:br>
              <a:rPr lang="en-US" altLang="zh-CN" sz="2800" dirty="0"/>
            </a:br>
            <a:r>
              <a:rPr lang="en-US" altLang="zh-CN" sz="2000" dirty="0">
                <a:solidFill>
                  <a:srgbClr val="FF3399"/>
                </a:solidFill>
              </a:rPr>
              <a:t>A set of architectural</a:t>
            </a:r>
            <a:r>
              <a:rPr lang="en-US" altLang="zh-CN" sz="2000" dirty="0"/>
              <a:t> (or, if you will, design) </a:t>
            </a:r>
            <a:r>
              <a:rPr lang="en-US" altLang="zh-CN" sz="2000" dirty="0">
                <a:solidFill>
                  <a:srgbClr val="FF3399"/>
                </a:solidFill>
              </a:rPr>
              <a:t>elements that have a particular form</a:t>
            </a:r>
            <a:r>
              <a:rPr lang="en-US" altLang="zh-CN" sz="2000" dirty="0"/>
              <a:t>. Perry and Wolf distinguish between </a:t>
            </a:r>
            <a:r>
              <a:rPr lang="en-US" altLang="zh-CN" sz="2000" dirty="0">
                <a:solidFill>
                  <a:srgbClr val="FF3399"/>
                </a:solidFill>
              </a:rPr>
              <a:t>processing elements, data elements, and connecting elements</a:t>
            </a:r>
            <a:r>
              <a:rPr lang="en-US" altLang="zh-CN" sz="2000" dirty="0"/>
              <a:t>, and this taxonomy by and large persists through most other definitions and approaches. </a:t>
            </a:r>
            <a:endParaRPr lang="en-US" altLang="zh-CN" sz="2000" dirty="0"/>
          </a:p>
          <a:p>
            <a:pPr marL="290830" indent="0" eaLnBrk="1" hangingPunct="1">
              <a:buFont typeface="Wingdings" panose="05000000000000000000" pitchFamily="2" charset="2"/>
              <a:buNone/>
              <a:defRPr/>
            </a:pPr>
            <a:r>
              <a:rPr lang="zh-CN" altLang="en-US" sz="2000" dirty="0">
                <a:effectLst>
                  <a:outerShdw blurRad="38100" dist="38100" dir="2700000" algn="tl">
                    <a:srgbClr val="C0C0C0"/>
                  </a:outerShdw>
                </a:effectLst>
                <a:latin typeface="宋体" panose="02010600030101010101" pitchFamily="2" charset="-122"/>
              </a:rPr>
              <a:t>软件体系结构是一组具有特定形式的体系结构元素</a:t>
            </a:r>
            <a:r>
              <a:rPr lang="en-US" altLang="zh-CN" sz="2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(elements)</a:t>
            </a:r>
            <a:r>
              <a:rPr lang="zh-CN" altLang="en-US" sz="2000" dirty="0">
                <a:effectLst>
                  <a:outerShdw blurRad="38100" dist="38100" dir="2700000" algn="tl">
                    <a:srgbClr val="C0C0C0"/>
                  </a:outerShdw>
                </a:effectLst>
                <a:latin typeface="宋体" panose="02010600030101010101" pitchFamily="2" charset="-122"/>
              </a:rPr>
              <a:t>。这组元素分为</a:t>
            </a:r>
            <a:r>
              <a:rPr lang="en-US" altLang="zh-CN" sz="2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3</a:t>
            </a:r>
            <a:r>
              <a:rPr lang="zh-CN" altLang="en-US" sz="2000" dirty="0">
                <a:effectLst>
                  <a:outerShdw blurRad="38100" dist="38100" dir="2700000" algn="tl">
                    <a:srgbClr val="C0C0C0"/>
                  </a:outerShdw>
                </a:effectLst>
                <a:latin typeface="宋体" panose="02010600030101010101" pitchFamily="2" charset="-122"/>
              </a:rPr>
              <a:t>类：负责完成数据加工的处理元素</a:t>
            </a:r>
            <a:r>
              <a:rPr lang="en-US" altLang="zh-CN" sz="2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(processing elements)</a:t>
            </a:r>
            <a:r>
              <a:rPr lang="zh-CN" altLang="en-US" sz="2000" dirty="0">
                <a:effectLst>
                  <a:outerShdw blurRad="38100" dist="38100" dir="2700000" algn="tl">
                    <a:srgbClr val="C0C0C0"/>
                  </a:outerShdw>
                </a:effectLst>
                <a:latin typeface="宋体" panose="02010600030101010101" pitchFamily="2" charset="-122"/>
              </a:rPr>
              <a:t>、作为被加工的信息的数据元素</a:t>
            </a:r>
            <a:r>
              <a:rPr lang="en-US" altLang="zh-CN" sz="2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(data elements)</a:t>
            </a:r>
            <a:r>
              <a:rPr lang="zh-CN" altLang="en-US" sz="2000" dirty="0">
                <a:effectLst>
                  <a:outerShdw blurRad="38100" dist="38100" dir="2700000" algn="tl">
                    <a:srgbClr val="C0C0C0"/>
                  </a:outerShdw>
                </a:effectLst>
                <a:latin typeface="宋体" panose="02010600030101010101" pitchFamily="2" charset="-122"/>
              </a:rPr>
              <a:t>和连接元素</a:t>
            </a:r>
            <a:r>
              <a:rPr lang="en-US" altLang="zh-CN" sz="2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(connecting elements)</a:t>
            </a:r>
            <a:r>
              <a:rPr lang="zh-CN" altLang="en-US" sz="2000" dirty="0">
                <a:effectLst>
                  <a:outerShdw blurRad="38100" dist="38100" dir="2700000" algn="tl">
                    <a:srgbClr val="C0C0C0"/>
                  </a:outerShdw>
                </a:effectLst>
                <a:latin typeface="宋体" panose="02010600030101010101" pitchFamily="2" charset="-122"/>
              </a:rPr>
              <a:t>。连接元素用于把体系结构的不同部分组合连接到一起。</a:t>
            </a:r>
            <a:endParaRPr lang="zh-CN" altLang="en-US" sz="2800" dirty="0"/>
          </a:p>
        </p:txBody>
      </p:sp>
      <p:sp>
        <p:nvSpPr>
          <p:cNvPr id="53251"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23036568-A9BD-487B-9A5F-26219451C757}" type="datetime1">
              <a:rPr lang="zh-CN" altLang="en-US" sz="1200" smtClean="0">
                <a:solidFill>
                  <a:schemeClr val="tx1"/>
                </a:solidFill>
              </a:rPr>
            </a:fld>
            <a:endParaRPr lang="zh-CN" altLang="en-US" sz="1200">
              <a:solidFill>
                <a:schemeClr val="tx1"/>
              </a:solidFill>
            </a:endParaRPr>
          </a:p>
        </p:txBody>
      </p:sp>
      <p:sp>
        <p:nvSpPr>
          <p:cNvPr id="53250"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AC30C169-2AA6-491F-95EB-2F03CAE25CBE}"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p:txBody>
          <a:bodyPr/>
          <a:lstStyle/>
          <a:p>
            <a:pPr eaLnBrk="1" hangingPunct="1"/>
            <a:r>
              <a:rPr lang="en-US" altLang="zh-CN"/>
              <a:t>SA</a:t>
            </a:r>
            <a:r>
              <a:rPr lang="zh-CN" altLang="en-US"/>
              <a:t>的定义</a:t>
            </a:r>
            <a:endParaRPr lang="zh-CN" altLang="en-US"/>
          </a:p>
        </p:txBody>
      </p:sp>
      <p:sp>
        <p:nvSpPr>
          <p:cNvPr id="55301" name="Rectangle 3"/>
          <p:cNvSpPr>
            <a:spLocks noGrp="1" noChangeArrowheads="1"/>
          </p:cNvSpPr>
          <p:nvPr>
            <p:ph idx="1"/>
          </p:nvPr>
        </p:nvSpPr>
        <p:spPr>
          <a:xfrm>
            <a:off x="107504" y="1825625"/>
            <a:ext cx="8407846" cy="4351338"/>
          </a:xfrm>
        </p:spPr>
        <p:txBody>
          <a:bodyPr/>
          <a:lstStyle/>
          <a:p>
            <a:pPr marL="290830" indent="0" eaLnBrk="1" hangingPunct="1">
              <a:buFont typeface="Wingdings" panose="05000000000000000000" pitchFamily="2" charset="2"/>
              <a:buNone/>
            </a:pPr>
            <a:r>
              <a:rPr lang="zh-CN" altLang="en-US" dirty="0">
                <a:latin typeface="Times New Roman" panose="02020603050405020304" pitchFamily="18" charset="0"/>
              </a:rPr>
              <a:t>定义</a:t>
            </a:r>
            <a:r>
              <a:rPr lang="en-US" altLang="zh-CN" dirty="0">
                <a:latin typeface="宋体" panose="02010600030101010101" pitchFamily="2" charset="-122"/>
              </a:rPr>
              <a:t>1</a:t>
            </a:r>
            <a:r>
              <a:rPr lang="en-US" altLang="zh-CN" dirty="0">
                <a:latin typeface="Times New Roman" panose="02020603050405020304" pitchFamily="18" charset="0"/>
              </a:rPr>
              <a:t>: (</a:t>
            </a:r>
            <a:r>
              <a:rPr lang="en-US" altLang="zh-CN" sz="2800" dirty="0">
                <a:latin typeface="Times New Roman" panose="02020603050405020304" pitchFamily="18" charset="0"/>
              </a:rPr>
              <a:t>Perry</a:t>
            </a:r>
            <a:r>
              <a:rPr lang="zh-CN" altLang="en-US" sz="2800" dirty="0">
                <a:latin typeface="宋体" panose="02010600030101010101" pitchFamily="2" charset="-122"/>
              </a:rPr>
              <a:t>＆</a:t>
            </a:r>
            <a:r>
              <a:rPr lang="en-US" altLang="zh-CN" sz="2800" dirty="0">
                <a:latin typeface="Times New Roman" panose="02020603050405020304" pitchFamily="18" charset="0"/>
              </a:rPr>
              <a:t>Wolf</a:t>
            </a:r>
            <a:r>
              <a:rPr lang="zh-CN" altLang="en-US" sz="2800" dirty="0">
                <a:latin typeface="宋体" panose="02010600030101010101" pitchFamily="2" charset="-122"/>
              </a:rPr>
              <a:t>模型</a:t>
            </a:r>
            <a:r>
              <a:rPr lang="zh-CN" altLang="en-US" sz="2800" dirty="0">
                <a:latin typeface="Times New Roman" panose="02020603050405020304" pitchFamily="18" charset="0"/>
              </a:rPr>
              <a:t> </a:t>
            </a:r>
            <a:r>
              <a:rPr lang="en-US" altLang="zh-CN" dirty="0">
                <a:latin typeface="Times New Roman" panose="02020603050405020304" pitchFamily="18" charset="0"/>
              </a:rPr>
              <a:t>) </a:t>
            </a:r>
            <a:br>
              <a:rPr lang="en-US" altLang="zh-CN" dirty="0">
                <a:latin typeface="Times New Roman" panose="02020603050405020304" pitchFamily="18" charset="0"/>
              </a:rPr>
            </a:br>
            <a:endParaRPr lang="en-US" altLang="zh-CN" dirty="0">
              <a:latin typeface="宋体" panose="02010600030101010101" pitchFamily="2" charset="-122"/>
            </a:endParaRPr>
          </a:p>
          <a:p>
            <a:pPr marL="290830" indent="0" algn="ctr" eaLnBrk="1" hangingPunct="1">
              <a:buFont typeface="Wingdings" panose="05000000000000000000" pitchFamily="2" charset="2"/>
              <a:buNone/>
            </a:pPr>
            <a:r>
              <a:rPr lang="zh-CN" altLang="en-US" sz="2800" dirty="0">
                <a:latin typeface="宋体" panose="02010600030101010101" pitchFamily="2" charset="-122"/>
              </a:rPr>
              <a:t>软件体系结构</a:t>
            </a:r>
            <a:r>
              <a:rPr lang="en-US" altLang="zh-CN" sz="2800" dirty="0">
                <a:latin typeface="Times New Roman" panose="02020603050405020304" pitchFamily="18" charset="0"/>
              </a:rPr>
              <a:t>={</a:t>
            </a:r>
            <a:r>
              <a:rPr lang="zh-CN" altLang="en-US" sz="2800" dirty="0">
                <a:latin typeface="宋体" panose="02010600030101010101" pitchFamily="2" charset="-122"/>
              </a:rPr>
              <a:t>元素，形式，准则</a:t>
            </a:r>
            <a:r>
              <a:rPr lang="en-US" altLang="zh-CN" sz="2800" dirty="0">
                <a:latin typeface="Times New Roman" panose="02020603050405020304" pitchFamily="18" charset="0"/>
              </a:rPr>
              <a:t>}</a:t>
            </a:r>
            <a:r>
              <a:rPr lang="zh-CN" altLang="en-US" sz="2800" dirty="0">
                <a:latin typeface="宋体" panose="02010600030101010101" pitchFamily="2" charset="-122"/>
              </a:rPr>
              <a:t>。</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a:p>
            <a:pPr marL="290830" indent="0" algn="just" eaLnBrk="1" hangingPunct="1">
              <a:buFont typeface="Wingdings" panose="05000000000000000000" pitchFamily="2" charset="2"/>
              <a:buNone/>
            </a:pPr>
            <a:endParaRPr lang="zh-CN" altLang="en-US" sz="2400" dirty="0">
              <a:latin typeface="宋体" panose="02010600030101010101" pitchFamily="2" charset="-122"/>
            </a:endParaRPr>
          </a:p>
          <a:p>
            <a:pPr lvl="1"/>
            <a:r>
              <a:rPr lang="zh-CN" altLang="en-US" dirty="0">
                <a:latin typeface="Times New Roman" panose="02020603050405020304" pitchFamily="18" charset="0"/>
                <a:cs typeface="Times New Roman" panose="02020603050405020304" pitchFamily="18" charset="0"/>
              </a:rPr>
              <a:t>其中，元素是指具有一定形式的结构化元素。包括处理元素（</a:t>
            </a:r>
            <a:r>
              <a:rPr lang="en-US" altLang="zh-CN" dirty="0">
                <a:latin typeface="Times New Roman" panose="02020603050405020304" pitchFamily="18" charset="0"/>
                <a:cs typeface="Times New Roman" panose="02020603050405020304" pitchFamily="18" charset="0"/>
              </a:rPr>
              <a:t>processing elements</a:t>
            </a:r>
            <a:r>
              <a:rPr lang="zh-CN" altLang="en-US" dirty="0">
                <a:latin typeface="Times New Roman" panose="02020603050405020304" pitchFamily="18" charset="0"/>
                <a:cs typeface="Times New Roman" panose="02020603050405020304" pitchFamily="18" charset="0"/>
              </a:rPr>
              <a:t>）、数据元素（</a:t>
            </a:r>
            <a:r>
              <a:rPr lang="en-US" altLang="zh-CN" dirty="0">
                <a:latin typeface="Times New Roman" panose="02020603050405020304" pitchFamily="18" charset="0"/>
                <a:cs typeface="Times New Roman" panose="02020603050405020304" pitchFamily="18" charset="0"/>
              </a:rPr>
              <a:t>data elements</a:t>
            </a:r>
            <a:r>
              <a:rPr lang="zh-CN" altLang="en-US" dirty="0">
                <a:latin typeface="Times New Roman" panose="02020603050405020304" pitchFamily="18" charset="0"/>
                <a:cs typeface="Times New Roman" panose="02020603050405020304" pitchFamily="18" charset="0"/>
              </a:rPr>
              <a:t>）和连接元素（</a:t>
            </a:r>
            <a:r>
              <a:rPr lang="en-US" altLang="zh-CN" dirty="0">
                <a:latin typeface="Times New Roman" panose="02020603050405020304" pitchFamily="18" charset="0"/>
                <a:cs typeface="Times New Roman" panose="02020603050405020304" pitchFamily="18" charset="0"/>
              </a:rPr>
              <a:t>connecting elements</a:t>
            </a:r>
            <a:r>
              <a:rPr lang="zh-CN"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体系结构组成由加权的属性（</a:t>
            </a:r>
            <a:r>
              <a:rPr lang="en-US" altLang="zh-CN" dirty="0">
                <a:latin typeface="Times New Roman" panose="02020603050405020304" pitchFamily="18" charset="0"/>
                <a:cs typeface="Times New Roman" panose="02020603050405020304" pitchFamily="18" charset="0"/>
              </a:rPr>
              <a:t>weighted properties</a:t>
            </a:r>
            <a:r>
              <a:rPr lang="zh-CN" altLang="en-US" dirty="0">
                <a:latin typeface="Times New Roman" panose="02020603050405020304" pitchFamily="18" charset="0"/>
                <a:cs typeface="Times New Roman" panose="02020603050405020304" pitchFamily="18" charset="0"/>
              </a:rPr>
              <a:t>）和关系（</a:t>
            </a:r>
            <a:r>
              <a:rPr lang="en-US" altLang="zh-CN" dirty="0">
                <a:latin typeface="Times New Roman" panose="02020603050405020304" pitchFamily="18" charset="0"/>
                <a:cs typeface="Times New Roman" panose="02020603050405020304" pitchFamily="18" charset="0"/>
              </a:rPr>
              <a:t>weighted relationships</a:t>
            </a:r>
            <a:r>
              <a:rPr lang="zh-CN" altLang="en-US" dirty="0">
                <a:latin typeface="Times New Roman" panose="02020603050405020304" pitchFamily="18" charset="0"/>
                <a:cs typeface="Times New Roman" panose="02020603050405020304" pitchFamily="18" charset="0"/>
              </a:rPr>
              <a:t>）构成。属性用来约束体系结构元素的选择，关系用来约束体系结构元素的放置（</a:t>
            </a:r>
            <a:r>
              <a:rPr lang="en-US" altLang="zh-CN" dirty="0">
                <a:latin typeface="Times New Roman" panose="02020603050405020304" pitchFamily="18" charset="0"/>
                <a:cs typeface="Times New Roman" panose="02020603050405020304" pitchFamily="18" charset="0"/>
              </a:rPr>
              <a:t>placement</a:t>
            </a:r>
            <a:r>
              <a:rPr lang="zh-CN"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体系结构准则</a:t>
            </a:r>
            <a:r>
              <a:rPr lang="zh-CN" altLang="en-US" dirty="0"/>
              <a:t>捕获在选择体系结构风格、体系结构元素和体系结构形式的选择动机。</a:t>
            </a:r>
            <a:endParaRPr lang="zh-CN" altLang="en-US" dirty="0"/>
          </a:p>
        </p:txBody>
      </p:sp>
      <p:sp>
        <p:nvSpPr>
          <p:cNvPr id="55298"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A625EF36-787B-462E-9608-1139B463A7D3}"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Grp="1" noChangeArrowheads="1"/>
          </p:cNvSpPr>
          <p:nvPr>
            <p:ph type="title"/>
          </p:nvPr>
        </p:nvSpPr>
        <p:spPr/>
        <p:txBody>
          <a:bodyPr/>
          <a:lstStyle/>
          <a:p>
            <a:pPr eaLnBrk="1" hangingPunct="1"/>
            <a:r>
              <a:rPr lang="en-US" altLang="zh-CN"/>
              <a:t>SA</a:t>
            </a:r>
            <a:r>
              <a:rPr lang="zh-CN" altLang="en-US"/>
              <a:t>的定义</a:t>
            </a:r>
            <a:endParaRPr lang="zh-CN" altLang="en-US"/>
          </a:p>
        </p:txBody>
      </p:sp>
      <p:sp>
        <p:nvSpPr>
          <p:cNvPr id="48133" name="Rectangle 3"/>
          <p:cNvSpPr>
            <a:spLocks noGrp="1" noChangeArrowheads="1"/>
          </p:cNvSpPr>
          <p:nvPr>
            <p:ph idx="1"/>
          </p:nvPr>
        </p:nvSpPr>
        <p:spPr>
          <a:xfrm>
            <a:off x="395536" y="1412776"/>
            <a:ext cx="8496944" cy="4943574"/>
          </a:xfrm>
        </p:spPr>
        <p:txBody>
          <a:bodyPr/>
          <a:lstStyle/>
          <a:p>
            <a:pPr algn="just" eaLnBrk="1" hangingPunct="1">
              <a:lnSpc>
                <a:spcPct val="80000"/>
              </a:lnSpc>
            </a:pPr>
            <a:r>
              <a:rPr lang="en-US" altLang="zh-CN" sz="2400" dirty="0" err="1"/>
              <a:t>Garlan</a:t>
            </a:r>
            <a:r>
              <a:rPr lang="en-US" altLang="zh-CN" sz="2400" dirty="0"/>
              <a:t> and Shaw, 1993:</a:t>
            </a:r>
            <a:endParaRPr lang="en-US" altLang="zh-CN" sz="2400" dirty="0"/>
          </a:p>
          <a:p>
            <a:pPr eaLnBrk="1" hangingPunct="1">
              <a:lnSpc>
                <a:spcPct val="80000"/>
              </a:lnSpc>
              <a:buFont typeface="Wingdings" panose="05000000000000000000" pitchFamily="2" charset="2"/>
              <a:buNone/>
            </a:pPr>
            <a:br>
              <a:rPr lang="en-US" altLang="zh-CN" sz="2400" dirty="0"/>
            </a:br>
            <a:r>
              <a:rPr lang="en-US" altLang="zh-CN" sz="2400" i="1" dirty="0"/>
              <a:t>...beyond the algorithms and data structures of the computation; designing and specifying the </a:t>
            </a:r>
            <a:r>
              <a:rPr lang="en-US" altLang="zh-CN" sz="2400" i="1" dirty="0">
                <a:solidFill>
                  <a:srgbClr val="FF3399"/>
                </a:solidFill>
              </a:rPr>
              <a:t>overall system structure</a:t>
            </a:r>
            <a:r>
              <a:rPr lang="en-US" altLang="zh-CN" sz="2400" i="1" dirty="0"/>
              <a:t> emerges as a new kind of problem. Structural issues include </a:t>
            </a:r>
            <a:r>
              <a:rPr lang="en-US" altLang="zh-CN" sz="2400" i="1" dirty="0">
                <a:solidFill>
                  <a:srgbClr val="FF3399"/>
                </a:solidFill>
              </a:rPr>
              <a:t>gross organization and global control structure</a:t>
            </a:r>
            <a:r>
              <a:rPr lang="en-US" altLang="zh-CN" sz="2400" i="1" dirty="0"/>
              <a:t>; </a:t>
            </a:r>
            <a:r>
              <a:rPr lang="en-US" altLang="zh-CN" sz="2400" i="1" dirty="0">
                <a:solidFill>
                  <a:srgbClr val="FF3399"/>
                </a:solidFill>
              </a:rPr>
              <a:t>protocols for communication, synchronization, and data access</a:t>
            </a:r>
            <a:r>
              <a:rPr lang="en-US" altLang="zh-CN" sz="2400" i="1" dirty="0"/>
              <a:t>; assignment of </a:t>
            </a:r>
            <a:r>
              <a:rPr lang="en-US" altLang="zh-CN" sz="2400" i="1" dirty="0">
                <a:solidFill>
                  <a:srgbClr val="FF3399"/>
                </a:solidFill>
              </a:rPr>
              <a:t>functionality to design elements</a:t>
            </a:r>
            <a:r>
              <a:rPr lang="en-US" altLang="zh-CN" sz="2400" i="1" dirty="0"/>
              <a:t>; </a:t>
            </a:r>
            <a:r>
              <a:rPr lang="en-US" altLang="zh-CN" sz="2400" i="1" dirty="0">
                <a:solidFill>
                  <a:srgbClr val="FF3399"/>
                </a:solidFill>
              </a:rPr>
              <a:t>physical distribution</a:t>
            </a:r>
            <a:r>
              <a:rPr lang="en-US" altLang="zh-CN" sz="2400" i="1" dirty="0"/>
              <a:t>; </a:t>
            </a:r>
            <a:r>
              <a:rPr lang="en-US" altLang="zh-CN" sz="2400" i="1" dirty="0">
                <a:solidFill>
                  <a:srgbClr val="FF3399"/>
                </a:solidFill>
              </a:rPr>
              <a:t>composition </a:t>
            </a:r>
            <a:r>
              <a:rPr lang="en-US" altLang="zh-CN" sz="2400" i="1" dirty="0"/>
              <a:t>of design elements; </a:t>
            </a:r>
            <a:r>
              <a:rPr lang="en-US" altLang="zh-CN" sz="2400" i="1" dirty="0">
                <a:solidFill>
                  <a:srgbClr val="FF3399"/>
                </a:solidFill>
              </a:rPr>
              <a:t>scaling and performance</a:t>
            </a:r>
            <a:r>
              <a:rPr lang="en-US" altLang="zh-CN" sz="2400" i="1" dirty="0"/>
              <a:t>; and </a:t>
            </a:r>
            <a:r>
              <a:rPr lang="en-US" altLang="zh-CN" sz="2400" i="1" dirty="0">
                <a:solidFill>
                  <a:srgbClr val="FF3399"/>
                </a:solidFill>
              </a:rPr>
              <a:t>selection</a:t>
            </a:r>
            <a:r>
              <a:rPr lang="en-US" altLang="zh-CN" sz="2400" i="1" dirty="0"/>
              <a:t> among design alternatives.“</a:t>
            </a:r>
            <a:br>
              <a:rPr lang="en-US" altLang="zh-CN" sz="2400" i="1" dirty="0"/>
            </a:br>
            <a:r>
              <a:rPr lang="en-US" altLang="zh-CN" sz="2400" dirty="0"/>
              <a:t> </a:t>
            </a:r>
            <a:br>
              <a:rPr lang="en-US" altLang="zh-CN" sz="2400" dirty="0"/>
            </a:br>
            <a:r>
              <a:rPr lang="en-US" altLang="zh-CN" sz="2400" dirty="0">
                <a:latin typeface="Times New Roman" panose="02020603050405020304" pitchFamily="18" charset="0"/>
              </a:rPr>
              <a:t>Mary Shaw</a:t>
            </a:r>
            <a:r>
              <a:rPr lang="zh-CN" altLang="en-US" sz="2400" dirty="0">
                <a:latin typeface="宋体" panose="02010600030101010101" pitchFamily="2" charset="-122"/>
              </a:rPr>
              <a:t>和</a:t>
            </a:r>
            <a:r>
              <a:rPr lang="en-US" altLang="zh-CN" sz="2400" dirty="0">
                <a:latin typeface="Times New Roman" panose="02020603050405020304" pitchFamily="18" charset="0"/>
              </a:rPr>
              <a:t>David </a:t>
            </a:r>
            <a:r>
              <a:rPr lang="en-US" altLang="zh-CN" sz="2400" dirty="0" err="1">
                <a:latin typeface="Times New Roman" panose="02020603050405020304" pitchFamily="18" charset="0"/>
              </a:rPr>
              <a:t>Garlan</a:t>
            </a:r>
            <a:r>
              <a:rPr lang="zh-CN" altLang="en-US" sz="2400" dirty="0">
                <a:latin typeface="宋体" panose="02010600030101010101" pitchFamily="2" charset="-122"/>
              </a:rPr>
              <a:t>认为，软件体系结构是软件设计过程中，超越计算中的算法设计和数据结构设计的一个层次。体系结构问题包括各方面的组织和全局控制结构，通信协议同步，数据存取，给设计元素分配特定功能，设计元素的组织，规模和性能，在各设计方案间进行选择等。</a:t>
            </a:r>
            <a:r>
              <a:rPr lang="zh-CN" altLang="en-US" sz="2400" dirty="0"/>
              <a:t> </a:t>
            </a:r>
            <a:endParaRPr lang="zh-CN" altLang="en-US" sz="2400" dirty="0"/>
          </a:p>
        </p:txBody>
      </p:sp>
      <p:sp>
        <p:nvSpPr>
          <p:cNvPr id="48131"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17B2B3FF-7717-4288-8AF8-2A4751784197}" type="datetime1">
              <a:rPr lang="zh-CN" altLang="en-US" sz="1200" smtClean="0">
                <a:solidFill>
                  <a:schemeClr val="tx1"/>
                </a:solidFill>
              </a:rPr>
            </a:fld>
            <a:endParaRPr lang="zh-CN" altLang="en-US" sz="1200">
              <a:solidFill>
                <a:schemeClr val="tx1"/>
              </a:solidFill>
            </a:endParaRPr>
          </a:p>
        </p:txBody>
      </p:sp>
      <p:sp>
        <p:nvSpPr>
          <p:cNvPr id="48130"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211DE76F-E160-4E1B-A806-B89987C01221}"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p:cNvSpPr>
            <a:spLocks noGrp="1" noChangeArrowheads="1"/>
          </p:cNvSpPr>
          <p:nvPr>
            <p:ph type="title"/>
          </p:nvPr>
        </p:nvSpPr>
        <p:spPr/>
        <p:txBody>
          <a:bodyPr/>
          <a:lstStyle/>
          <a:p>
            <a:pPr eaLnBrk="1" hangingPunct="1"/>
            <a:r>
              <a:rPr lang="en-US" altLang="zh-CN"/>
              <a:t>SA</a:t>
            </a:r>
            <a:r>
              <a:rPr lang="zh-CN" altLang="en-US"/>
              <a:t>的定义</a:t>
            </a:r>
            <a:endParaRPr lang="zh-CN" altLang="en-US"/>
          </a:p>
        </p:txBody>
      </p:sp>
      <p:sp>
        <p:nvSpPr>
          <p:cNvPr id="50181" name="Rectangle 3"/>
          <p:cNvSpPr>
            <a:spLocks noGrp="1" noChangeArrowheads="1"/>
          </p:cNvSpPr>
          <p:nvPr>
            <p:ph idx="1"/>
          </p:nvPr>
        </p:nvSpPr>
        <p:spPr/>
        <p:txBody>
          <a:bodyPr/>
          <a:lstStyle/>
          <a:p>
            <a:pPr eaLnBrk="1" hangingPunct="1">
              <a:lnSpc>
                <a:spcPct val="120000"/>
              </a:lnSpc>
              <a:buFont typeface="Wingdings" panose="05000000000000000000" pitchFamily="2" charset="2"/>
              <a:buNone/>
            </a:pPr>
            <a:r>
              <a:rPr lang="zh-CN" altLang="en-US" sz="2800" dirty="0">
                <a:latin typeface="Times New Roman" panose="02020603050405020304" pitchFamily="18" charset="0"/>
              </a:rPr>
              <a:t>定义</a:t>
            </a:r>
            <a:r>
              <a:rPr lang="en-US" altLang="zh-CN" sz="2800" dirty="0">
                <a:latin typeface="宋体" panose="02010600030101010101" pitchFamily="2" charset="-122"/>
              </a:rPr>
              <a:t>2</a:t>
            </a:r>
            <a:r>
              <a:rPr lang="en-US" altLang="zh-CN" sz="2800" dirty="0">
                <a:latin typeface="Times New Roman" panose="02020603050405020304" pitchFamily="18" charset="0"/>
              </a:rPr>
              <a:t>: (</a:t>
            </a:r>
            <a:r>
              <a:rPr lang="en-US" altLang="zh-CN" sz="2800" dirty="0" err="1">
                <a:latin typeface="Times New Roman" panose="02020603050405020304" pitchFamily="18" charset="0"/>
              </a:rPr>
              <a:t>Garlan</a:t>
            </a:r>
            <a:r>
              <a:rPr lang="zh-CN" altLang="en-US" sz="2800" dirty="0">
                <a:latin typeface="宋体" panose="02010600030101010101" pitchFamily="2" charset="-122"/>
              </a:rPr>
              <a:t>＆</a:t>
            </a:r>
            <a:r>
              <a:rPr lang="en-US" altLang="zh-CN" sz="2800" dirty="0">
                <a:latin typeface="Times New Roman" panose="02020603050405020304" pitchFamily="18" charset="0"/>
              </a:rPr>
              <a:t>Shaw </a:t>
            </a:r>
            <a:r>
              <a:rPr lang="zh-CN" altLang="en-US" sz="2800" dirty="0">
                <a:latin typeface="宋体" panose="02010600030101010101" pitchFamily="2" charset="-122"/>
              </a:rPr>
              <a:t>模型</a:t>
            </a:r>
            <a:r>
              <a:rPr lang="zh-CN" altLang="en-US" sz="2800" dirty="0">
                <a:latin typeface="Times New Roman" panose="02020603050405020304" pitchFamily="18" charset="0"/>
              </a:rPr>
              <a:t> </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a:p>
            <a:pPr algn="ctr" eaLnBrk="1" hangingPunct="1">
              <a:lnSpc>
                <a:spcPct val="120000"/>
              </a:lnSpc>
              <a:buFont typeface="Wingdings" panose="05000000000000000000" pitchFamily="2" charset="2"/>
              <a:buNone/>
            </a:pPr>
            <a:r>
              <a:rPr lang="zh-CN" altLang="en-US" sz="2800" dirty="0">
                <a:latin typeface="Times New Roman" panose="02020603050405020304" pitchFamily="18" charset="0"/>
              </a:rPr>
              <a:t>软件体系结构</a:t>
            </a:r>
            <a:r>
              <a:rPr lang="en-US" altLang="zh-CN" sz="2800" dirty="0">
                <a:latin typeface="Times New Roman" panose="02020603050405020304" pitchFamily="18" charset="0"/>
              </a:rPr>
              <a:t>={</a:t>
            </a:r>
            <a:r>
              <a:rPr lang="zh-CN" altLang="en-US" sz="2800" dirty="0">
                <a:latin typeface="Times New Roman" panose="02020603050405020304" pitchFamily="18" charset="0"/>
              </a:rPr>
              <a:t>构件，连接件，约束</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pPr algn="just" eaLnBrk="1" hangingPunct="1">
              <a:lnSpc>
                <a:spcPct val="90000"/>
              </a:lnSpc>
              <a:buFont typeface="Wingdings" panose="05000000000000000000" pitchFamily="2" charset="2"/>
              <a:buNone/>
            </a:pPr>
            <a:r>
              <a:rPr lang="zh-CN" altLang="en-US" sz="2000" dirty="0">
                <a:latin typeface="Times New Roman" panose="02020603050405020304" pitchFamily="18" charset="0"/>
              </a:rPr>
              <a:t>其中：</a:t>
            </a:r>
            <a:endParaRPr lang="zh-CN" altLang="en-US" sz="2000" dirty="0">
              <a:latin typeface="Times New Roman" panose="02020603050405020304" pitchFamily="18" charset="0"/>
            </a:endParaRPr>
          </a:p>
          <a:p>
            <a:pPr algn="just" eaLnBrk="1" hangingPunct="1">
              <a:lnSpc>
                <a:spcPct val="90000"/>
              </a:lnSpc>
              <a:buFont typeface="Wingdings" panose="05000000000000000000" pitchFamily="2" charset="2"/>
              <a:buNone/>
            </a:pPr>
            <a:r>
              <a:rPr lang="en-US" altLang="zh-CN" sz="2000" dirty="0">
                <a:latin typeface="Times New Roman" panose="02020603050405020304" pitchFamily="18" charset="0"/>
              </a:rPr>
              <a:t>1</a:t>
            </a:r>
            <a:r>
              <a:rPr lang="zh-CN" altLang="en-US" sz="2000" dirty="0">
                <a:latin typeface="Times New Roman" panose="02020603050405020304" pitchFamily="18" charset="0"/>
              </a:rPr>
              <a:t>）构件</a:t>
            </a:r>
            <a:r>
              <a:rPr lang="en-US" altLang="zh-CN" sz="2000" dirty="0">
                <a:latin typeface="Times New Roman" panose="02020603050405020304" pitchFamily="18" charset="0"/>
              </a:rPr>
              <a:t>(component) </a:t>
            </a:r>
            <a:r>
              <a:rPr lang="zh-CN" altLang="en-US" sz="2000" dirty="0">
                <a:latin typeface="宋体" panose="02010600030101010101" pitchFamily="2" charset="-122"/>
              </a:rPr>
              <a:t>：</a:t>
            </a:r>
            <a:r>
              <a:rPr lang="zh-CN" altLang="en-US" sz="2000" dirty="0">
                <a:latin typeface="Times New Roman" panose="02020603050405020304" pitchFamily="18" charset="0"/>
              </a:rPr>
              <a:t>可以是一组代码，如程序的模块；也可以是一个独立的程序，如数据库服务器。构件是相关对象的集合，运行后实现某计算逻辑。它们或是结构相关</a:t>
            </a:r>
            <a:r>
              <a:rPr lang="en-US" altLang="zh-CN" sz="2000" dirty="0">
                <a:latin typeface="宋体" panose="02010600030101010101" pitchFamily="2" charset="-122"/>
              </a:rPr>
              <a:t>(</a:t>
            </a:r>
            <a:r>
              <a:rPr lang="zh-CN" altLang="en-US" sz="2000" dirty="0">
                <a:latin typeface="Times New Roman" panose="02020603050405020304" pitchFamily="18" charset="0"/>
              </a:rPr>
              <a:t>如嵌套对象，其中的被嵌对象是嵌套对象的一部分</a:t>
            </a:r>
            <a:r>
              <a:rPr lang="en-US" altLang="zh-CN" sz="2000" dirty="0">
                <a:latin typeface="宋体" panose="02010600030101010101" pitchFamily="2" charset="-122"/>
              </a:rPr>
              <a:t>)</a:t>
            </a:r>
            <a:r>
              <a:rPr lang="zh-CN" altLang="en-US" sz="2000" dirty="0">
                <a:latin typeface="Times New Roman" panose="02020603050405020304" pitchFamily="18" charset="0"/>
              </a:rPr>
              <a:t>或是逻辑相关</a:t>
            </a:r>
            <a:r>
              <a:rPr lang="en-US" altLang="zh-CN" sz="2000" dirty="0">
                <a:latin typeface="宋体" panose="02010600030101010101" pitchFamily="2" charset="-122"/>
              </a:rPr>
              <a:t>(</a:t>
            </a:r>
            <a:r>
              <a:rPr lang="zh-CN" altLang="en-US" sz="2000" dirty="0">
                <a:latin typeface="Times New Roman" panose="02020603050405020304" pitchFamily="18" charset="0"/>
              </a:rPr>
              <a:t>若干聚集对象完成某功能</a:t>
            </a:r>
            <a:r>
              <a:rPr lang="en-US" altLang="zh-CN" sz="2000" dirty="0">
                <a:latin typeface="宋体" panose="02010600030101010101" pitchFamily="2" charset="-122"/>
              </a:rPr>
              <a:t>)</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algn="just" eaLnBrk="1" hangingPunct="1">
              <a:lnSpc>
                <a:spcPct val="90000"/>
              </a:lnSpc>
              <a:buFont typeface="Wingdings" panose="05000000000000000000" pitchFamily="2" charset="2"/>
              <a:buNone/>
            </a:pPr>
            <a:r>
              <a:rPr lang="zh-CN" altLang="en-US" sz="2000" dirty="0">
                <a:latin typeface="Times New Roman" panose="02020603050405020304" pitchFamily="18" charset="0"/>
              </a:rPr>
              <a:t>     构件相对独立，仅通过接口与外部相互作用，可作为独立单元嵌入到不同应用系统中。构件的定制和规范化对于实现构件的复用有重要意义。</a:t>
            </a:r>
            <a:endParaRPr lang="zh-CN" altLang="en-US" sz="2000" dirty="0">
              <a:latin typeface="Times New Roman" panose="02020603050405020304" pitchFamily="18" charset="0"/>
            </a:endParaRPr>
          </a:p>
        </p:txBody>
      </p:sp>
      <p:sp>
        <p:nvSpPr>
          <p:cNvPr id="50179"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CBB26174-D2A4-4241-9C7B-FBEE29811890}" type="datetime1">
              <a:rPr lang="zh-CN" altLang="en-US" sz="1200" smtClean="0">
                <a:solidFill>
                  <a:schemeClr val="tx1"/>
                </a:solidFill>
              </a:rPr>
            </a:fld>
            <a:endParaRPr lang="zh-CN" altLang="en-US" sz="1200">
              <a:solidFill>
                <a:schemeClr val="tx1"/>
              </a:solidFill>
            </a:endParaRPr>
          </a:p>
        </p:txBody>
      </p:sp>
      <p:sp>
        <p:nvSpPr>
          <p:cNvPr id="50178"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B5BB776E-624F-4892-91F9-2E046F5D599E}"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p:nvPr>
        </p:nvSpPr>
        <p:spPr/>
        <p:txBody>
          <a:bodyPr/>
          <a:lstStyle/>
          <a:p>
            <a:pPr eaLnBrk="1" hangingPunct="1"/>
            <a:r>
              <a:rPr lang="en-US" altLang="zh-CN"/>
              <a:t>SA</a:t>
            </a:r>
            <a:r>
              <a:rPr lang="zh-CN" altLang="en-US"/>
              <a:t>的定义</a:t>
            </a:r>
            <a:endParaRPr lang="zh-CN" altLang="en-US"/>
          </a:p>
        </p:txBody>
      </p:sp>
      <p:sp>
        <p:nvSpPr>
          <p:cNvPr id="51205" name="Rectangle 3"/>
          <p:cNvSpPr>
            <a:spLocks noGrp="1" noChangeArrowheads="1"/>
          </p:cNvSpPr>
          <p:nvPr>
            <p:ph idx="1"/>
          </p:nvPr>
        </p:nvSpPr>
        <p:spPr/>
        <p:txBody>
          <a:bodyPr/>
          <a:lstStyle/>
          <a:p>
            <a:pPr eaLnBrk="1" hangingPunct="1">
              <a:lnSpc>
                <a:spcPct val="120000"/>
              </a:lnSpc>
              <a:buFont typeface="Wingdings" panose="05000000000000000000" pitchFamily="2" charset="2"/>
              <a:buNone/>
            </a:pPr>
            <a:r>
              <a:rPr lang="zh-CN" altLang="en-US" sz="2800" dirty="0">
                <a:latin typeface="Times New Roman" panose="02020603050405020304" pitchFamily="18" charset="0"/>
              </a:rPr>
              <a:t>定义</a:t>
            </a:r>
            <a:r>
              <a:rPr lang="en-US" altLang="zh-CN" sz="2800" dirty="0">
                <a:latin typeface="宋体" panose="02010600030101010101" pitchFamily="2" charset="-122"/>
              </a:rPr>
              <a:t>2</a:t>
            </a:r>
            <a:r>
              <a:rPr lang="en-US" altLang="zh-CN" sz="2800" dirty="0">
                <a:latin typeface="Times New Roman" panose="02020603050405020304" pitchFamily="18" charset="0"/>
              </a:rPr>
              <a:t>: (</a:t>
            </a:r>
            <a:r>
              <a:rPr lang="en-US" altLang="zh-CN" sz="2800" dirty="0" err="1">
                <a:latin typeface="Times New Roman" panose="02020603050405020304" pitchFamily="18" charset="0"/>
              </a:rPr>
              <a:t>Garlan</a:t>
            </a:r>
            <a:r>
              <a:rPr lang="zh-CN" altLang="en-US" sz="2800" dirty="0">
                <a:latin typeface="宋体" panose="02010600030101010101" pitchFamily="2" charset="-122"/>
              </a:rPr>
              <a:t>＆</a:t>
            </a:r>
            <a:r>
              <a:rPr lang="en-US" altLang="zh-CN" sz="2800" dirty="0">
                <a:latin typeface="Times New Roman" panose="02020603050405020304" pitchFamily="18" charset="0"/>
              </a:rPr>
              <a:t>Shaw </a:t>
            </a:r>
            <a:r>
              <a:rPr lang="zh-CN" altLang="en-US" sz="2800" dirty="0">
                <a:latin typeface="宋体" panose="02010600030101010101" pitchFamily="2" charset="-122"/>
              </a:rPr>
              <a:t>模型</a:t>
            </a:r>
            <a:r>
              <a:rPr lang="zh-CN" altLang="en-US" sz="2800" dirty="0">
                <a:latin typeface="Times New Roman" panose="02020603050405020304" pitchFamily="18" charset="0"/>
              </a:rPr>
              <a:t> </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a:p>
            <a:pPr algn="ctr" eaLnBrk="1" hangingPunct="1">
              <a:lnSpc>
                <a:spcPct val="120000"/>
              </a:lnSpc>
              <a:buFont typeface="Wingdings" panose="05000000000000000000" pitchFamily="2" charset="2"/>
              <a:buNone/>
            </a:pPr>
            <a:r>
              <a:rPr lang="zh-CN" altLang="en-US" sz="2800" dirty="0">
                <a:latin typeface="Times New Roman" panose="02020603050405020304" pitchFamily="18" charset="0"/>
              </a:rPr>
              <a:t>软件体系结构</a:t>
            </a:r>
            <a:r>
              <a:rPr lang="en-US" altLang="zh-CN" sz="2800" dirty="0">
                <a:latin typeface="Times New Roman" panose="02020603050405020304" pitchFamily="18" charset="0"/>
              </a:rPr>
              <a:t>={</a:t>
            </a:r>
            <a:r>
              <a:rPr lang="zh-CN" altLang="en-US" sz="2800" dirty="0">
                <a:latin typeface="Times New Roman" panose="02020603050405020304" pitchFamily="18" charset="0"/>
              </a:rPr>
              <a:t>构件，连接件，约束</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pPr algn="just" eaLnBrk="1" hangingPunct="1">
              <a:buFont typeface="Wingdings" panose="05000000000000000000" pitchFamily="2" charset="2"/>
              <a:buNone/>
            </a:pPr>
            <a:r>
              <a:rPr lang="zh-CN" altLang="en-US" sz="2000" dirty="0">
                <a:latin typeface="Times New Roman" panose="02020603050405020304" pitchFamily="18" charset="0"/>
              </a:rPr>
              <a:t>其中：</a:t>
            </a:r>
            <a:endParaRPr lang="zh-CN" altLang="en-US" sz="2000" dirty="0">
              <a:latin typeface="Times New Roman" panose="02020603050405020304" pitchFamily="18" charset="0"/>
            </a:endParaRPr>
          </a:p>
          <a:p>
            <a:pPr algn="just" eaLnBrk="1" hangingPunct="1">
              <a:buFont typeface="Wingdings" panose="05000000000000000000" pitchFamily="2" charset="2"/>
              <a:buNone/>
            </a:pPr>
            <a:r>
              <a:rPr lang="en-US" altLang="zh-CN" sz="2000" dirty="0">
                <a:latin typeface="Times New Roman" panose="02020603050405020304" pitchFamily="18" charset="0"/>
              </a:rPr>
              <a:t>2</a:t>
            </a:r>
            <a:r>
              <a:rPr lang="zh-CN" altLang="en-US" sz="2000" dirty="0">
                <a:latin typeface="Times New Roman" panose="02020603050405020304" pitchFamily="18" charset="0"/>
              </a:rPr>
              <a:t>）</a:t>
            </a:r>
            <a:r>
              <a:rPr lang="zh-CN" altLang="en-US" sz="2000" dirty="0">
                <a:latin typeface="宋体" panose="02010600030101010101" pitchFamily="2" charset="-122"/>
              </a:rPr>
              <a:t>连接件</a:t>
            </a:r>
            <a:r>
              <a:rPr lang="en-US" altLang="zh-CN" sz="2000" dirty="0">
                <a:latin typeface="Times New Roman" panose="02020603050405020304" pitchFamily="18" charset="0"/>
              </a:rPr>
              <a:t>(connector)</a:t>
            </a:r>
            <a:r>
              <a:rPr lang="zh-CN" altLang="en-US" sz="2000" dirty="0">
                <a:latin typeface="Times New Roman" panose="02020603050405020304" pitchFamily="18" charset="0"/>
              </a:rPr>
              <a:t>：</a:t>
            </a:r>
            <a:r>
              <a:rPr lang="zh-CN" altLang="en-US" sz="2000" dirty="0">
                <a:latin typeface="宋体" panose="02010600030101010101" pitchFamily="2" charset="-122"/>
              </a:rPr>
              <a:t>可以是过程调用、管道、远程过程调用等，用于表示构件之间的相互作用。连接件是构件的粘合剂，它把不同的构件连接起来构成体系结构的一部分。连接件也是一组对象。它一般表现为框架式对象或转换式对象</a:t>
            </a:r>
            <a:r>
              <a:rPr lang="en-US" altLang="zh-CN" sz="2000" dirty="0">
                <a:latin typeface="Times New Roman" panose="02020603050405020304" pitchFamily="18" charset="0"/>
              </a:rPr>
              <a:t>(</a:t>
            </a:r>
            <a:r>
              <a:rPr lang="zh-CN" altLang="en-US" sz="2000" dirty="0">
                <a:latin typeface="宋体" panose="02010600030101010101" pitchFamily="2" charset="-122"/>
              </a:rPr>
              <a:t>调用远程构件资源</a:t>
            </a:r>
            <a:r>
              <a:rPr lang="en-US" altLang="zh-CN" sz="2000" dirty="0">
                <a:latin typeface="Times New Roman" panose="02020603050405020304" pitchFamily="18" charset="0"/>
              </a:rPr>
              <a:t>)</a:t>
            </a:r>
            <a:r>
              <a:rPr lang="zh-CN" altLang="en-US" sz="2000" dirty="0">
                <a:latin typeface="宋体" panose="02010600030101010101" pitchFamily="2" charset="-122"/>
              </a:rPr>
              <a:t>，例如</a:t>
            </a:r>
            <a:r>
              <a:rPr lang="zh-CN" altLang="en-US" sz="2000" dirty="0">
                <a:latin typeface="Times New Roman" panose="02020603050405020304" pitchFamily="18" charset="0"/>
              </a:rPr>
              <a:t>“</a:t>
            </a:r>
            <a:r>
              <a:rPr lang="zh-CN" altLang="en-US" sz="2000" dirty="0">
                <a:latin typeface="宋体" panose="02010600030101010101" pitchFamily="2" charset="-122"/>
              </a:rPr>
              <a:t>桩</a:t>
            </a:r>
            <a:r>
              <a:rPr lang="zh-CN" altLang="en-US" sz="2000" dirty="0">
                <a:latin typeface="Times New Roman" panose="02020603050405020304" pitchFamily="18" charset="0"/>
              </a:rPr>
              <a:t>”</a:t>
            </a:r>
            <a:r>
              <a:rPr lang="zh-CN" altLang="en-US" sz="2000" dirty="0">
                <a:latin typeface="宋体" panose="02010600030101010101" pitchFamily="2" charset="-122"/>
              </a:rPr>
              <a:t>，</a:t>
            </a:r>
            <a:r>
              <a:rPr lang="zh-CN" altLang="en-US" sz="2000" dirty="0">
                <a:latin typeface="Times New Roman" panose="02020603050405020304" pitchFamily="18" charset="0"/>
              </a:rPr>
              <a:t>“</a:t>
            </a:r>
            <a:r>
              <a:rPr lang="zh-CN" altLang="en-US" sz="2000" dirty="0">
                <a:latin typeface="宋体" panose="02010600030101010101" pitchFamily="2" charset="-122"/>
              </a:rPr>
              <a:t>代理</a:t>
            </a:r>
            <a:r>
              <a:rPr lang="zh-CN" altLang="en-US" sz="2000" dirty="0">
                <a:latin typeface="Times New Roman" panose="02020603050405020304" pitchFamily="18" charset="0"/>
              </a:rPr>
              <a:t>”</a:t>
            </a:r>
            <a:r>
              <a:rPr lang="zh-CN" altLang="en-US" sz="2000" dirty="0">
                <a:latin typeface="宋体" panose="02010600030101010101" pitchFamily="2" charset="-122"/>
              </a:rPr>
              <a:t>对象等。</a:t>
            </a:r>
            <a:r>
              <a:rPr lang="zh-CN" altLang="en-US" sz="2000" dirty="0">
                <a:latin typeface="Times New Roman" panose="02020603050405020304" pitchFamily="18" charset="0"/>
              </a:rPr>
              <a:t> </a:t>
            </a:r>
            <a:endParaRPr lang="zh-CN" altLang="en-US" sz="2000" dirty="0">
              <a:latin typeface="Times New Roman" panose="02020603050405020304" pitchFamily="18" charset="0"/>
            </a:endParaRPr>
          </a:p>
        </p:txBody>
      </p:sp>
      <p:sp>
        <p:nvSpPr>
          <p:cNvPr id="51203"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32058259-18A0-4BE6-9E34-71F17B98E698}" type="datetime1">
              <a:rPr lang="zh-CN" altLang="en-US" sz="1200" smtClean="0">
                <a:solidFill>
                  <a:schemeClr val="tx1"/>
                </a:solidFill>
              </a:rPr>
            </a:fld>
            <a:endParaRPr lang="zh-CN" altLang="en-US" sz="1200">
              <a:solidFill>
                <a:schemeClr val="tx1"/>
              </a:solidFill>
            </a:endParaRPr>
          </a:p>
        </p:txBody>
      </p:sp>
      <p:sp>
        <p:nvSpPr>
          <p:cNvPr id="51202"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30713E63-2294-4272-B95A-470E0A0FADEC}"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p:cNvSpPr>
            <a:spLocks noGrp="1" noChangeArrowheads="1"/>
          </p:cNvSpPr>
          <p:nvPr>
            <p:ph type="title"/>
          </p:nvPr>
        </p:nvSpPr>
        <p:spPr/>
        <p:txBody>
          <a:bodyPr/>
          <a:lstStyle/>
          <a:p>
            <a:pPr eaLnBrk="1" hangingPunct="1"/>
            <a:r>
              <a:rPr lang="en-US" altLang="zh-CN"/>
              <a:t>SA</a:t>
            </a:r>
            <a:r>
              <a:rPr lang="zh-CN" altLang="en-US"/>
              <a:t>的定义</a:t>
            </a:r>
            <a:endParaRPr lang="zh-CN" altLang="en-US"/>
          </a:p>
        </p:txBody>
      </p:sp>
      <p:sp>
        <p:nvSpPr>
          <p:cNvPr id="52229" name="Rectangle 3"/>
          <p:cNvSpPr>
            <a:spLocks noGrp="1" noChangeArrowheads="1"/>
          </p:cNvSpPr>
          <p:nvPr>
            <p:ph idx="1"/>
          </p:nvPr>
        </p:nvSpPr>
        <p:spPr/>
        <p:txBody>
          <a:bodyPr/>
          <a:lstStyle/>
          <a:p>
            <a:pPr eaLnBrk="1" hangingPunct="1">
              <a:lnSpc>
                <a:spcPct val="120000"/>
              </a:lnSpc>
              <a:buFont typeface="Wingdings" panose="05000000000000000000" pitchFamily="2" charset="2"/>
              <a:buNone/>
            </a:pPr>
            <a:r>
              <a:rPr lang="zh-CN" altLang="en-US" sz="2800" dirty="0">
                <a:latin typeface="Times New Roman" panose="02020603050405020304" pitchFamily="18" charset="0"/>
              </a:rPr>
              <a:t>定义</a:t>
            </a:r>
            <a:r>
              <a:rPr lang="en-US" altLang="zh-CN" sz="2800" dirty="0">
                <a:latin typeface="宋体" panose="02010600030101010101" pitchFamily="2" charset="-122"/>
              </a:rPr>
              <a:t>2</a:t>
            </a:r>
            <a:r>
              <a:rPr lang="en-US" altLang="zh-CN" sz="2800" dirty="0">
                <a:latin typeface="Times New Roman" panose="02020603050405020304" pitchFamily="18" charset="0"/>
              </a:rPr>
              <a:t>: (</a:t>
            </a:r>
            <a:r>
              <a:rPr lang="en-US" altLang="zh-CN" sz="2800" dirty="0" err="1">
                <a:latin typeface="Times New Roman" panose="02020603050405020304" pitchFamily="18" charset="0"/>
              </a:rPr>
              <a:t>Garlan</a:t>
            </a:r>
            <a:r>
              <a:rPr lang="zh-CN" altLang="en-US" sz="2800" dirty="0">
                <a:latin typeface="宋体" panose="02010600030101010101" pitchFamily="2" charset="-122"/>
              </a:rPr>
              <a:t>＆</a:t>
            </a:r>
            <a:r>
              <a:rPr lang="en-US" altLang="zh-CN" sz="2800" dirty="0">
                <a:latin typeface="Times New Roman" panose="02020603050405020304" pitchFamily="18" charset="0"/>
              </a:rPr>
              <a:t>Shaw </a:t>
            </a:r>
            <a:r>
              <a:rPr lang="zh-CN" altLang="en-US" sz="2800" dirty="0">
                <a:latin typeface="宋体" panose="02010600030101010101" pitchFamily="2" charset="-122"/>
              </a:rPr>
              <a:t>模型</a:t>
            </a:r>
            <a:r>
              <a:rPr lang="zh-CN" altLang="en-US" sz="2800" dirty="0">
                <a:latin typeface="Times New Roman" panose="02020603050405020304" pitchFamily="18" charset="0"/>
              </a:rPr>
              <a:t> </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a:p>
            <a:pPr algn="ctr" eaLnBrk="1" hangingPunct="1">
              <a:lnSpc>
                <a:spcPct val="120000"/>
              </a:lnSpc>
              <a:buFont typeface="Wingdings" panose="05000000000000000000" pitchFamily="2" charset="2"/>
              <a:buNone/>
            </a:pPr>
            <a:r>
              <a:rPr lang="zh-CN" altLang="en-US" sz="2800" dirty="0">
                <a:latin typeface="Times New Roman" panose="02020603050405020304" pitchFamily="18" charset="0"/>
              </a:rPr>
              <a:t>软件体系结构</a:t>
            </a:r>
            <a:r>
              <a:rPr lang="en-US" altLang="zh-CN" sz="2800" dirty="0">
                <a:latin typeface="Times New Roman" panose="02020603050405020304" pitchFamily="18" charset="0"/>
              </a:rPr>
              <a:t>={</a:t>
            </a:r>
            <a:r>
              <a:rPr lang="zh-CN" altLang="en-US" sz="2800" dirty="0">
                <a:latin typeface="Times New Roman" panose="02020603050405020304" pitchFamily="18" charset="0"/>
              </a:rPr>
              <a:t>构件，连接件，约束</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pPr algn="just" eaLnBrk="1" hangingPunct="1">
              <a:buFont typeface="Wingdings" panose="05000000000000000000" pitchFamily="2" charset="2"/>
              <a:buNone/>
            </a:pPr>
            <a:r>
              <a:rPr lang="zh-CN" altLang="en-US" sz="2000" dirty="0">
                <a:latin typeface="Times New Roman" panose="02020603050405020304" pitchFamily="18" charset="0"/>
              </a:rPr>
              <a:t>其中：</a:t>
            </a:r>
            <a:endParaRPr lang="zh-CN" altLang="en-US" sz="2000" dirty="0">
              <a:latin typeface="Times New Roman" panose="02020603050405020304" pitchFamily="18" charset="0"/>
            </a:endParaRPr>
          </a:p>
          <a:p>
            <a:pPr algn="just" eaLnBrk="1" hangingPunct="1">
              <a:buFont typeface="Wingdings" panose="05000000000000000000" pitchFamily="2" charset="2"/>
              <a:buNone/>
            </a:pPr>
            <a:r>
              <a:rPr lang="en-US" altLang="zh-CN" sz="2000" dirty="0">
                <a:latin typeface="Times New Roman" panose="02020603050405020304" pitchFamily="18" charset="0"/>
              </a:rPr>
              <a:t>3</a:t>
            </a:r>
            <a:r>
              <a:rPr lang="zh-CN" altLang="en-US" sz="2000" dirty="0">
                <a:latin typeface="Times New Roman" panose="02020603050405020304" pitchFamily="18" charset="0"/>
              </a:rPr>
              <a:t>）</a:t>
            </a:r>
            <a:r>
              <a:rPr lang="zh-CN" altLang="en-US" sz="2000" dirty="0">
                <a:latin typeface="宋体" panose="02010600030101010101" pitchFamily="2" charset="-122"/>
              </a:rPr>
              <a:t>约束</a:t>
            </a:r>
            <a:r>
              <a:rPr lang="en-US" altLang="zh-CN" sz="2000" dirty="0">
                <a:latin typeface="Times New Roman" panose="02020603050405020304" pitchFamily="18" charset="0"/>
              </a:rPr>
              <a:t>(constraint)</a:t>
            </a:r>
            <a:r>
              <a:rPr lang="zh-CN" altLang="en-US" sz="2000" dirty="0">
                <a:latin typeface="宋体" panose="02010600030101010101" pitchFamily="2" charset="-122"/>
              </a:rPr>
              <a:t>：约束一般为对象连接时的规则，或指明构件连接的势态和条件。例如，上层构件可要求下层构件的服务，反之不行：两对象不得递归地发消息；代码复制迁移的一致性约束</a:t>
            </a:r>
            <a:r>
              <a:rPr lang="zh-CN" altLang="en-US" sz="2000" dirty="0">
                <a:latin typeface="Times New Roman" panose="02020603050405020304" pitchFamily="18" charset="0"/>
              </a:rPr>
              <a:t>；</a:t>
            </a:r>
            <a:r>
              <a:rPr lang="zh-CN" altLang="en-US" sz="2000" dirty="0">
                <a:latin typeface="宋体" panose="02010600030101010101" pitchFamily="2" charset="-122"/>
              </a:rPr>
              <a:t>在什么条件下此种连接无效等。</a:t>
            </a:r>
            <a:r>
              <a:rPr lang="zh-CN" altLang="en-US" sz="2000" dirty="0">
                <a:latin typeface="Times New Roman" panose="02020603050405020304" pitchFamily="18" charset="0"/>
              </a:rPr>
              <a:t> </a:t>
            </a:r>
            <a:endParaRPr lang="zh-CN" altLang="en-US" sz="2000" dirty="0">
              <a:latin typeface="Times New Roman" panose="02020603050405020304" pitchFamily="18" charset="0"/>
            </a:endParaRPr>
          </a:p>
        </p:txBody>
      </p:sp>
      <p:sp>
        <p:nvSpPr>
          <p:cNvPr id="52227"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2CEBDE0-B21E-417C-B902-6457111C1C46}" type="datetime1">
              <a:rPr lang="zh-CN" altLang="en-US" sz="1200" smtClean="0">
                <a:solidFill>
                  <a:schemeClr val="tx1"/>
                </a:solidFill>
              </a:rPr>
            </a:fld>
            <a:endParaRPr lang="zh-CN" altLang="en-US" sz="1200">
              <a:solidFill>
                <a:schemeClr val="tx1"/>
              </a:solidFill>
            </a:endParaRPr>
          </a:p>
        </p:txBody>
      </p:sp>
      <p:sp>
        <p:nvSpPr>
          <p:cNvPr id="52226"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BC2385D-7577-4E48-8759-1BBF981FB545}"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p:nvPr>
        </p:nvSpPr>
        <p:spPr/>
        <p:txBody>
          <a:bodyPr/>
          <a:lstStyle/>
          <a:p>
            <a:pPr eaLnBrk="1" hangingPunct="1"/>
            <a:r>
              <a:rPr lang="en-US" altLang="zh-CN"/>
              <a:t>SA</a:t>
            </a:r>
            <a:r>
              <a:rPr lang="zh-CN" altLang="en-US"/>
              <a:t>的定义</a:t>
            </a:r>
            <a:endParaRPr lang="zh-CN" altLang="en-US"/>
          </a:p>
        </p:txBody>
      </p:sp>
      <p:sp>
        <p:nvSpPr>
          <p:cNvPr id="45061" name="Rectangle 3"/>
          <p:cNvSpPr>
            <a:spLocks noGrp="1" noChangeArrowheads="1"/>
          </p:cNvSpPr>
          <p:nvPr>
            <p:ph idx="1"/>
          </p:nvPr>
        </p:nvSpPr>
        <p:spPr/>
        <p:txBody>
          <a:bodyPr/>
          <a:lstStyle/>
          <a:p>
            <a:pPr eaLnBrk="1" hangingPunct="1">
              <a:buFont typeface="Wingdings" panose="05000000000000000000" pitchFamily="2" charset="2"/>
              <a:buNone/>
            </a:pPr>
            <a:endParaRPr lang="zh-CN" altLang="en-US" dirty="0">
              <a:latin typeface="宋体" panose="02010600030101010101" pitchFamily="2" charset="-122"/>
            </a:endParaRPr>
          </a:p>
          <a:p>
            <a:pPr algn="just" eaLnBrk="1" hangingPunct="1">
              <a:buFont typeface="Wingdings" panose="05000000000000000000" pitchFamily="2" charset="2"/>
              <a:buNone/>
            </a:pPr>
            <a:r>
              <a:rPr lang="zh-CN" altLang="en-US" sz="2800" dirty="0">
                <a:latin typeface="Times New Roman" panose="02020603050405020304" pitchFamily="18" charset="0"/>
              </a:rPr>
              <a:t>          在第一届软件系统体系结构国际讨论会（94年）上，</a:t>
            </a:r>
            <a:r>
              <a:rPr lang="zh-CN" altLang="en-US" sz="2800" dirty="0">
                <a:latin typeface="宋体" panose="02010600030101010101" pitchFamily="2" charset="-122"/>
              </a:rPr>
              <a:t>Mary Shaw</a:t>
            </a:r>
            <a:r>
              <a:rPr lang="zh-CN" altLang="en-US" sz="2800" dirty="0">
                <a:latin typeface="Times New Roman" panose="02020603050405020304" pitchFamily="18" charset="0"/>
              </a:rPr>
              <a:t>对于当时术语使用的混乱情况予以了澄清。从会议论文中，</a:t>
            </a:r>
            <a:r>
              <a:rPr lang="zh-CN" altLang="en-US" sz="2800" dirty="0">
                <a:latin typeface="宋体" panose="02010600030101010101" pitchFamily="2" charset="-122"/>
              </a:rPr>
              <a:t>Shaw</a:t>
            </a:r>
            <a:r>
              <a:rPr lang="zh-CN" altLang="en-US" sz="2800" dirty="0">
                <a:latin typeface="Times New Roman" panose="02020603050405020304" pitchFamily="18" charset="0"/>
              </a:rPr>
              <a:t>整理出他们的定义和观点，并对当时的各种观点作了如下的分类:</a:t>
            </a:r>
            <a:endParaRPr lang="zh-CN" altLang="en-US" sz="2800" dirty="0">
              <a:latin typeface="Times New Roman" panose="02020603050405020304" pitchFamily="18" charset="0"/>
            </a:endParaRPr>
          </a:p>
          <a:p>
            <a:pPr algn="just" eaLnBrk="1" hangingPunct="1">
              <a:buFont typeface="Wingdings" panose="05000000000000000000" pitchFamily="2" charset="2"/>
              <a:buNone/>
            </a:pPr>
            <a:r>
              <a:rPr lang="zh-CN" altLang="en-US" sz="2800" dirty="0">
                <a:latin typeface="宋体" panose="02010600030101010101" pitchFamily="2" charset="-122"/>
              </a:rPr>
              <a:t>     结构模型；框架模型；动态模型；过程模型</a:t>
            </a:r>
            <a:r>
              <a:rPr lang="zh-CN" altLang="en-US" sz="2800" dirty="0">
                <a:latin typeface="Times New Roman" panose="02020603050405020304" pitchFamily="18" charset="0"/>
              </a:rPr>
              <a:t> 。</a:t>
            </a:r>
            <a:endParaRPr lang="zh-CN" altLang="en-US" sz="2800" dirty="0">
              <a:latin typeface="宋体" panose="02010600030101010101" pitchFamily="2" charset="-122"/>
            </a:endParaRPr>
          </a:p>
          <a:p>
            <a:pPr eaLnBrk="1" hangingPunct="1">
              <a:buFont typeface="Wingdings" panose="05000000000000000000" pitchFamily="2" charset="2"/>
              <a:buNone/>
            </a:pPr>
            <a:endParaRPr lang="zh-CN" altLang="en-US" sz="2800" dirty="0"/>
          </a:p>
        </p:txBody>
      </p:sp>
      <p:sp>
        <p:nvSpPr>
          <p:cNvPr id="45059"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A017526B-6FD9-4A33-97BE-B7A8F9E02012}" type="datetime1">
              <a:rPr lang="zh-CN" altLang="en-US" sz="1200" smtClean="0">
                <a:solidFill>
                  <a:schemeClr val="tx1"/>
                </a:solidFill>
              </a:rPr>
            </a:fld>
            <a:endParaRPr lang="zh-CN" altLang="en-US" sz="1200">
              <a:solidFill>
                <a:schemeClr val="tx1"/>
              </a:solidFill>
            </a:endParaRPr>
          </a:p>
        </p:txBody>
      </p:sp>
      <p:sp>
        <p:nvSpPr>
          <p:cNvPr id="45058"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04482544-D2D3-4F8C-AEA0-5464BE5B70FC}"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p:txBody>
          <a:bodyPr/>
          <a:lstStyle/>
          <a:p>
            <a:pPr eaLnBrk="1" hangingPunct="1"/>
            <a:r>
              <a:rPr lang="en-US" altLang="zh-CN"/>
              <a:t>SA</a:t>
            </a:r>
            <a:r>
              <a:rPr lang="zh-CN" altLang="en-US"/>
              <a:t>的定义</a:t>
            </a:r>
            <a:endParaRPr lang="zh-CN" altLang="en-US"/>
          </a:p>
        </p:txBody>
      </p:sp>
      <p:sp>
        <p:nvSpPr>
          <p:cNvPr id="46085" name="Rectangle 3"/>
          <p:cNvSpPr>
            <a:spLocks noGrp="1" noChangeArrowheads="1"/>
          </p:cNvSpPr>
          <p:nvPr>
            <p:ph idx="1"/>
          </p:nvPr>
        </p:nvSpPr>
        <p:spPr>
          <a:xfrm>
            <a:off x="628650" y="1825625"/>
            <a:ext cx="4303390" cy="4351338"/>
          </a:xfrm>
        </p:spPr>
        <p:txBody>
          <a:bodyPr/>
          <a:lstStyle/>
          <a:p>
            <a:pPr marL="0" indent="0" eaLnBrk="1" hangingPunct="1">
              <a:lnSpc>
                <a:spcPct val="90000"/>
              </a:lnSpc>
              <a:buFont typeface="Wingdings" panose="05000000000000000000" pitchFamily="2" charset="2"/>
              <a:buNone/>
            </a:pPr>
            <a:r>
              <a:rPr lang="en-US" altLang="zh-CN" sz="2400" dirty="0">
                <a:latin typeface="Times New Roman" panose="02020603050405020304" pitchFamily="18" charset="0"/>
              </a:rPr>
              <a:t>(1)</a:t>
            </a:r>
            <a:r>
              <a:rPr lang="zh-CN" altLang="en-US" sz="2400" dirty="0">
                <a:latin typeface="Times New Roman" panose="02020603050405020304" pitchFamily="18" charset="0"/>
              </a:rPr>
              <a:t>结构模型</a:t>
            </a:r>
            <a:endParaRPr lang="zh-CN" altLang="en-US" sz="2400" dirty="0">
              <a:latin typeface="Times New Roman" panose="02020603050405020304" pitchFamily="18" charset="0"/>
            </a:endParaRPr>
          </a:p>
          <a:p>
            <a:pPr marL="0" indent="0" algn="just" eaLnBrk="1" hangingPunct="1">
              <a:lnSpc>
                <a:spcPct val="90000"/>
              </a:lnSpc>
              <a:buFont typeface="Wingdings" panose="05000000000000000000" pitchFamily="2" charset="2"/>
              <a:buNone/>
            </a:pPr>
            <a:r>
              <a:rPr lang="zh-CN" altLang="en-US" sz="2400" dirty="0">
                <a:latin typeface="Times New Roman" panose="02020603050405020304" pitchFamily="18" charset="0"/>
              </a:rPr>
              <a:t>       结构模型认为，软件体系结构由构件、构件之间的连接和一些其他方面组成。这些方面包括如下几类：</a:t>
            </a:r>
            <a:endParaRPr lang="zh-CN" altLang="en-US" sz="2400" dirty="0">
              <a:latin typeface="宋体" panose="02010600030101010101" pitchFamily="2" charset="-122"/>
            </a:endParaRPr>
          </a:p>
          <a:p>
            <a:pPr marL="0" indent="0" algn="just" eaLnBrk="1" hangingPunct="1">
              <a:lnSpc>
                <a:spcPct val="90000"/>
              </a:lnSpc>
              <a:buFont typeface="Wingdings" panose="05000000000000000000" pitchFamily="2" charset="2"/>
              <a:buNone/>
            </a:pPr>
            <a:r>
              <a:rPr lang="zh-CN" altLang="en-US" sz="2400" dirty="0">
                <a:latin typeface="宋体" panose="02010600030101010101" pitchFamily="2" charset="-122"/>
              </a:rPr>
              <a:t>  </a:t>
            </a:r>
            <a:r>
              <a:rPr lang="zh-CN" altLang="en-US" sz="2400" dirty="0">
                <a:latin typeface="Times New Roman" panose="02020603050405020304" pitchFamily="18" charset="0"/>
              </a:rPr>
              <a:t>●    配置，风格。</a:t>
            </a:r>
            <a:r>
              <a:rPr lang="zh-CN" altLang="en-US" sz="2400" dirty="0">
                <a:latin typeface="宋体" panose="02010600030101010101" pitchFamily="2" charset="-122"/>
              </a:rPr>
              <a:t> </a:t>
            </a:r>
            <a:endParaRPr lang="zh-CN" altLang="en-US" sz="2400" dirty="0">
              <a:latin typeface="宋体" panose="02010600030101010101" pitchFamily="2" charset="-122"/>
            </a:endParaRPr>
          </a:p>
          <a:p>
            <a:pPr marL="0" indent="0" algn="just" eaLnBrk="1" hangingPunct="1">
              <a:lnSpc>
                <a:spcPct val="90000"/>
              </a:lnSpc>
              <a:buFont typeface="Wingdings" panose="05000000000000000000" pitchFamily="2" charset="2"/>
              <a:buNone/>
            </a:pPr>
            <a:r>
              <a:rPr lang="zh-CN" altLang="en-US" sz="2400" dirty="0">
                <a:latin typeface="宋体" panose="02010600030101010101" pitchFamily="2" charset="-122"/>
              </a:rPr>
              <a:t>  </a:t>
            </a:r>
            <a:r>
              <a:rPr lang="zh-CN" altLang="en-US" sz="2400" dirty="0">
                <a:latin typeface="Times New Roman" panose="02020603050405020304" pitchFamily="18" charset="0"/>
              </a:rPr>
              <a:t>●</a:t>
            </a:r>
            <a:r>
              <a:rPr lang="zh-CN" altLang="en-US" sz="2400" dirty="0">
                <a:latin typeface="宋体" panose="02010600030101010101" pitchFamily="2" charset="-122"/>
              </a:rPr>
              <a:t>  </a:t>
            </a:r>
            <a:r>
              <a:rPr lang="zh-CN" altLang="en-US" sz="2400" dirty="0">
                <a:latin typeface="Times New Roman" panose="02020603050405020304" pitchFamily="18" charset="0"/>
              </a:rPr>
              <a:t>约束，语义。</a:t>
            </a:r>
            <a:endParaRPr lang="zh-CN" altLang="en-US" sz="2400" dirty="0">
              <a:latin typeface="宋体" panose="02010600030101010101" pitchFamily="2" charset="-122"/>
            </a:endParaRPr>
          </a:p>
          <a:p>
            <a:pPr marL="0" indent="0" algn="just" eaLnBrk="1" hangingPunct="1">
              <a:lnSpc>
                <a:spcPct val="90000"/>
              </a:lnSpc>
              <a:buFont typeface="Wingdings" panose="05000000000000000000" pitchFamily="2" charset="2"/>
              <a:buNone/>
            </a:pPr>
            <a:r>
              <a:rPr lang="zh-CN" altLang="en-US" sz="2400" dirty="0">
                <a:latin typeface="宋体" panose="02010600030101010101" pitchFamily="2" charset="-122"/>
              </a:rPr>
              <a:t>  </a:t>
            </a:r>
            <a:r>
              <a:rPr lang="zh-CN" altLang="en-US" sz="2400" dirty="0">
                <a:latin typeface="Times New Roman" panose="02020603050405020304" pitchFamily="18" charset="0"/>
              </a:rPr>
              <a:t>●</a:t>
            </a:r>
            <a:r>
              <a:rPr lang="zh-CN" altLang="en-US" sz="2400" dirty="0">
                <a:latin typeface="宋体" panose="02010600030101010101" pitchFamily="2" charset="-122"/>
              </a:rPr>
              <a:t>  </a:t>
            </a:r>
            <a:r>
              <a:rPr lang="zh-CN" altLang="en-US" sz="2400" dirty="0">
                <a:latin typeface="Times New Roman" panose="02020603050405020304" pitchFamily="18" charset="0"/>
              </a:rPr>
              <a:t>分析，属性。</a:t>
            </a:r>
            <a:endParaRPr lang="zh-CN" altLang="en-US" sz="2400" dirty="0">
              <a:latin typeface="宋体" panose="02010600030101010101" pitchFamily="2" charset="-122"/>
            </a:endParaRPr>
          </a:p>
          <a:p>
            <a:pPr marL="0" indent="0" algn="just" eaLnBrk="1" hangingPunct="1">
              <a:lnSpc>
                <a:spcPct val="90000"/>
              </a:lnSpc>
              <a:buFont typeface="Wingdings" panose="05000000000000000000" pitchFamily="2" charset="2"/>
              <a:buNone/>
            </a:pPr>
            <a:r>
              <a:rPr lang="zh-CN" altLang="en-US" sz="2400" dirty="0">
                <a:latin typeface="宋体" panose="02010600030101010101" pitchFamily="2" charset="-122"/>
              </a:rPr>
              <a:t>  </a:t>
            </a:r>
            <a:r>
              <a:rPr lang="zh-CN" altLang="en-US" sz="2400" dirty="0">
                <a:latin typeface="Times New Roman" panose="02020603050405020304" pitchFamily="18" charset="0"/>
              </a:rPr>
              <a:t>●</a:t>
            </a:r>
            <a:r>
              <a:rPr lang="zh-CN" altLang="en-US" sz="2400" dirty="0">
                <a:latin typeface="宋体" panose="02010600030101010101" pitchFamily="2" charset="-122"/>
              </a:rPr>
              <a:t>  </a:t>
            </a:r>
            <a:r>
              <a:rPr lang="zh-CN" altLang="en-US" sz="2400" dirty="0">
                <a:latin typeface="Times New Roman" panose="02020603050405020304" pitchFamily="18" charset="0"/>
              </a:rPr>
              <a:t>原理，需求。</a:t>
            </a:r>
            <a:endParaRPr lang="zh-CN" altLang="en-US" sz="2400" dirty="0">
              <a:latin typeface="宋体" panose="02010600030101010101" pitchFamily="2" charset="-122"/>
            </a:endParaRPr>
          </a:p>
          <a:p>
            <a:pPr marL="0" indent="0" eaLnBrk="1" hangingPunct="1">
              <a:lnSpc>
                <a:spcPct val="90000"/>
              </a:lnSpc>
              <a:buFont typeface="Wingdings" panose="05000000000000000000" pitchFamily="2" charset="2"/>
              <a:buNone/>
            </a:pPr>
            <a:endParaRPr lang="zh-CN" altLang="en-US" sz="2400" dirty="0"/>
          </a:p>
        </p:txBody>
      </p:sp>
      <p:sp>
        <p:nvSpPr>
          <p:cNvPr id="46083"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8AA6F75-ECF7-4F41-81FD-3E06CAB3967A}" type="datetime1">
              <a:rPr lang="zh-CN" altLang="en-US" sz="1200" smtClean="0">
                <a:solidFill>
                  <a:schemeClr val="tx1"/>
                </a:solidFill>
              </a:rPr>
            </a:fld>
            <a:endParaRPr lang="zh-CN" altLang="en-US" sz="1200">
              <a:solidFill>
                <a:schemeClr val="tx1"/>
              </a:solidFill>
            </a:endParaRPr>
          </a:p>
        </p:txBody>
      </p:sp>
      <p:sp>
        <p:nvSpPr>
          <p:cNvPr id="46082"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6979D58C-8BA6-41BD-9E9D-31CAB53ED2DD}"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46086" name="Text Box 4"/>
          <p:cNvSpPr txBox="1">
            <a:spLocks noChangeArrowheads="1"/>
          </p:cNvSpPr>
          <p:nvPr/>
        </p:nvSpPr>
        <p:spPr bwMode="auto">
          <a:xfrm>
            <a:off x="4876800" y="1752600"/>
            <a:ext cx="3352800"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 typeface="Arial" panose="020B0604020202020204" pitchFamily="34" charset="0"/>
              <a:buNone/>
            </a:pPr>
            <a:r>
              <a:rPr lang="en-US" altLang="zh-CN" sz="2400" b="0" dirty="0">
                <a:solidFill>
                  <a:schemeClr val="tx1"/>
                </a:solidFill>
                <a:latin typeface="Times New Roman" panose="02020603050405020304" pitchFamily="18" charset="0"/>
              </a:rPr>
              <a:t>(2)</a:t>
            </a:r>
            <a:r>
              <a:rPr lang="zh-CN" altLang="en-US" sz="2400" b="0" dirty="0">
                <a:solidFill>
                  <a:schemeClr val="tx1"/>
                </a:solidFill>
                <a:latin typeface="Times New Roman" panose="02020603050405020304" pitchFamily="18" charset="0"/>
              </a:rPr>
              <a:t>框架模型</a:t>
            </a:r>
            <a:endParaRPr lang="zh-CN" altLang="en-US" sz="2400" b="0" dirty="0">
              <a:solidFill>
                <a:schemeClr val="tx1"/>
              </a:solidFill>
              <a:latin typeface="Times New Roman" panose="02020603050405020304" pitchFamily="18" charset="0"/>
            </a:endParaRPr>
          </a:p>
          <a:p>
            <a:pPr eaLnBrk="1" hangingPunct="1">
              <a:spcBef>
                <a:spcPct val="50000"/>
              </a:spcBef>
              <a:buClrTx/>
              <a:buSzTx/>
              <a:buFont typeface="Arial" panose="020B0604020202020204" pitchFamily="34" charset="0"/>
              <a:buNone/>
            </a:pPr>
            <a:r>
              <a:rPr lang="zh-CN" altLang="en-US" sz="2400" b="0" dirty="0">
                <a:solidFill>
                  <a:schemeClr val="tx1"/>
                </a:solidFill>
                <a:latin typeface="Times New Roman" panose="02020603050405020304" pitchFamily="18" charset="0"/>
              </a:rPr>
              <a:t>       框架模型的观点与结构模型相似，但其重点在于整个系统的连贯结构</a:t>
            </a:r>
            <a:r>
              <a:rPr lang="en-US" altLang="zh-CN" sz="2400" b="0" dirty="0">
                <a:solidFill>
                  <a:schemeClr val="tx1"/>
                </a:solidFill>
                <a:latin typeface="Times New Roman" panose="02020603050405020304" pitchFamily="18" charset="0"/>
              </a:rPr>
              <a:t>(</a:t>
            </a:r>
            <a:r>
              <a:rPr lang="zh-CN" altLang="en-US" sz="2400" b="0" dirty="0">
                <a:solidFill>
                  <a:schemeClr val="tx1"/>
                </a:solidFill>
                <a:latin typeface="Times New Roman" panose="02020603050405020304" pitchFamily="18" charset="0"/>
              </a:rPr>
              <a:t>这种结构通常是唯一的</a:t>
            </a:r>
            <a:r>
              <a:rPr lang="en-US" altLang="zh-CN" sz="2400" b="0" dirty="0">
                <a:solidFill>
                  <a:schemeClr val="tx1"/>
                </a:solidFill>
                <a:latin typeface="Times New Roman" panose="02020603050405020304" pitchFamily="18" charset="0"/>
              </a:rPr>
              <a:t>)</a:t>
            </a:r>
            <a:r>
              <a:rPr lang="zh-CN" altLang="en-US" sz="2400" b="0" dirty="0">
                <a:solidFill>
                  <a:schemeClr val="tx1"/>
                </a:solidFill>
                <a:latin typeface="Times New Roman" panose="02020603050405020304" pitchFamily="18" charset="0"/>
              </a:rPr>
              <a:t>，这与重视其组成恰好相反。框架模型常常以某种特定领域或某类问题为目标。</a:t>
            </a:r>
            <a:r>
              <a:rPr lang="zh-CN" altLang="en-US" sz="1800" b="0" dirty="0">
                <a:solidFill>
                  <a:schemeClr val="tx1"/>
                </a:solidFill>
              </a:rPr>
              <a:t> </a:t>
            </a:r>
            <a:endParaRPr lang="zh-CN" altLang="en-US" sz="1800" b="0" dirty="0">
              <a:solidFill>
                <a:schemeClr val="tx1"/>
              </a:solidFill>
            </a:endParaRPr>
          </a:p>
        </p:txBody>
      </p:sp>
    </p:spTree>
  </p:cSld>
  <p:clrMapOvr>
    <a:masterClrMapping/>
  </p:clrMapOvr>
  <p:transition>
    <p:wipe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p:nvPr>
        </p:nvSpPr>
        <p:spPr/>
        <p:txBody>
          <a:bodyPr/>
          <a:lstStyle/>
          <a:p>
            <a:pPr eaLnBrk="1" hangingPunct="1"/>
            <a:r>
              <a:rPr lang="en-US" altLang="zh-CN"/>
              <a:t>SA</a:t>
            </a:r>
            <a:r>
              <a:rPr lang="zh-CN" altLang="en-US"/>
              <a:t>的定义</a:t>
            </a:r>
            <a:endParaRPr lang="zh-CN" altLang="en-US"/>
          </a:p>
        </p:txBody>
      </p:sp>
      <p:sp>
        <p:nvSpPr>
          <p:cNvPr id="47109" name="Rectangle 3"/>
          <p:cNvSpPr>
            <a:spLocks noGrp="1" noChangeArrowheads="1"/>
          </p:cNvSpPr>
          <p:nvPr>
            <p:ph idx="1"/>
          </p:nvPr>
        </p:nvSpPr>
        <p:spPr>
          <a:xfrm>
            <a:off x="628650" y="1825625"/>
            <a:ext cx="4087366" cy="4351338"/>
          </a:xfrm>
        </p:spPr>
        <p:txBody>
          <a:bodyPr/>
          <a:lstStyle/>
          <a:p>
            <a:pPr marL="0" indent="0" algn="just" eaLnBrk="1" hangingPunct="1">
              <a:buFont typeface="Wingdings" panose="05000000000000000000" pitchFamily="2" charset="2"/>
              <a:buNone/>
            </a:pPr>
            <a:r>
              <a:rPr lang="en-US" altLang="zh-CN" sz="2400" dirty="0">
                <a:latin typeface="宋体" panose="02010600030101010101" pitchFamily="2" charset="-122"/>
              </a:rPr>
              <a:t>(3)</a:t>
            </a:r>
            <a:r>
              <a:rPr lang="zh-CN" altLang="en-US" sz="2400" dirty="0">
                <a:latin typeface="Times New Roman" panose="02020603050405020304" pitchFamily="18" charset="0"/>
              </a:rPr>
              <a:t>动态模型</a:t>
            </a:r>
            <a:endParaRPr lang="zh-CN" altLang="en-US" sz="2400" dirty="0">
              <a:latin typeface="宋体" panose="02010600030101010101" pitchFamily="2" charset="-122"/>
            </a:endParaRPr>
          </a:p>
          <a:p>
            <a:pPr marL="0" indent="0" eaLnBrk="1" hangingPunct="1">
              <a:buFont typeface="Wingdings" panose="05000000000000000000" pitchFamily="2" charset="2"/>
              <a:buNone/>
            </a:pPr>
            <a:r>
              <a:rPr lang="zh-CN" altLang="en-US" sz="2400" dirty="0">
                <a:latin typeface="宋体" panose="02010600030101010101" pitchFamily="2" charset="-122"/>
              </a:rPr>
              <a:t>    动态模型强调系统的行为质量。</a:t>
            </a:r>
            <a:r>
              <a:rPr lang="zh-CN" altLang="en-US" sz="2400" dirty="0">
                <a:latin typeface="Times New Roman" panose="02020603050405020304" pitchFamily="18" charset="0"/>
              </a:rPr>
              <a:t>“</a:t>
            </a:r>
            <a:r>
              <a:rPr lang="zh-CN" altLang="en-US" sz="2400" dirty="0">
                <a:latin typeface="宋体" panose="02010600030101010101" pitchFamily="2" charset="-122"/>
              </a:rPr>
              <a:t>动态</a:t>
            </a:r>
            <a:r>
              <a:rPr lang="zh-CN" altLang="en-US" sz="2400" dirty="0">
                <a:latin typeface="Times New Roman" panose="02020603050405020304" pitchFamily="18" charset="0"/>
              </a:rPr>
              <a:t>”</a:t>
            </a:r>
            <a:r>
              <a:rPr lang="zh-CN" altLang="en-US" sz="2400" dirty="0">
                <a:latin typeface="宋体" panose="02010600030101010101" pitchFamily="2" charset="-122"/>
              </a:rPr>
              <a:t>可以有多种含意。它可以是指整个系统配置的变化也可以是指禁止预先激活了的通信或交互，还可以是指计算中表现中的动态特性，如改变数据的值。</a:t>
            </a:r>
            <a:r>
              <a:rPr lang="zh-CN" altLang="en-US" sz="2400" dirty="0"/>
              <a:t> </a:t>
            </a:r>
            <a:endParaRPr lang="zh-CN" altLang="en-US" sz="2400" dirty="0"/>
          </a:p>
        </p:txBody>
      </p:sp>
      <p:sp>
        <p:nvSpPr>
          <p:cNvPr id="47107"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456170C-FB3D-4A68-9761-F90A55CAB94C}" type="datetime1">
              <a:rPr lang="zh-CN" altLang="en-US" sz="1200" smtClean="0">
                <a:solidFill>
                  <a:schemeClr val="tx1"/>
                </a:solidFill>
              </a:rPr>
            </a:fld>
            <a:endParaRPr lang="zh-CN" altLang="en-US" sz="1200">
              <a:solidFill>
                <a:schemeClr val="tx1"/>
              </a:solidFill>
            </a:endParaRPr>
          </a:p>
        </p:txBody>
      </p:sp>
      <p:sp>
        <p:nvSpPr>
          <p:cNvPr id="47106"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ECCF537-93DF-41A8-AC45-D9FBB3959F1D}"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47110" name="Text Box 4"/>
          <p:cNvSpPr txBox="1">
            <a:spLocks noChangeArrowheads="1"/>
          </p:cNvSpPr>
          <p:nvPr/>
        </p:nvSpPr>
        <p:spPr bwMode="auto">
          <a:xfrm>
            <a:off x="4876800" y="1752600"/>
            <a:ext cx="335280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 typeface="Arial" panose="020B0604020202020204" pitchFamily="34" charset="0"/>
              <a:buNone/>
            </a:pPr>
            <a:r>
              <a:rPr lang="en-US" altLang="zh-CN" sz="2400" b="0" dirty="0">
                <a:solidFill>
                  <a:schemeClr val="tx1"/>
                </a:solidFill>
                <a:latin typeface="宋体" panose="02010600030101010101" pitchFamily="2" charset="-122"/>
              </a:rPr>
              <a:t>(4)</a:t>
            </a:r>
            <a:r>
              <a:rPr lang="zh-CN" altLang="en-US" sz="2400" b="0" dirty="0">
                <a:solidFill>
                  <a:schemeClr val="tx1"/>
                </a:solidFill>
                <a:latin typeface="宋体" panose="02010600030101010101" pitchFamily="2" charset="-122"/>
              </a:rPr>
              <a:t>过程模型</a:t>
            </a:r>
            <a:endParaRPr lang="zh-CN" altLang="en-US" sz="2400" b="0" dirty="0">
              <a:solidFill>
                <a:schemeClr val="tx1"/>
              </a:solidFill>
              <a:latin typeface="宋体" panose="02010600030101010101" pitchFamily="2" charset="-122"/>
            </a:endParaRPr>
          </a:p>
          <a:p>
            <a:pPr algn="just" eaLnBrk="1" hangingPunct="1">
              <a:spcBef>
                <a:spcPct val="50000"/>
              </a:spcBef>
              <a:buClrTx/>
              <a:buSzTx/>
              <a:buFont typeface="Arial" panose="020B0604020202020204" pitchFamily="34" charset="0"/>
              <a:buNone/>
            </a:pPr>
            <a:r>
              <a:rPr lang="zh-CN" altLang="en-US" sz="2400" b="0" dirty="0">
                <a:solidFill>
                  <a:schemeClr val="tx1"/>
                </a:solidFill>
                <a:latin typeface="宋体" panose="02010600030101010101" pitchFamily="2" charset="-122"/>
              </a:rPr>
              <a:t>    过程模型关注系统结构的构建及其步骤和过程。在这一观点下，体系结构是所进行的一系列过程的结果。</a:t>
            </a:r>
            <a:r>
              <a:rPr lang="zh-CN" altLang="en-US" sz="2400" b="0" dirty="0">
                <a:solidFill>
                  <a:schemeClr val="tx1"/>
                </a:solidFill>
                <a:latin typeface="Times New Roman" panose="02020603050405020304" pitchFamily="18" charset="0"/>
              </a:rPr>
              <a:t> </a:t>
            </a:r>
            <a:endParaRPr lang="zh-CN" altLang="en-US" sz="2400" b="0" dirty="0">
              <a:solidFill>
                <a:schemeClr val="tx1"/>
              </a:solidFill>
              <a:latin typeface="Times New Roman" panose="02020603050405020304" pitchFamily="18" charset="0"/>
            </a:endParaRPr>
          </a:p>
        </p:txBody>
      </p:sp>
    </p:spTree>
  </p:cSld>
  <p:clrMapOvr>
    <a:masterClrMapping/>
  </p:clrMapOvr>
  <p:transition>
    <p:wipe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p:txBody>
          <a:bodyPr/>
          <a:lstStyle/>
          <a:p>
            <a:pPr eaLnBrk="1" hangingPunct="1"/>
            <a:r>
              <a:rPr lang="en-US" altLang="zh-CN" dirty="0"/>
              <a:t>SA</a:t>
            </a:r>
            <a:r>
              <a:rPr lang="zh-CN" altLang="en-US" dirty="0"/>
              <a:t>的定义</a:t>
            </a:r>
            <a:endParaRPr lang="zh-CN" altLang="en-US" dirty="0"/>
          </a:p>
        </p:txBody>
      </p:sp>
      <p:sp>
        <p:nvSpPr>
          <p:cNvPr id="44037" name="Rectangle 3"/>
          <p:cNvSpPr>
            <a:spLocks noGrp="1" noChangeArrowheads="1"/>
          </p:cNvSpPr>
          <p:nvPr>
            <p:ph idx="1"/>
          </p:nvPr>
        </p:nvSpPr>
        <p:spPr/>
        <p:txBody>
          <a:bodyPr/>
          <a:lstStyle/>
          <a:p>
            <a:pPr eaLnBrk="1" hangingPunct="1">
              <a:lnSpc>
                <a:spcPct val="90000"/>
              </a:lnSpc>
              <a:buFont typeface="Wingdings" panose="05000000000000000000" pitchFamily="2" charset="2"/>
              <a:buNone/>
            </a:pPr>
            <a:r>
              <a:rPr lang="zh-CN" altLang="en-US" dirty="0">
                <a:latin typeface="Times New Roman" panose="02020603050405020304" pitchFamily="18" charset="0"/>
              </a:rPr>
              <a:t>定义</a:t>
            </a:r>
            <a:r>
              <a:rPr lang="en-US" altLang="zh-CN" dirty="0">
                <a:latin typeface="宋体" panose="02010600030101010101" pitchFamily="2" charset="-122"/>
              </a:rPr>
              <a:t>3</a:t>
            </a:r>
            <a:r>
              <a:rPr lang="en-US" altLang="zh-CN" dirty="0">
                <a:latin typeface="Times New Roman" panose="02020603050405020304" pitchFamily="18" charset="0"/>
              </a:rPr>
              <a:t>: (</a:t>
            </a:r>
            <a:r>
              <a:rPr lang="en-US" altLang="zh-CN" sz="2800" dirty="0">
                <a:latin typeface="Times New Roman" panose="02020603050405020304" pitchFamily="18" charset="0"/>
              </a:rPr>
              <a:t>Bass</a:t>
            </a:r>
            <a:r>
              <a:rPr lang="zh-CN" altLang="en-US" sz="2800" dirty="0">
                <a:latin typeface="Times New Roman" panose="02020603050405020304" pitchFamily="18" charset="0"/>
              </a:rPr>
              <a:t>定义</a:t>
            </a:r>
            <a:r>
              <a:rPr lang="en-US" altLang="zh-CN" dirty="0">
                <a:latin typeface="Times New Roman" panose="02020603050405020304" pitchFamily="18" charset="0"/>
              </a:rPr>
              <a:t>) </a:t>
            </a:r>
            <a:br>
              <a:rPr lang="en-US" altLang="zh-CN" dirty="0">
                <a:latin typeface="Times New Roman" panose="02020603050405020304" pitchFamily="18" charset="0"/>
              </a:rPr>
            </a:br>
            <a:r>
              <a:rPr lang="en-US" altLang="zh-CN" dirty="0">
                <a:latin typeface="Times New Roman" panose="02020603050405020304" pitchFamily="18" charset="0"/>
              </a:rPr>
              <a:t>     </a:t>
            </a:r>
            <a:r>
              <a:rPr lang="en-US" altLang="zh-CN" sz="2400" dirty="0">
                <a:latin typeface="宋体" panose="02010600030101010101" pitchFamily="2" charset="-122"/>
              </a:rPr>
              <a:t>Bass</a:t>
            </a:r>
            <a:r>
              <a:rPr lang="zh-CN" altLang="en-US" sz="2400" dirty="0">
                <a:latin typeface="Times New Roman" panose="02020603050405020304" pitchFamily="18" charset="0"/>
              </a:rPr>
              <a:t>等人在</a:t>
            </a:r>
            <a:r>
              <a:rPr lang="en-US" altLang="zh-CN" sz="2400" dirty="0">
                <a:latin typeface="Times New Roman" panose="02020603050405020304" pitchFamily="18" charset="0"/>
              </a:rPr>
              <a:t>《</a:t>
            </a:r>
            <a:r>
              <a:rPr lang="en-US" altLang="zh-CN" sz="2400" dirty="0">
                <a:latin typeface="宋体" panose="02010600030101010101" pitchFamily="2" charset="-122"/>
              </a:rPr>
              <a:t>Software Architecture in Practice</a:t>
            </a:r>
            <a:r>
              <a:rPr lang="en-US" altLang="zh-CN" sz="2400" dirty="0">
                <a:latin typeface="Times New Roman" panose="02020603050405020304" pitchFamily="18" charset="0"/>
              </a:rPr>
              <a:t>》</a:t>
            </a:r>
            <a:r>
              <a:rPr lang="zh-CN" altLang="en-US" sz="2400" dirty="0">
                <a:latin typeface="Times New Roman" panose="02020603050405020304" pitchFamily="18" charset="0"/>
              </a:rPr>
              <a:t>一书中提到，程序或计算系统的软件体系结构是系统的一个或多个结构，包括软件构件</a:t>
            </a:r>
            <a:r>
              <a:rPr lang="en-US" altLang="zh-CN" sz="2400" dirty="0">
                <a:latin typeface="宋体" panose="02010600030101010101" pitchFamily="2" charset="-122"/>
              </a:rPr>
              <a:t>(components)</a:t>
            </a:r>
            <a:r>
              <a:rPr lang="zh-CN" altLang="en-US" sz="2400" dirty="0">
                <a:latin typeface="Times New Roman" panose="02020603050405020304" pitchFamily="18" charset="0"/>
              </a:rPr>
              <a:t>、构件的外部可视属性</a:t>
            </a:r>
            <a:r>
              <a:rPr lang="en-US" altLang="zh-CN" sz="2400">
                <a:latin typeface="宋体" panose="02010600030101010101" pitchFamily="2" charset="-122"/>
              </a:rPr>
              <a:t>(properties</a:t>
            </a:r>
            <a:r>
              <a:rPr lang="en-US" altLang="zh-CN" sz="2400" dirty="0">
                <a:latin typeface="宋体" panose="02010600030101010101" pitchFamily="2" charset="-122"/>
              </a:rPr>
              <a:t>)</a:t>
            </a:r>
            <a:r>
              <a:rPr lang="zh-CN" altLang="en-US" sz="2400" dirty="0">
                <a:latin typeface="Times New Roman" panose="02020603050405020304" pitchFamily="18" charset="0"/>
              </a:rPr>
              <a:t>和构件之间的关系。</a:t>
            </a:r>
            <a:endParaRPr lang="zh-CN" altLang="en-US" sz="2400" dirty="0">
              <a:latin typeface="宋体" panose="02010600030101010101" pitchFamily="2" charset="-122"/>
            </a:endParaRPr>
          </a:p>
          <a:p>
            <a:pPr eaLnBrk="1" hangingPunct="1">
              <a:lnSpc>
                <a:spcPct val="90000"/>
              </a:lnSpc>
              <a:buFont typeface="Wingdings" panose="05000000000000000000" pitchFamily="2" charset="2"/>
              <a:buNone/>
            </a:pPr>
            <a:r>
              <a:rPr lang="zh-CN" altLang="en-US" sz="2400" dirty="0">
                <a:latin typeface="宋体" panose="02010600030101010101" pitchFamily="2" charset="-122"/>
              </a:rPr>
              <a:t>     这里的外部可视属性，是指其他构件认为该构件所具备的特征，如所提供的服务、具有的性能特点、错误处理机制、共享资源的用法等。要注意的是，此定义中，特意未指明什么是构件，什么是关系。构件既可以是对象，也可以是进程，还可以是函数库，或是数据库。</a:t>
            </a:r>
            <a:r>
              <a:rPr lang="zh-CN" altLang="en-US" dirty="0">
                <a:latin typeface="宋体" panose="02010600030101010101" pitchFamily="2" charset="-122"/>
              </a:rPr>
              <a:t> </a:t>
            </a:r>
            <a:endParaRPr lang="zh-CN" altLang="en-US" sz="2800" dirty="0"/>
          </a:p>
        </p:txBody>
      </p:sp>
      <p:sp>
        <p:nvSpPr>
          <p:cNvPr id="44035"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816D7283-1129-474F-926B-11684DD80CD7}" type="datetime1">
              <a:rPr lang="zh-CN" altLang="en-US" sz="1200" smtClean="0">
                <a:solidFill>
                  <a:schemeClr val="tx1"/>
                </a:solidFill>
              </a:rPr>
            </a:fld>
            <a:endParaRPr lang="zh-CN" altLang="en-US" sz="1200">
              <a:solidFill>
                <a:schemeClr val="tx1"/>
              </a:solidFill>
            </a:endParaRPr>
          </a:p>
        </p:txBody>
      </p:sp>
      <p:sp>
        <p:nvSpPr>
          <p:cNvPr id="44034"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B8CC1197-3C07-4CD5-A767-8D221CF054FD}"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dirty="0">
                <a:latin typeface="Times New Roman" panose="02020603050405020304" pitchFamily="18" charset="0"/>
              </a:rPr>
              <a:t>定义</a:t>
            </a:r>
            <a:r>
              <a:rPr lang="en-US" altLang="zh-CN" dirty="0">
                <a:latin typeface="宋体" panose="02010600030101010101" pitchFamily="2" charset="-122"/>
              </a:rPr>
              <a:t>4</a:t>
            </a:r>
            <a:r>
              <a:rPr lang="en-US" altLang="zh-CN" dirty="0"/>
              <a:t>: (</a:t>
            </a:r>
            <a:r>
              <a:rPr lang="en-US" altLang="zh-CN" dirty="0">
                <a:hlinkClick r:id="rId1"/>
              </a:rPr>
              <a:t>ISO/IEC/IEEE 42010</a:t>
            </a:r>
            <a:r>
              <a:rPr lang="en-US" altLang="zh-CN" dirty="0"/>
              <a:t>)</a:t>
            </a:r>
            <a:endParaRPr lang="en-US" altLang="zh-CN" dirty="0"/>
          </a:p>
          <a:p>
            <a:pPr marL="0" indent="0">
              <a:buNone/>
            </a:pPr>
            <a:endParaRPr lang="en-US" altLang="zh-CN" dirty="0"/>
          </a:p>
          <a:p>
            <a:pPr marL="0" indent="0">
              <a:buNone/>
            </a:pPr>
            <a:r>
              <a:rPr lang="en-US" altLang="zh-CN" dirty="0"/>
              <a:t>2011</a:t>
            </a:r>
            <a:r>
              <a:rPr lang="zh-CN" altLang="en-US" dirty="0"/>
              <a:t>年</a:t>
            </a:r>
            <a:r>
              <a:rPr lang="en-US" altLang="zh-CN" dirty="0"/>
              <a:t>ISO/IEC/IEEE</a:t>
            </a:r>
            <a:r>
              <a:rPr lang="zh-CN" altLang="en-US" dirty="0"/>
              <a:t>标准中定义软件体系结构是某一系统的基本组织结构，其内容包括软件构件，构件间的联系，构件与其环境间的联系，以及指导上述内容设计与演化的原理。</a:t>
            </a:r>
            <a:endParaRPr lang="zh-CN" altLang="en-US" dirty="0"/>
          </a:p>
          <a:p>
            <a:endParaRPr lang="zh-CN" altLang="en-US" dirty="0"/>
          </a:p>
        </p:txBody>
      </p:sp>
      <p:sp>
        <p:nvSpPr>
          <p:cNvPr id="4" name="灯片编号占位符 3"/>
          <p:cNvSpPr>
            <a:spLocks noGrp="1"/>
          </p:cNvSpPr>
          <p:nvPr>
            <p:ph type="sldNum" sz="quarter" idx="11"/>
          </p:nvPr>
        </p:nvSpPr>
        <p:spPr/>
        <p:txBody>
          <a:bodyPr/>
          <a:lstStyle/>
          <a:p>
            <a:pPr>
              <a:defRPr/>
            </a:pPr>
            <a:fld id="{6BF530E8-F43B-4C96-89F0-9964C1590B71}" type="slidenum">
              <a:rPr lang="zh-CN" altLang="en-US" smtClean="0"/>
            </a:fld>
            <a:endParaRPr lang="zh-CN" altLang="en-US"/>
          </a:p>
        </p:txBody>
      </p:sp>
    </p:spTree>
  </p:cSld>
  <p:clrMapOvr>
    <a:masterClrMapping/>
  </p:clrMapOvr>
  <p:transition>
    <p:wipe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p:cNvSpPr>
            <a:spLocks noGrp="1" noChangeArrowheads="1"/>
          </p:cNvSpPr>
          <p:nvPr>
            <p:ph type="title"/>
          </p:nvPr>
        </p:nvSpPr>
        <p:spPr/>
        <p:txBody>
          <a:bodyPr/>
          <a:lstStyle/>
          <a:p>
            <a:pPr eaLnBrk="1" hangingPunct="1"/>
            <a:r>
              <a:rPr lang="en-US" altLang="zh-CN"/>
              <a:t>SA</a:t>
            </a:r>
            <a:r>
              <a:rPr lang="zh-CN" altLang="en-US"/>
              <a:t>的定义</a:t>
            </a:r>
            <a:endParaRPr lang="zh-CN" altLang="en-US"/>
          </a:p>
        </p:txBody>
      </p:sp>
      <p:sp>
        <p:nvSpPr>
          <p:cNvPr id="60421" name="Rectangle 3"/>
          <p:cNvSpPr>
            <a:spLocks noGrp="1" noChangeArrowheads="1"/>
          </p:cNvSpPr>
          <p:nvPr>
            <p:ph idx="1"/>
          </p:nvPr>
        </p:nvSpPr>
        <p:spPr/>
        <p:txBody>
          <a:bodyPr/>
          <a:lstStyle/>
          <a:p>
            <a:pPr indent="-246380" eaLnBrk="1" hangingPunct="1">
              <a:lnSpc>
                <a:spcPct val="90000"/>
              </a:lnSpc>
              <a:buFont typeface="Wingdings" panose="05000000000000000000" pitchFamily="2" charset="2"/>
              <a:buNone/>
            </a:pPr>
            <a:r>
              <a:rPr lang="zh-CN" altLang="en-US" dirty="0">
                <a:latin typeface="Times New Roman" panose="02020603050405020304" pitchFamily="18" charset="0"/>
              </a:rPr>
              <a:t>  定义</a:t>
            </a:r>
            <a:r>
              <a:rPr lang="en-US" altLang="zh-CN" dirty="0">
                <a:latin typeface="宋体" panose="02010600030101010101" pitchFamily="2" charset="-122"/>
              </a:rPr>
              <a:t>5</a:t>
            </a:r>
            <a:r>
              <a:rPr lang="zh-CN" altLang="en-US" dirty="0">
                <a:latin typeface="Times New Roman" panose="02020603050405020304" pitchFamily="18" charset="0"/>
              </a:rPr>
              <a:t>：</a:t>
            </a:r>
            <a:r>
              <a:rPr lang="en-US" altLang="zh-CN" dirty="0">
                <a:latin typeface="宋体" panose="02010600030101010101" pitchFamily="2" charset="-122"/>
              </a:rPr>
              <a:t>Boehm</a:t>
            </a:r>
            <a:r>
              <a:rPr lang="zh-CN" altLang="en-US" dirty="0">
                <a:latin typeface="Times New Roman" panose="02020603050405020304" pitchFamily="18" charset="0"/>
              </a:rPr>
              <a:t>模型</a:t>
            </a:r>
            <a:br>
              <a:rPr lang="zh-CN" altLang="en-US" dirty="0">
                <a:latin typeface="Times New Roman" panose="02020603050405020304" pitchFamily="18" charset="0"/>
              </a:rPr>
            </a:br>
            <a:endParaRPr lang="zh-CN" altLang="en-US" dirty="0">
              <a:latin typeface="宋体" panose="02010600030101010101" pitchFamily="2" charset="-122"/>
            </a:endParaRPr>
          </a:p>
          <a:p>
            <a:pPr indent="-246380" eaLnBrk="1" hangingPunct="1">
              <a:lnSpc>
                <a:spcPct val="90000"/>
              </a:lnSpc>
              <a:buFont typeface="Wingdings" panose="05000000000000000000" pitchFamily="2" charset="2"/>
              <a:buNone/>
            </a:pPr>
            <a:r>
              <a:rPr lang="zh-CN" altLang="en-US" sz="2800" dirty="0">
                <a:latin typeface="Times New Roman" panose="02020603050405020304" pitchFamily="18" charset="0"/>
              </a:rPr>
              <a:t>   </a:t>
            </a:r>
            <a:r>
              <a:rPr lang="zh-CN" altLang="en-US" sz="2400" dirty="0">
                <a:latin typeface="Times New Roman" panose="02020603050405020304" pitchFamily="18" charset="0"/>
              </a:rPr>
              <a:t>软件体系结构＝</a:t>
            </a:r>
            <a:r>
              <a:rPr lang="en-US" altLang="zh-CN" sz="2400" dirty="0">
                <a:latin typeface="宋体" panose="02010600030101010101" pitchFamily="2" charset="-122"/>
              </a:rPr>
              <a:t>{</a:t>
            </a:r>
            <a:r>
              <a:rPr lang="zh-CN" altLang="en-US" sz="2400" dirty="0">
                <a:latin typeface="Times New Roman" panose="02020603050405020304" pitchFamily="18" charset="0"/>
              </a:rPr>
              <a:t>构件，连接件，约束，不同人员的需求，准则</a:t>
            </a:r>
            <a:r>
              <a:rPr lang="en-US" altLang="zh-CN" sz="2400" dirty="0">
                <a:latin typeface="宋体" panose="02010600030101010101" pitchFamily="2" charset="-122"/>
              </a:rPr>
              <a:t>}</a:t>
            </a:r>
            <a:r>
              <a:rPr lang="zh-CN" altLang="en-US" sz="2400" dirty="0">
                <a:latin typeface="Times New Roman" panose="02020603050405020304" pitchFamily="18" charset="0"/>
              </a:rPr>
              <a:t>。</a:t>
            </a:r>
            <a:endParaRPr lang="zh-CN" altLang="en-US" sz="2400" dirty="0">
              <a:latin typeface="宋体" panose="02010600030101010101" pitchFamily="2" charset="-122"/>
            </a:endParaRPr>
          </a:p>
          <a:p>
            <a:pPr indent="-246380" eaLnBrk="1" hangingPunct="1">
              <a:lnSpc>
                <a:spcPct val="90000"/>
              </a:lnSpc>
              <a:buFont typeface="Wingdings" panose="05000000000000000000" pitchFamily="2" charset="2"/>
              <a:buNone/>
            </a:pPr>
            <a:r>
              <a:rPr lang="zh-CN" altLang="en-US" sz="2800" dirty="0">
                <a:latin typeface="Times New Roman" panose="02020603050405020304" pitchFamily="18" charset="0"/>
              </a:rPr>
              <a:t>   </a:t>
            </a:r>
            <a:r>
              <a:rPr lang="en-US" altLang="zh-CN" sz="2400" dirty="0">
                <a:latin typeface="Times New Roman" panose="02020603050405020304" pitchFamily="18" charset="0"/>
              </a:rPr>
              <a:t>Barry Boehm</a:t>
            </a:r>
            <a:r>
              <a:rPr lang="zh-CN" altLang="en-US" sz="2400" dirty="0">
                <a:latin typeface="Times New Roman" panose="02020603050405020304" pitchFamily="18" charset="0"/>
              </a:rPr>
              <a:t>和他的学生提出，软件体系结构包括系统构件、连接件、约束的集合，反应不同人员需求的集合，以及准则的集合。其中，这些准则能够说明由构件、连接件和约束所定义的系统在实现时是如何满足系统不同人员需求的。 </a:t>
            </a:r>
            <a:endParaRPr lang="zh-CN" altLang="en-US" sz="2400" dirty="0">
              <a:latin typeface="Times New Roman" panose="02020603050405020304" pitchFamily="18" charset="0"/>
            </a:endParaRPr>
          </a:p>
        </p:txBody>
      </p:sp>
      <p:sp>
        <p:nvSpPr>
          <p:cNvPr id="60419"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46C99D88-E01A-4DEE-A51C-F8468AEA43B0}" type="datetime1">
              <a:rPr lang="zh-CN" altLang="en-US" sz="1200" smtClean="0">
                <a:solidFill>
                  <a:schemeClr val="tx1"/>
                </a:solidFill>
              </a:rPr>
            </a:fld>
            <a:endParaRPr lang="zh-CN" altLang="en-US" sz="1200">
              <a:solidFill>
                <a:schemeClr val="tx1"/>
              </a:solidFill>
            </a:endParaRPr>
          </a:p>
        </p:txBody>
      </p:sp>
      <p:sp>
        <p:nvSpPr>
          <p:cNvPr id="60418"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3CE25E3B-A14D-479F-A105-4ABB20CA3C7C}"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决策派的主要定义</a:t>
            </a:r>
            <a:endParaRPr lang="zh-CN" altLang="en-US" dirty="0"/>
          </a:p>
        </p:txBody>
      </p:sp>
      <p:sp>
        <p:nvSpPr>
          <p:cNvPr id="3" name="内容占位符 2"/>
          <p:cNvSpPr>
            <a:spLocks noGrp="1"/>
          </p:cNvSpPr>
          <p:nvPr>
            <p:ph idx="1"/>
          </p:nvPr>
        </p:nvSpPr>
        <p:spPr/>
        <p:txBody>
          <a:bodyPr/>
          <a:lstStyle/>
          <a:p>
            <a:r>
              <a:rPr lang="en-US" altLang="zh-CN" sz="2400" b="1" dirty="0">
                <a:solidFill>
                  <a:srgbClr val="000000"/>
                </a:solidFill>
                <a:latin typeface="Arial Narrow" panose="020B0606020202030204" pitchFamily="34" charset="0"/>
                <a:ea typeface="仿宋_GB2312" pitchFamily="49" charset="-122"/>
              </a:rPr>
              <a:t> </a:t>
            </a:r>
            <a:r>
              <a:rPr lang="en-US" altLang="zh-CN" b="1" dirty="0" err="1">
                <a:solidFill>
                  <a:srgbClr val="000000"/>
                </a:solidFill>
                <a:latin typeface="Arial Narrow" panose="020B0606020202030204" pitchFamily="34" charset="0"/>
                <a:ea typeface="仿宋_GB2312" pitchFamily="49" charset="-122"/>
              </a:rPr>
              <a:t>决策派定义依据</a:t>
            </a:r>
            <a:r>
              <a:rPr lang="zh-CN" altLang="en-US" b="1" dirty="0">
                <a:solidFill>
                  <a:srgbClr val="000000"/>
                </a:solidFill>
                <a:latin typeface="Arial Narrow" panose="020B0606020202030204" pitchFamily="34" charset="0"/>
                <a:ea typeface="仿宋_GB2312" pitchFamily="49" charset="-122"/>
              </a:rPr>
              <a:t>：</a:t>
            </a:r>
            <a:r>
              <a:rPr lang="en-US" altLang="zh-CN" b="1" dirty="0" err="1">
                <a:solidFill>
                  <a:srgbClr val="000000"/>
                </a:solidFill>
                <a:latin typeface="Arial Narrow" panose="020B0606020202030204" pitchFamily="34" charset="0"/>
                <a:ea typeface="仿宋_GB2312" pitchFamily="49" charset="-122"/>
              </a:rPr>
              <a:t>软件</a:t>
            </a:r>
            <a:r>
              <a:rPr lang="zh-CN" altLang="en-US" b="1" dirty="0">
                <a:solidFill>
                  <a:srgbClr val="000000"/>
                </a:solidFill>
                <a:latin typeface="Arial Narrow" panose="020B0606020202030204" pitchFamily="34" charset="0"/>
                <a:ea typeface="仿宋_GB2312" pitchFamily="49" charset="-122"/>
              </a:rPr>
              <a:t>体系结构</a:t>
            </a:r>
            <a:r>
              <a:rPr lang="en-US" altLang="zh-CN" b="1" dirty="0" err="1">
                <a:solidFill>
                  <a:srgbClr val="000000"/>
                </a:solidFill>
                <a:latin typeface="Arial Narrow" panose="020B0606020202030204" pitchFamily="34" charset="0"/>
                <a:ea typeface="仿宋_GB2312" pitchFamily="49" charset="-122"/>
              </a:rPr>
              <a:t>设计是软件设计的一部分，软件设计实际上是开发人员意志和决策在软件开发过程中的体现，软件</a:t>
            </a:r>
            <a:r>
              <a:rPr lang="zh-CN" altLang="en-US" b="1" dirty="0">
                <a:solidFill>
                  <a:srgbClr val="000000"/>
                </a:solidFill>
                <a:latin typeface="Arial Narrow" panose="020B0606020202030204" pitchFamily="34" charset="0"/>
                <a:ea typeface="仿宋_GB2312" pitchFamily="49" charset="-122"/>
              </a:rPr>
              <a:t>体系结构</a:t>
            </a:r>
            <a:r>
              <a:rPr lang="en-US" altLang="zh-CN" b="1" dirty="0" err="1">
                <a:solidFill>
                  <a:srgbClr val="000000"/>
                </a:solidFill>
                <a:latin typeface="Arial Narrow" panose="020B0606020202030204" pitchFamily="34" charset="0"/>
                <a:ea typeface="仿宋_GB2312" pitchFamily="49" charset="-122"/>
              </a:rPr>
              <a:t>更是高层领导和</a:t>
            </a:r>
            <a:r>
              <a:rPr lang="zh-CN" altLang="en-US" b="1" dirty="0">
                <a:solidFill>
                  <a:srgbClr val="000000"/>
                </a:solidFill>
                <a:latin typeface="Arial Narrow" panose="020B0606020202030204" pitchFamily="34" charset="0"/>
                <a:ea typeface="仿宋_GB2312" pitchFamily="49" charset="-122"/>
              </a:rPr>
              <a:t>体系结构</a:t>
            </a:r>
            <a:r>
              <a:rPr lang="en-US" altLang="zh-CN" b="1" dirty="0" err="1">
                <a:solidFill>
                  <a:srgbClr val="000000"/>
                </a:solidFill>
                <a:latin typeface="Arial Narrow" panose="020B0606020202030204" pitchFamily="34" charset="0"/>
                <a:ea typeface="仿宋_GB2312" pitchFamily="49" charset="-122"/>
              </a:rPr>
              <a:t>师意志和决策的体现，强调的是设计决策，所以更加注重</a:t>
            </a:r>
            <a:r>
              <a:rPr lang="zh-CN" altLang="en-US" b="1" dirty="0">
                <a:solidFill>
                  <a:srgbClr val="000000"/>
                </a:solidFill>
                <a:latin typeface="Arial Narrow" panose="020B0606020202030204" pitchFamily="34" charset="0"/>
                <a:ea typeface="仿宋_GB2312" pitchFamily="49" charset="-122"/>
              </a:rPr>
              <a:t>体系结构</a:t>
            </a:r>
            <a:r>
              <a:rPr lang="en-US" altLang="zh-CN" b="1" dirty="0" err="1">
                <a:solidFill>
                  <a:srgbClr val="000000"/>
                </a:solidFill>
                <a:latin typeface="Arial Narrow" panose="020B0606020202030204" pitchFamily="34" charset="0"/>
                <a:ea typeface="仿宋_GB2312" pitchFamily="49" charset="-122"/>
              </a:rPr>
              <a:t>风格和模式的选择</a:t>
            </a:r>
            <a:r>
              <a:rPr lang="en-US" altLang="zh-CN" b="1" dirty="0">
                <a:solidFill>
                  <a:srgbClr val="000000"/>
                </a:solidFill>
                <a:latin typeface="Arial Narrow" panose="020B0606020202030204" pitchFamily="34" charset="0"/>
                <a:ea typeface="仿宋_GB2312" pitchFamily="49" charset="-122"/>
              </a:rPr>
              <a:t>。</a:t>
            </a:r>
            <a:endParaRPr lang="zh-CN" altLang="en-US" dirty="0"/>
          </a:p>
        </p:txBody>
      </p:sp>
      <p:sp>
        <p:nvSpPr>
          <p:cNvPr id="4" name="灯片编号占位符 3"/>
          <p:cNvSpPr>
            <a:spLocks noGrp="1"/>
          </p:cNvSpPr>
          <p:nvPr>
            <p:ph type="sldNum" sz="quarter" idx="11"/>
          </p:nvPr>
        </p:nvSpPr>
        <p:spPr/>
        <p:txBody>
          <a:bodyPr/>
          <a:lstStyle/>
          <a:p>
            <a:pPr>
              <a:defRPr/>
            </a:pPr>
            <a:fld id="{6BF530E8-F43B-4C96-89F0-9964C1590B71}" type="slidenum">
              <a:rPr lang="zh-CN" altLang="en-US" smtClean="0"/>
            </a:fld>
            <a:endParaRPr lang="zh-CN" altLang="en-US"/>
          </a:p>
        </p:txBody>
      </p:sp>
    </p:spTree>
  </p:cSld>
  <p:clrMapOvr>
    <a:masterClrMapping/>
  </p:clrMapOvr>
  <p:transition>
    <p:wipe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a:spLocks noGrp="1" noChangeArrowheads="1"/>
          </p:cNvSpPr>
          <p:nvPr>
            <p:ph type="title"/>
          </p:nvPr>
        </p:nvSpPr>
        <p:spPr/>
        <p:txBody>
          <a:bodyPr/>
          <a:lstStyle/>
          <a:p>
            <a:pPr eaLnBrk="1" hangingPunct="1"/>
            <a:r>
              <a:rPr lang="en-US" altLang="zh-CN"/>
              <a:t>SA</a:t>
            </a:r>
            <a:r>
              <a:rPr lang="zh-CN" altLang="en-US"/>
              <a:t>的定义</a:t>
            </a:r>
            <a:endParaRPr lang="zh-CN" altLang="en-US"/>
          </a:p>
        </p:txBody>
      </p:sp>
      <p:sp>
        <p:nvSpPr>
          <p:cNvPr id="40965" name="Rectangle 3"/>
          <p:cNvSpPr>
            <a:spLocks noGrp="1" noChangeArrowheads="1"/>
          </p:cNvSpPr>
          <p:nvPr>
            <p:ph idx="1"/>
          </p:nvPr>
        </p:nvSpPr>
        <p:spPr>
          <a:xfrm>
            <a:off x="179512" y="1325562"/>
            <a:ext cx="8335838" cy="5127773"/>
          </a:xfrm>
        </p:spPr>
        <p:txBody>
          <a:bodyPr/>
          <a:lstStyle/>
          <a:p>
            <a:pPr eaLnBrk="1" hangingPunct="1">
              <a:lnSpc>
                <a:spcPct val="90000"/>
              </a:lnSpc>
            </a:pPr>
            <a:r>
              <a:rPr lang="en-US" altLang="zh-CN" sz="2000" dirty="0" err="1"/>
              <a:t>Booch</a:t>
            </a:r>
            <a:r>
              <a:rPr lang="en-US" altLang="zh-CN" sz="2000" dirty="0"/>
              <a:t>, Rumbaugh, and Jacobson, 1999:</a:t>
            </a:r>
            <a:br>
              <a:rPr lang="en-US" altLang="zh-CN" sz="2000" dirty="0"/>
            </a:br>
            <a:br>
              <a:rPr lang="en-US" altLang="zh-CN" sz="2000" dirty="0"/>
            </a:br>
            <a:r>
              <a:rPr lang="en-US" altLang="zh-CN" sz="2000" dirty="0"/>
              <a:t>An architecture is the set of significant decisions about the </a:t>
            </a:r>
            <a:r>
              <a:rPr lang="en-US" altLang="zh-CN" sz="2000" dirty="0">
                <a:solidFill>
                  <a:srgbClr val="FF3399"/>
                </a:solidFill>
              </a:rPr>
              <a:t>organization of a software system</a:t>
            </a:r>
            <a:r>
              <a:rPr lang="en-US" altLang="zh-CN" sz="2000" dirty="0"/>
              <a:t>, the selection of the structural elements and their interfaces by which the system is composed, together with their behavior as specified in the collaborations among those elements, the </a:t>
            </a:r>
            <a:r>
              <a:rPr lang="en-US" altLang="zh-CN" sz="2000" dirty="0">
                <a:solidFill>
                  <a:srgbClr val="FF3399"/>
                </a:solidFill>
              </a:rPr>
              <a:t>composition of these structural and behavioral elements</a:t>
            </a:r>
            <a:r>
              <a:rPr lang="en-US" altLang="zh-CN" sz="2000" dirty="0"/>
              <a:t> into progressively larger </a:t>
            </a:r>
            <a:r>
              <a:rPr lang="en-US" altLang="zh-CN" sz="2000" dirty="0">
                <a:solidFill>
                  <a:srgbClr val="FF3399"/>
                </a:solidFill>
              </a:rPr>
              <a:t>subsystems</a:t>
            </a:r>
            <a:r>
              <a:rPr lang="en-US" altLang="zh-CN" sz="2000" dirty="0"/>
              <a:t>, and the </a:t>
            </a:r>
            <a:r>
              <a:rPr lang="en-US" altLang="zh-CN" sz="2000" dirty="0">
                <a:solidFill>
                  <a:srgbClr val="FF3399"/>
                </a:solidFill>
              </a:rPr>
              <a:t>architectural style</a:t>
            </a:r>
            <a:r>
              <a:rPr lang="en-US" altLang="zh-CN" sz="2000" dirty="0"/>
              <a:t> that guides this organization---these elements and their interfaces, their collaborations, and their composition (The UML Modeling Language User Guide, Addison-Wesley, 1999).</a:t>
            </a:r>
            <a:endParaRPr lang="en-US" altLang="zh-CN" sz="2000" dirty="0"/>
          </a:p>
          <a:p>
            <a:pPr eaLnBrk="1" hangingPunct="1">
              <a:lnSpc>
                <a:spcPct val="90000"/>
              </a:lnSpc>
            </a:pPr>
            <a:r>
              <a:rPr lang="zh-CN" altLang="en-US" sz="2000" dirty="0">
                <a:latin typeface="宋体" panose="02010600030101010101" pitchFamily="2" charset="-122"/>
              </a:rPr>
              <a:t>体系结构是一系列重要决策的集合，这些决策与以下内容相关：软件的组织，构成系统的结构元素及其接口的选择，这些元素在相互协作中明确表现出的行为，这些结构元素和行为元素进一步组合构成的更大规模的子系统，和引导这一组织</a:t>
            </a:r>
            <a:r>
              <a:rPr lang="en-US" altLang="zh-CN" sz="2000" dirty="0">
                <a:latin typeface="Times New Roman" panose="02020603050405020304" pitchFamily="18" charset="0"/>
              </a:rPr>
              <a:t>——</a:t>
            </a:r>
            <a:r>
              <a:rPr lang="zh-CN" altLang="en-US" sz="2000" dirty="0">
                <a:latin typeface="宋体" panose="02010600030101010101" pitchFamily="2" charset="-122"/>
              </a:rPr>
              <a:t>包括这些元素及其接口、它们的协作、它们的组合</a:t>
            </a:r>
            <a:r>
              <a:rPr lang="en-US" altLang="zh-CN" sz="2000" dirty="0">
                <a:latin typeface="Times New Roman" panose="02020603050405020304" pitchFamily="18" charset="0"/>
              </a:rPr>
              <a:t>——</a:t>
            </a:r>
            <a:r>
              <a:rPr lang="zh-CN" altLang="en-US" sz="2000" dirty="0">
                <a:latin typeface="宋体" panose="02010600030101010101" pitchFamily="2" charset="-122"/>
              </a:rPr>
              <a:t>的体系结构风格。</a:t>
            </a:r>
            <a:r>
              <a:rPr lang="zh-CN" altLang="en-US" sz="2400" dirty="0"/>
              <a:t> </a:t>
            </a:r>
            <a:endParaRPr lang="zh-CN" altLang="en-US" sz="2400" dirty="0"/>
          </a:p>
        </p:txBody>
      </p:sp>
      <p:sp>
        <p:nvSpPr>
          <p:cNvPr id="40963"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462E065E-C2FD-478B-984A-9D5726DC20BA}" type="datetime1">
              <a:rPr lang="zh-CN" altLang="en-US" sz="1200" smtClean="0">
                <a:solidFill>
                  <a:schemeClr val="tx1"/>
                </a:solidFill>
              </a:rPr>
            </a:fld>
            <a:endParaRPr lang="zh-CN" altLang="en-US" sz="1200">
              <a:solidFill>
                <a:schemeClr val="tx1"/>
              </a:solidFill>
            </a:endParaRPr>
          </a:p>
        </p:txBody>
      </p:sp>
      <p:sp>
        <p:nvSpPr>
          <p:cNvPr id="40962"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B4DDA0F-4050-4E0C-9368-E8C2EF12B290}"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p:cNvSpPr>
            <a:spLocks noGrp="1" noChangeArrowheads="1"/>
          </p:cNvSpPr>
          <p:nvPr>
            <p:ph type="title"/>
          </p:nvPr>
        </p:nvSpPr>
        <p:spPr/>
        <p:txBody>
          <a:bodyPr/>
          <a:lstStyle/>
          <a:p>
            <a:pPr eaLnBrk="1" hangingPunct="1"/>
            <a:r>
              <a:rPr lang="en-US" altLang="zh-CN" dirty="0"/>
              <a:t>SA</a:t>
            </a:r>
            <a:r>
              <a:rPr lang="zh-CN" altLang="en-US" dirty="0"/>
              <a:t>的定义</a:t>
            </a:r>
            <a:endParaRPr lang="zh-CN" altLang="en-US" dirty="0"/>
          </a:p>
        </p:txBody>
      </p:sp>
      <p:sp>
        <p:nvSpPr>
          <p:cNvPr id="43013" name="Rectangle 3"/>
          <p:cNvSpPr>
            <a:spLocks noGrp="1" noChangeArrowheads="1"/>
          </p:cNvSpPr>
          <p:nvPr>
            <p:ph idx="1"/>
          </p:nvPr>
        </p:nvSpPr>
        <p:spPr/>
        <p:txBody>
          <a:bodyPr/>
          <a:lstStyle/>
          <a:p>
            <a:pPr eaLnBrk="1" hangingPunct="1">
              <a:buFont typeface="Wingdings" panose="05000000000000000000" pitchFamily="2" charset="2"/>
              <a:buNone/>
            </a:pPr>
            <a:r>
              <a:rPr lang="zh-CN" altLang="en-US" dirty="0">
                <a:latin typeface="Times New Roman" panose="02020603050405020304" pitchFamily="18" charset="0"/>
              </a:rPr>
              <a:t>定义</a:t>
            </a:r>
            <a:r>
              <a:rPr lang="en-US" altLang="zh-CN" dirty="0">
                <a:latin typeface="宋体" panose="02010600030101010101" pitchFamily="2" charset="-122"/>
              </a:rPr>
              <a:t>6</a:t>
            </a:r>
            <a:r>
              <a:rPr lang="en-US" altLang="zh-CN" dirty="0">
                <a:latin typeface="Times New Roman" panose="02020603050405020304" pitchFamily="18" charset="0"/>
              </a:rPr>
              <a:t>: (</a:t>
            </a:r>
            <a:r>
              <a:rPr lang="en-US" altLang="zh-CN" sz="2800" dirty="0" err="1">
                <a:latin typeface="Times New Roman" panose="02020603050405020304" pitchFamily="18" charset="0"/>
              </a:rPr>
              <a:t>Booch</a:t>
            </a:r>
            <a:r>
              <a:rPr lang="zh-CN" altLang="en-US" sz="2800" dirty="0">
                <a:latin typeface="Times New Roman" panose="02020603050405020304" pitchFamily="18" charset="0"/>
              </a:rPr>
              <a:t>＆</a:t>
            </a:r>
            <a:r>
              <a:rPr lang="en-US" altLang="zh-CN" sz="2800" dirty="0">
                <a:latin typeface="Times New Roman" panose="02020603050405020304" pitchFamily="18" charset="0"/>
              </a:rPr>
              <a:t>Rumbaugh</a:t>
            </a:r>
            <a:r>
              <a:rPr lang="zh-CN" altLang="en-US" sz="2800" dirty="0">
                <a:latin typeface="Times New Roman" panose="02020603050405020304" pitchFamily="18" charset="0"/>
              </a:rPr>
              <a:t>＆</a:t>
            </a:r>
            <a:r>
              <a:rPr lang="en-US" altLang="zh-CN" sz="2800" dirty="0">
                <a:latin typeface="Times New Roman" panose="02020603050405020304" pitchFamily="18" charset="0"/>
              </a:rPr>
              <a:t>Jacobson</a:t>
            </a:r>
            <a:r>
              <a:rPr lang="zh-CN" altLang="en-US" sz="2800" dirty="0">
                <a:latin typeface="Times New Roman" panose="02020603050405020304" pitchFamily="18" charset="0"/>
              </a:rPr>
              <a:t>定义</a:t>
            </a:r>
            <a:r>
              <a:rPr lang="en-US" altLang="zh-CN" dirty="0">
                <a:latin typeface="Times New Roman" panose="02020603050405020304" pitchFamily="18" charset="0"/>
              </a:rPr>
              <a:t>) </a:t>
            </a:r>
            <a:br>
              <a:rPr lang="en-US" altLang="zh-CN" dirty="0">
                <a:latin typeface="Times New Roman" panose="02020603050405020304" pitchFamily="18" charset="0"/>
              </a:rPr>
            </a:br>
            <a:endParaRPr lang="en-US" altLang="zh-CN" dirty="0">
              <a:latin typeface="宋体" panose="02010600030101010101" pitchFamily="2" charset="-122"/>
            </a:endParaRPr>
          </a:p>
          <a:p>
            <a:pPr eaLnBrk="1" hangingPunct="1">
              <a:buFont typeface="Wingdings" panose="05000000000000000000" pitchFamily="2" charset="2"/>
              <a:buNone/>
            </a:pPr>
            <a:r>
              <a:rPr lang="zh-CN" altLang="en-US" sz="2800" dirty="0">
                <a:latin typeface="Times New Roman" panose="02020603050405020304" pitchFamily="18" charset="0"/>
              </a:rPr>
              <a:t>软件体系结构＝</a:t>
            </a:r>
            <a:r>
              <a:rPr lang="en-US" altLang="zh-CN" sz="2800" dirty="0">
                <a:latin typeface="宋体" panose="02010600030101010101" pitchFamily="2" charset="-122"/>
              </a:rPr>
              <a:t>{</a:t>
            </a:r>
            <a:r>
              <a:rPr lang="zh-CN" altLang="en-US" sz="2800" dirty="0">
                <a:latin typeface="Times New Roman" panose="02020603050405020304" pitchFamily="18" charset="0"/>
              </a:rPr>
              <a:t>组织，元素，子系统，风格</a:t>
            </a:r>
            <a:r>
              <a:rPr lang="en-US" altLang="zh-CN" sz="2800" dirty="0">
                <a:latin typeface="宋体" panose="02010600030101010101" pitchFamily="2" charset="-122"/>
              </a:rPr>
              <a:t>}</a:t>
            </a:r>
            <a:endParaRPr lang="en-US" altLang="zh-CN" sz="2800" dirty="0">
              <a:latin typeface="宋体" panose="02010600030101010101" pitchFamily="2" charset="-122"/>
            </a:endParaRPr>
          </a:p>
          <a:p>
            <a:pPr eaLnBrk="1" hangingPunct="1">
              <a:buFont typeface="Wingdings" panose="05000000000000000000" pitchFamily="2" charset="2"/>
              <a:buNone/>
            </a:pPr>
            <a:endParaRPr lang="zh-CN" altLang="en-US" sz="2800" dirty="0"/>
          </a:p>
        </p:txBody>
      </p:sp>
      <p:sp>
        <p:nvSpPr>
          <p:cNvPr id="43011"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6697B44C-E22A-4F27-B664-9D244DD48CD7}" type="datetime1">
              <a:rPr lang="zh-CN" altLang="en-US" sz="1200" smtClean="0">
                <a:solidFill>
                  <a:schemeClr val="tx1"/>
                </a:solidFill>
              </a:rPr>
            </a:fld>
            <a:endParaRPr lang="zh-CN" altLang="en-US" sz="1200">
              <a:solidFill>
                <a:schemeClr val="tx1"/>
              </a:solidFill>
            </a:endParaRPr>
          </a:p>
        </p:txBody>
      </p:sp>
      <p:sp>
        <p:nvSpPr>
          <p:cNvPr id="43010"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BB34D53-F32E-4207-9576-C65F1BC951DB}"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2005</a:t>
            </a:r>
            <a:r>
              <a:rPr lang="zh-CN" altLang="en-US" dirty="0"/>
              <a:t>年   </a:t>
            </a:r>
            <a:r>
              <a:rPr lang="en-US" altLang="zh-CN" dirty="0"/>
              <a:t>Anton</a:t>
            </a:r>
            <a:r>
              <a:rPr lang="zh-CN" altLang="en-US" dirty="0"/>
              <a:t>等</a:t>
            </a:r>
            <a:endParaRPr lang="zh-CN" altLang="en-US" dirty="0"/>
          </a:p>
          <a:p>
            <a:pPr lvl="1"/>
            <a:r>
              <a:rPr lang="zh-CN" altLang="en-US" dirty="0"/>
              <a:t>软件体系结构是体系结构层次上所有设计决策的集合体，这些设计决策与以下内容有关：体系结构改造的影响、原理、设计准则、设计约束以及附加需求。</a:t>
            </a:r>
            <a:endParaRPr lang="zh-CN" altLang="en-US" dirty="0"/>
          </a:p>
          <a:p>
            <a:r>
              <a:rPr lang="en-US" altLang="zh-CN" dirty="0"/>
              <a:t>2006</a:t>
            </a:r>
            <a:r>
              <a:rPr lang="zh-CN" altLang="en-US" dirty="0"/>
              <a:t>年   </a:t>
            </a:r>
            <a:r>
              <a:rPr lang="en-US" altLang="zh-CN" dirty="0" err="1"/>
              <a:t>Kruchten</a:t>
            </a:r>
            <a:r>
              <a:rPr lang="zh-CN" altLang="en-US" dirty="0"/>
              <a:t>等</a:t>
            </a:r>
            <a:endParaRPr lang="zh-CN" altLang="en-US" dirty="0"/>
          </a:p>
          <a:p>
            <a:pPr lvl="1"/>
            <a:r>
              <a:rPr lang="zh-CN" altLang="en-US" dirty="0"/>
              <a:t>设计决策</a:t>
            </a:r>
            <a:r>
              <a:rPr lang="en-US" altLang="zh-CN" dirty="0"/>
              <a:t>+</a:t>
            </a:r>
            <a:r>
              <a:rPr lang="zh-CN" altLang="en-US" dirty="0"/>
              <a:t>设计，这里的设计指的是设计决策的推理过程。</a:t>
            </a:r>
            <a:endParaRPr lang="zh-CN" altLang="en-US" dirty="0"/>
          </a:p>
          <a:p>
            <a:endParaRPr lang="zh-CN" altLang="en-US" dirty="0"/>
          </a:p>
        </p:txBody>
      </p:sp>
      <p:sp>
        <p:nvSpPr>
          <p:cNvPr id="4" name="灯片编号占位符 3"/>
          <p:cNvSpPr>
            <a:spLocks noGrp="1"/>
          </p:cNvSpPr>
          <p:nvPr>
            <p:ph type="sldNum" sz="quarter" idx="11"/>
          </p:nvPr>
        </p:nvSpPr>
        <p:spPr/>
        <p:txBody>
          <a:bodyPr/>
          <a:lstStyle/>
          <a:p>
            <a:pPr>
              <a:defRPr/>
            </a:pPr>
            <a:fld id="{6BF530E8-F43B-4C96-89F0-9964C1590B71}" type="slidenum">
              <a:rPr lang="zh-CN" altLang="en-US" smtClean="0"/>
            </a:fld>
            <a:endParaRPr lang="zh-CN" altLang="en-US"/>
          </a:p>
        </p:txBody>
      </p:sp>
    </p:spTree>
  </p:cSld>
  <p:clrMapOvr>
    <a:masterClrMapping/>
  </p:clrMapOvr>
  <p:transition>
    <p:wipe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其他定义</a:t>
            </a:r>
            <a:endParaRPr lang="zh-CN" altLang="en-US" dirty="0"/>
          </a:p>
        </p:txBody>
      </p:sp>
      <p:sp>
        <p:nvSpPr>
          <p:cNvPr id="3" name="内容占位符 2"/>
          <p:cNvSpPr>
            <a:spLocks noGrp="1"/>
          </p:cNvSpPr>
          <p:nvPr>
            <p:ph idx="1"/>
          </p:nvPr>
        </p:nvSpPr>
        <p:spPr>
          <a:xfrm>
            <a:off x="251520" y="1325563"/>
            <a:ext cx="8515350" cy="4851400"/>
          </a:xfrm>
        </p:spPr>
        <p:txBody>
          <a:bodyPr/>
          <a:lstStyle/>
          <a:p>
            <a:pPr>
              <a:lnSpc>
                <a:spcPct val="120000"/>
              </a:lnSpc>
              <a:buClr>
                <a:srgbClr val="FF0000"/>
              </a:buClr>
            </a:pPr>
            <a:r>
              <a:rPr lang="en-US" altLang="zh-CN" dirty="0">
                <a:solidFill>
                  <a:srgbClr val="000000"/>
                </a:solidFill>
                <a:latin typeface="+mn-ea"/>
                <a:cs typeface="Times New Roman" panose="02020603050405020304" pitchFamily="18" charset="0"/>
              </a:rPr>
              <a:t>Vivek </a:t>
            </a:r>
            <a:r>
              <a:rPr lang="en-US" altLang="zh-CN" dirty="0" err="1">
                <a:solidFill>
                  <a:srgbClr val="000000"/>
                </a:solidFill>
                <a:latin typeface="+mn-ea"/>
                <a:cs typeface="Times New Roman" panose="02020603050405020304" pitchFamily="18" charset="0"/>
              </a:rPr>
              <a:t>Khare认为软件</a:t>
            </a:r>
            <a:r>
              <a:rPr lang="zh-CN" altLang="en-US" dirty="0">
                <a:solidFill>
                  <a:srgbClr val="000000"/>
                </a:solidFill>
                <a:latin typeface="+mn-ea"/>
                <a:cs typeface="Times New Roman" panose="02020603050405020304" pitchFamily="18" charset="0"/>
              </a:rPr>
              <a:t>体系结构</a:t>
            </a:r>
            <a:r>
              <a:rPr lang="en-US" altLang="zh-CN" dirty="0" err="1">
                <a:solidFill>
                  <a:srgbClr val="000000"/>
                </a:solidFill>
                <a:latin typeface="+mn-ea"/>
                <a:cs typeface="Times New Roman" panose="02020603050405020304" pitchFamily="18" charset="0"/>
              </a:rPr>
              <a:t>是设计和构建软件应用的科学和艺术，这些软件应用满足生命周期中用户的各种需求</a:t>
            </a:r>
            <a:r>
              <a:rPr lang="en-US" altLang="zh-CN" dirty="0">
                <a:solidFill>
                  <a:srgbClr val="000000"/>
                </a:solidFill>
                <a:latin typeface="+mn-ea"/>
                <a:cs typeface="Times New Roman" panose="02020603050405020304" pitchFamily="18" charset="0"/>
              </a:rPr>
              <a:t>；</a:t>
            </a:r>
            <a:endParaRPr lang="en-US" altLang="zh-CN" dirty="0">
              <a:solidFill>
                <a:srgbClr val="000000"/>
              </a:solidFill>
              <a:latin typeface="+mn-ea"/>
              <a:cs typeface="Times New Roman" panose="02020603050405020304" pitchFamily="18" charset="0"/>
            </a:endParaRPr>
          </a:p>
          <a:p>
            <a:pPr>
              <a:lnSpc>
                <a:spcPct val="120000"/>
              </a:lnSpc>
              <a:buClr>
                <a:srgbClr val="FF0000"/>
              </a:buClr>
            </a:pPr>
            <a:r>
              <a:rPr lang="en-US" altLang="zh-CN" dirty="0">
                <a:solidFill>
                  <a:srgbClr val="000000"/>
                </a:solidFill>
                <a:latin typeface="+mn-ea"/>
                <a:cs typeface="Times New Roman" panose="02020603050405020304" pitchFamily="18" charset="0"/>
              </a:rPr>
              <a:t>Aakash </a:t>
            </a:r>
            <a:r>
              <a:rPr lang="en-US" altLang="zh-CN" dirty="0" err="1">
                <a:solidFill>
                  <a:srgbClr val="000000"/>
                </a:solidFill>
                <a:latin typeface="+mn-ea"/>
                <a:cs typeface="Times New Roman" panose="02020603050405020304" pitchFamily="18" charset="0"/>
              </a:rPr>
              <a:t>Ahmad认为软件</a:t>
            </a:r>
            <a:r>
              <a:rPr lang="zh-CN" altLang="en-US" dirty="0">
                <a:solidFill>
                  <a:srgbClr val="000000"/>
                </a:solidFill>
                <a:latin typeface="+mn-ea"/>
                <a:cs typeface="Times New Roman" panose="02020603050405020304" pitchFamily="18" charset="0"/>
              </a:rPr>
              <a:t>体系结构</a:t>
            </a:r>
            <a:r>
              <a:rPr lang="en-US" altLang="zh-CN" dirty="0" err="1">
                <a:solidFill>
                  <a:srgbClr val="000000"/>
                </a:solidFill>
                <a:latin typeface="+mn-ea"/>
                <a:cs typeface="Times New Roman" panose="02020603050405020304" pitchFamily="18" charset="0"/>
              </a:rPr>
              <a:t>是包含设计、演化、构建配置的推理和构件互连关系的高层抽象结构</a:t>
            </a:r>
            <a:r>
              <a:rPr lang="en-US" altLang="zh-CN" dirty="0">
                <a:solidFill>
                  <a:srgbClr val="000000"/>
                </a:solidFill>
                <a:latin typeface="+mn-ea"/>
                <a:cs typeface="Times New Roman" panose="02020603050405020304" pitchFamily="18" charset="0"/>
              </a:rPr>
              <a:t>；</a:t>
            </a:r>
            <a:endParaRPr lang="en-US" altLang="zh-CN" dirty="0">
              <a:solidFill>
                <a:srgbClr val="000000"/>
              </a:solidFill>
              <a:latin typeface="+mn-ea"/>
              <a:cs typeface="Times New Roman" panose="02020603050405020304" pitchFamily="18" charset="0"/>
            </a:endParaRPr>
          </a:p>
          <a:p>
            <a:pPr>
              <a:lnSpc>
                <a:spcPct val="120000"/>
              </a:lnSpc>
              <a:buClr>
                <a:srgbClr val="FF0000"/>
              </a:buClr>
            </a:pPr>
            <a:r>
              <a:rPr lang="en-US" altLang="zh-CN" dirty="0">
                <a:solidFill>
                  <a:srgbClr val="000000"/>
                </a:solidFill>
                <a:latin typeface="+mn-ea"/>
                <a:cs typeface="Times New Roman" panose="02020603050405020304" pitchFamily="18" charset="0"/>
              </a:rPr>
              <a:t>Andreas </a:t>
            </a:r>
            <a:r>
              <a:rPr lang="en-US" altLang="zh-CN" dirty="0" err="1">
                <a:solidFill>
                  <a:srgbClr val="000000"/>
                </a:solidFill>
                <a:latin typeface="+mn-ea"/>
                <a:cs typeface="Times New Roman" panose="02020603050405020304" pitchFamily="18" charset="0"/>
              </a:rPr>
              <a:t>Rausch认为软件</a:t>
            </a:r>
            <a:r>
              <a:rPr lang="zh-CN" altLang="en-US" dirty="0">
                <a:solidFill>
                  <a:srgbClr val="000000"/>
                </a:solidFill>
                <a:latin typeface="+mn-ea"/>
                <a:cs typeface="Times New Roman" panose="02020603050405020304" pitchFamily="18" charset="0"/>
              </a:rPr>
              <a:t>体系结构</a:t>
            </a:r>
            <a:r>
              <a:rPr lang="en-US" altLang="zh-CN" dirty="0" err="1">
                <a:solidFill>
                  <a:srgbClr val="000000"/>
                </a:solidFill>
                <a:latin typeface="+mn-ea"/>
                <a:cs typeface="Times New Roman" panose="02020603050405020304" pitchFamily="18" charset="0"/>
              </a:rPr>
              <a:t>是一个针对软件改变的框架</a:t>
            </a:r>
            <a:r>
              <a:rPr lang="en-US" altLang="zh-CN" dirty="0">
                <a:solidFill>
                  <a:srgbClr val="000000"/>
                </a:solidFill>
                <a:latin typeface="+mn-ea"/>
                <a:cs typeface="Times New Roman" panose="02020603050405020304" pitchFamily="18" charset="0"/>
              </a:rPr>
              <a:t>；</a:t>
            </a:r>
            <a:endParaRPr lang="en-US" altLang="zh-CN" dirty="0">
              <a:solidFill>
                <a:srgbClr val="000000"/>
              </a:solidFill>
              <a:latin typeface="+mn-ea"/>
              <a:cs typeface="Times New Roman" panose="02020603050405020304" pitchFamily="18" charset="0"/>
            </a:endParaRPr>
          </a:p>
          <a:p>
            <a:pPr>
              <a:lnSpc>
                <a:spcPct val="120000"/>
              </a:lnSpc>
              <a:buClr>
                <a:srgbClr val="FF0000"/>
              </a:buClr>
            </a:pPr>
            <a:r>
              <a:rPr lang="en-US" altLang="zh-CN" dirty="0">
                <a:solidFill>
                  <a:srgbClr val="000000"/>
                </a:solidFill>
                <a:latin typeface="+mn-ea"/>
                <a:cs typeface="Times New Roman" panose="02020603050405020304" pitchFamily="18" charset="0"/>
              </a:rPr>
              <a:t>Muthu </a:t>
            </a:r>
            <a:r>
              <a:rPr lang="en-US" altLang="zh-CN" dirty="0" err="1">
                <a:solidFill>
                  <a:srgbClr val="000000"/>
                </a:solidFill>
                <a:latin typeface="+mn-ea"/>
                <a:cs typeface="Times New Roman" panose="02020603050405020304" pitchFamily="18" charset="0"/>
              </a:rPr>
              <a:t>Rajagopal认为软件</a:t>
            </a:r>
            <a:r>
              <a:rPr lang="zh-CN" altLang="en-US" dirty="0">
                <a:solidFill>
                  <a:srgbClr val="000000"/>
                </a:solidFill>
                <a:latin typeface="+mn-ea"/>
                <a:cs typeface="Times New Roman" panose="02020603050405020304" pitchFamily="18" charset="0"/>
              </a:rPr>
              <a:t>体系结构</a:t>
            </a:r>
            <a:r>
              <a:rPr lang="en-US" altLang="zh-CN" dirty="0" err="1">
                <a:solidFill>
                  <a:srgbClr val="000000"/>
                </a:solidFill>
                <a:latin typeface="+mn-ea"/>
                <a:cs typeface="Times New Roman" panose="02020603050405020304" pitchFamily="18" charset="0"/>
              </a:rPr>
              <a:t>是能够有效组合在一起的软件和硬件构件的集合，这些构件组合后能满足预期需求</a:t>
            </a:r>
            <a:r>
              <a:rPr lang="en-US" altLang="zh-CN" dirty="0">
                <a:solidFill>
                  <a:srgbClr val="000000"/>
                </a:solidFill>
                <a:latin typeface="+mn-ea"/>
                <a:cs typeface="Times New Roman" panose="02020603050405020304" pitchFamily="18" charset="0"/>
              </a:rPr>
              <a:t>。</a:t>
            </a:r>
            <a:endParaRPr lang="en-US" altLang="zh-CN" dirty="0">
              <a:solidFill>
                <a:srgbClr val="000000"/>
              </a:solidFill>
              <a:latin typeface="+mn-ea"/>
              <a:cs typeface="Times New Roman" panose="02020603050405020304" pitchFamily="18" charset="0"/>
            </a:endParaRPr>
          </a:p>
          <a:p>
            <a:endParaRPr lang="zh-CN" altLang="en-US" dirty="0">
              <a:latin typeface="+mn-ea"/>
            </a:endParaRPr>
          </a:p>
        </p:txBody>
      </p:sp>
      <p:sp>
        <p:nvSpPr>
          <p:cNvPr id="4" name="灯片编号占位符 3"/>
          <p:cNvSpPr>
            <a:spLocks noGrp="1"/>
          </p:cNvSpPr>
          <p:nvPr>
            <p:ph type="sldNum" sz="quarter" idx="11"/>
          </p:nvPr>
        </p:nvSpPr>
        <p:spPr/>
        <p:txBody>
          <a:bodyPr/>
          <a:lstStyle/>
          <a:p>
            <a:pPr>
              <a:defRPr/>
            </a:pPr>
            <a:fld id="{6BF530E8-F43B-4C96-89F0-9964C1590B71}" type="slidenum">
              <a:rPr lang="zh-CN" altLang="en-US" smtClean="0"/>
            </a:fld>
            <a:endParaRPr lang="zh-CN" altLang="en-US"/>
          </a:p>
        </p:txBody>
      </p:sp>
    </p:spTree>
  </p:cSld>
  <p:clrMapOvr>
    <a:masterClrMapping/>
  </p:clrMapOvr>
  <p:transition>
    <p:wipe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p:txBody>
          <a:bodyPr/>
          <a:lstStyle/>
          <a:p>
            <a:pPr fontAlgn="auto">
              <a:spcAft>
                <a:spcPts val="0"/>
              </a:spcAft>
              <a:defRPr/>
            </a:pPr>
            <a:r>
              <a:rPr lang="zh-CN" altLang="en-US" dirty="0"/>
              <a:t>参考定义框架</a:t>
            </a:r>
            <a:endParaRPr lang="zh-CN" altLang="en-US" dirty="0"/>
          </a:p>
        </p:txBody>
      </p:sp>
      <p:sp>
        <p:nvSpPr>
          <p:cNvPr id="12291" name="Rectangle 3"/>
          <p:cNvSpPr>
            <a:spLocks noGrp="1" noChangeArrowheads="1"/>
          </p:cNvSpPr>
          <p:nvPr>
            <p:ph idx="1"/>
          </p:nvPr>
        </p:nvSpPr>
        <p:spPr/>
        <p:txBody>
          <a:bodyPr>
            <a:noAutofit/>
          </a:bodyPr>
          <a:lstStyle/>
          <a:p>
            <a:pPr>
              <a:buClr>
                <a:srgbClr val="FF0000"/>
              </a:buClr>
            </a:pPr>
            <a:r>
              <a:rPr lang="en-US" altLang="zh-CN" sz="2800" b="1" dirty="0" err="1">
                <a:solidFill>
                  <a:srgbClr val="000000"/>
                </a:solidFill>
                <a:latin typeface="Arial Narrow" panose="020B0606020202030204" pitchFamily="34" charset="0"/>
                <a:ea typeface="仿宋_GB2312" pitchFamily="49" charset="-122"/>
              </a:rPr>
              <a:t>基于国内外普遍认可的看法推荐如下的参考定义框架</a:t>
            </a:r>
            <a:r>
              <a:rPr lang="en-US" altLang="zh-CN" sz="2800" b="1" dirty="0">
                <a:solidFill>
                  <a:srgbClr val="000000"/>
                </a:solidFill>
                <a:latin typeface="Arial Narrow" panose="020B0606020202030204" pitchFamily="34" charset="0"/>
                <a:ea typeface="仿宋_GB2312" pitchFamily="49" charset="-122"/>
              </a:rPr>
              <a:t>：</a:t>
            </a:r>
            <a:endParaRPr lang="en-US" altLang="zh-CN" sz="2800" b="1" dirty="0">
              <a:solidFill>
                <a:srgbClr val="000000"/>
              </a:solidFill>
              <a:latin typeface="Arial Narrow" panose="020B0606020202030204" pitchFamily="34" charset="0"/>
              <a:ea typeface="仿宋_GB2312" pitchFamily="49" charset="-122"/>
            </a:endParaRPr>
          </a:p>
          <a:p>
            <a:pPr lvl="1">
              <a:buClr>
                <a:srgbClr val="FF0000"/>
              </a:buClr>
            </a:pPr>
            <a:r>
              <a:rPr lang="en-US" altLang="zh-CN" b="1" dirty="0" err="1">
                <a:solidFill>
                  <a:srgbClr val="FF0000"/>
                </a:solidFill>
                <a:latin typeface="Arial Narrow" panose="020B0606020202030204" pitchFamily="34" charset="0"/>
                <a:ea typeface="仿宋_GB2312" pitchFamily="49" charset="-122"/>
              </a:rPr>
              <a:t>软件</a:t>
            </a:r>
            <a:r>
              <a:rPr lang="zh-CN" altLang="en-US" b="1" dirty="0">
                <a:solidFill>
                  <a:srgbClr val="FF0000"/>
                </a:solidFill>
                <a:latin typeface="Arial Narrow" panose="020B0606020202030204" pitchFamily="34" charset="0"/>
                <a:ea typeface="仿宋_GB2312" pitchFamily="49" charset="-122"/>
              </a:rPr>
              <a:t>体系结构</a:t>
            </a:r>
            <a:r>
              <a:rPr lang="en-US" altLang="zh-CN" b="1" dirty="0" err="1">
                <a:solidFill>
                  <a:srgbClr val="FF0000"/>
                </a:solidFill>
                <a:latin typeface="Arial Narrow" panose="020B0606020202030204" pitchFamily="34" charset="0"/>
                <a:ea typeface="仿宋_GB2312" pitchFamily="49" charset="-122"/>
              </a:rPr>
              <a:t>包括构件、连接件和约束三种基本元素，以及端口和角色两种元素</a:t>
            </a:r>
            <a:r>
              <a:rPr lang="en-US" altLang="zh-CN" b="1" dirty="0">
                <a:solidFill>
                  <a:srgbClr val="FF0000"/>
                </a:solidFill>
                <a:latin typeface="Arial Narrow" panose="020B0606020202030204" pitchFamily="34" charset="0"/>
                <a:ea typeface="仿宋_GB2312" pitchFamily="49" charset="-122"/>
              </a:rPr>
              <a:t>。</a:t>
            </a:r>
            <a:endParaRPr lang="en-US" altLang="zh-CN" b="1" dirty="0">
              <a:solidFill>
                <a:srgbClr val="FF0000"/>
              </a:solidFill>
              <a:latin typeface="Arial Narrow" panose="020B0606020202030204" pitchFamily="34" charset="0"/>
              <a:ea typeface="仿宋_GB2312" pitchFamily="49" charset="-122"/>
            </a:endParaRPr>
          </a:p>
          <a:p>
            <a:pPr lvl="1">
              <a:buClr>
                <a:srgbClr val="FF0000"/>
              </a:buClr>
            </a:pPr>
            <a:r>
              <a:rPr lang="en-US" altLang="zh-CN" b="1" dirty="0" err="1">
                <a:solidFill>
                  <a:srgbClr val="000000"/>
                </a:solidFill>
                <a:latin typeface="Arial Narrow" panose="020B0606020202030204" pitchFamily="34" charset="0"/>
                <a:ea typeface="仿宋_GB2312" pitchFamily="49" charset="-122"/>
              </a:rPr>
              <a:t>构件作为一个封装的实体，仅通过其接口结构与外部环境交互，而构件的接口由一组端口组成，每个端口表示了构件和和外部环境的交互点</a:t>
            </a:r>
            <a:r>
              <a:rPr lang="en-US" altLang="zh-CN" b="1" dirty="0">
                <a:solidFill>
                  <a:srgbClr val="000000"/>
                </a:solidFill>
                <a:latin typeface="Arial Narrow" panose="020B0606020202030204" pitchFamily="34" charset="0"/>
                <a:ea typeface="仿宋_GB2312" pitchFamily="49" charset="-122"/>
              </a:rPr>
              <a:t>。</a:t>
            </a:r>
            <a:endParaRPr lang="en-US" altLang="zh-CN" b="1" dirty="0">
              <a:solidFill>
                <a:srgbClr val="000000"/>
              </a:solidFill>
              <a:latin typeface="Arial Narrow" panose="020B0606020202030204" pitchFamily="34" charset="0"/>
              <a:ea typeface="仿宋_GB2312" pitchFamily="49" charset="-122"/>
            </a:endParaRPr>
          </a:p>
          <a:p>
            <a:pPr lvl="1">
              <a:buClr>
                <a:srgbClr val="FF0000"/>
              </a:buClr>
            </a:pPr>
            <a:r>
              <a:rPr lang="en-US" altLang="zh-CN" b="1" dirty="0" err="1">
                <a:solidFill>
                  <a:srgbClr val="000000"/>
                </a:solidFill>
                <a:latin typeface="Arial Narrow" panose="020B0606020202030204" pitchFamily="34" charset="0"/>
                <a:ea typeface="仿宋_GB2312" pitchFamily="49" charset="-122"/>
              </a:rPr>
              <a:t>连接件的接口由一组角色组成，每个角色定义了相关交互的参与者</a:t>
            </a:r>
            <a:r>
              <a:rPr lang="en-US" altLang="zh-CN" b="1" dirty="0">
                <a:solidFill>
                  <a:srgbClr val="000000"/>
                </a:solidFill>
                <a:latin typeface="Arial Narrow" panose="020B0606020202030204" pitchFamily="34" charset="0"/>
                <a:ea typeface="仿宋_GB2312" pitchFamily="49" charset="-122"/>
              </a:rPr>
              <a:t>。</a:t>
            </a:r>
            <a:endParaRPr lang="en-US" altLang="zh-CN" b="1" dirty="0">
              <a:solidFill>
                <a:srgbClr val="000000"/>
              </a:solidFill>
              <a:latin typeface="Arial Narrow" panose="020B0606020202030204" pitchFamily="34" charset="0"/>
              <a:ea typeface="仿宋_GB2312" pitchFamily="49" charset="-122"/>
            </a:endParaRPr>
          </a:p>
        </p:txBody>
      </p:sp>
    </p:spTree>
  </p:cSld>
  <p:clrMapOvr>
    <a:masterClrMapping/>
  </p:clrMapOvr>
  <p:transition spd="slow">
    <p:randomBar dir="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normAutofit/>
          </a:bodyPr>
          <a:lstStyle/>
          <a:p>
            <a:r>
              <a:rPr lang="zh-CN" altLang="en-US" dirty="0"/>
              <a:t>参考定义框架</a:t>
            </a:r>
            <a:endParaRPr lang="zh-CN" altLang="en-US" dirty="0"/>
          </a:p>
        </p:txBody>
      </p:sp>
      <p:sp>
        <p:nvSpPr>
          <p:cNvPr id="59395" name="Rectangle 3"/>
          <p:cNvSpPr>
            <a:spLocks noGrp="1" noChangeArrowheads="1"/>
          </p:cNvSpPr>
          <p:nvPr>
            <p:ph idx="1"/>
          </p:nvPr>
        </p:nvSpPr>
        <p:spPr>
          <a:xfrm>
            <a:off x="628650" y="1412776"/>
            <a:ext cx="7886700" cy="4764187"/>
          </a:xfrm>
        </p:spPr>
        <p:txBody>
          <a:bodyPr>
            <a:normAutofit/>
          </a:bodyPr>
          <a:lstStyle/>
          <a:p>
            <a:pPr eaLnBrk="1" hangingPunct="1"/>
            <a:r>
              <a:rPr sz="2800" dirty="0" err="1">
                <a:ea typeface="宋体" panose="02010600030101010101" pitchFamily="2" charset="-122"/>
              </a:rPr>
              <a:t>软件</a:t>
            </a:r>
            <a:r>
              <a:rPr lang="zh-CN" altLang="en-US" sz="2800" dirty="0">
                <a:ea typeface="宋体" panose="02010600030101010101" pitchFamily="2" charset="-122"/>
              </a:rPr>
              <a:t>体系结构</a:t>
            </a:r>
            <a:r>
              <a:rPr sz="2800" dirty="0" err="1">
                <a:ea typeface="宋体" panose="02010600030101010101" pitchFamily="2" charset="-122"/>
              </a:rPr>
              <a:t>一般由如下五种元素构成</a:t>
            </a:r>
            <a:r>
              <a:rPr sz="2800" dirty="0">
                <a:ea typeface="宋体" panose="02010600030101010101" pitchFamily="2" charset="-122"/>
              </a:rPr>
              <a:t>： 组件（component），连接件（connector），配置（configuration），端口（port）和角色（role）。</a:t>
            </a:r>
            <a:r>
              <a:rPr lang="zh-CN" sz="2800" dirty="0">
                <a:ea typeface="宋体" panose="02010600030101010101" pitchFamily="2" charset="-122"/>
              </a:rPr>
              <a:t>如下图所示。</a:t>
            </a:r>
            <a:endParaRPr lang="zh-CN" sz="2800" dirty="0">
              <a:ea typeface="宋体" panose="02010600030101010101" pitchFamily="2" charset="-122"/>
            </a:endParaRPr>
          </a:p>
        </p:txBody>
      </p:sp>
      <p:graphicFrame>
        <p:nvGraphicFramePr>
          <p:cNvPr id="2" name="对象 -2147482624"/>
          <p:cNvGraphicFramePr/>
          <p:nvPr/>
        </p:nvGraphicFramePr>
        <p:xfrm>
          <a:off x="1979712" y="2636912"/>
          <a:ext cx="5568950" cy="3838575"/>
        </p:xfrm>
        <a:graphic>
          <a:graphicData uri="http://schemas.openxmlformats.org/presentationml/2006/ole">
            <mc:AlternateContent xmlns:mc="http://schemas.openxmlformats.org/markup-compatibility/2006">
              <mc:Choice xmlns:v="urn:schemas-microsoft-com:vml" Requires="v">
                <p:oleObj spid="_x0000_s0" name="Visio" r:id="rId1" imgW="3122930" imgH="2157095" progId="Visio.Drawing.11">
                  <p:embed/>
                </p:oleObj>
              </mc:Choice>
              <mc:Fallback>
                <p:oleObj name="Visio" r:id="rId1" imgW="3122930" imgH="2157095" progId="Visio.Drawing.11">
                  <p:embed/>
                  <p:pic>
                    <p:nvPicPr>
                      <p:cNvPr id="0" name="对象 -2147482624"/>
                      <p:cNvPicPr>
                        <a:picLocks noChangeArrowheads="1"/>
                      </p:cNvPicPr>
                      <p:nvPr/>
                    </p:nvPicPr>
                    <p:blipFill>
                      <a:blip r:embed="rId2"/>
                      <a:srcRect/>
                      <a:stretch>
                        <a:fillRect/>
                      </a:stretch>
                    </p:blipFill>
                    <p:spPr bwMode="auto">
                      <a:xfrm>
                        <a:off x="1979712" y="2636912"/>
                        <a:ext cx="5568950" cy="383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wipe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normAutofit/>
          </a:bodyPr>
          <a:lstStyle/>
          <a:p>
            <a:r>
              <a:rPr lang="zh-CN" altLang="en-US" dirty="0"/>
              <a:t>参考定义框架</a:t>
            </a:r>
            <a:endParaRPr lang="zh-CN" altLang="en-US" dirty="0"/>
          </a:p>
        </p:txBody>
      </p:sp>
      <p:sp>
        <p:nvSpPr>
          <p:cNvPr id="59395" name="Rectangle 3"/>
          <p:cNvSpPr>
            <a:spLocks noGrp="1" noChangeArrowheads="1"/>
          </p:cNvSpPr>
          <p:nvPr>
            <p:ph idx="1"/>
          </p:nvPr>
        </p:nvSpPr>
        <p:spPr/>
        <p:txBody>
          <a:bodyPr>
            <a:normAutofit fontScale="97500" lnSpcReduction="10000"/>
          </a:bodyPr>
          <a:lstStyle/>
          <a:p>
            <a:pPr eaLnBrk="1" hangingPunct="1"/>
            <a:r>
              <a:rPr b="1" dirty="0">
                <a:ea typeface="宋体" panose="02010600030101010101" pitchFamily="2" charset="-122"/>
              </a:rPr>
              <a:t>组件：</a:t>
            </a:r>
            <a:r>
              <a:rPr sz="2800" dirty="0">
                <a:ea typeface="宋体" panose="02010600030101010101" pitchFamily="2" charset="-122"/>
              </a:rPr>
              <a:t>具有某种功能的可重用的软件模块单元，表示了系统中主要的计算单元和数据存储。组件有两种：复合组件和原子组件。复合组件由其它复合组件和原子组件通过连接而成。</a:t>
            </a:r>
            <a:endParaRPr sz="2800" dirty="0">
              <a:ea typeface="宋体" panose="02010600030101010101" pitchFamily="2" charset="-122"/>
            </a:endParaRPr>
          </a:p>
          <a:p>
            <a:pPr eaLnBrk="1" hangingPunct="1"/>
            <a:r>
              <a:rPr sz="2800" b="1" dirty="0">
                <a:ea typeface="宋体" panose="02010600030101010101" pitchFamily="2" charset="-122"/>
              </a:rPr>
              <a:t>连接件</a:t>
            </a:r>
            <a:r>
              <a:rPr sz="2800" dirty="0">
                <a:ea typeface="宋体" panose="02010600030101010101" pitchFamily="2" charset="-122"/>
              </a:rPr>
              <a:t>：表示了组件之间的交互，简单的连接件有：管道（pipe）、过程调用（procedure-call）、事件广播（event broadcast）等。复杂的连接件有：客户－服务器（client-server）通信协议，数据库和应用之间SQL连接等。</a:t>
            </a:r>
            <a:endParaRPr sz="2800" dirty="0">
              <a:ea typeface="宋体" panose="02010600030101010101" pitchFamily="2" charset="-122"/>
            </a:endParaRPr>
          </a:p>
          <a:p>
            <a:pPr eaLnBrk="1" hangingPunct="1"/>
            <a:r>
              <a:rPr sz="2800" b="1" dirty="0">
                <a:ea typeface="宋体" panose="02010600030101010101" pitchFamily="2" charset="-122"/>
              </a:rPr>
              <a:t>配置</a:t>
            </a:r>
            <a:r>
              <a:rPr sz="2800" dirty="0">
                <a:ea typeface="宋体" panose="02010600030101010101" pitchFamily="2" charset="-122"/>
              </a:rPr>
              <a:t>：表示了组件和连接件的拓扑逻辑和约束（constraint）。</a:t>
            </a:r>
            <a:endParaRPr sz="2800" dirty="0">
              <a:ea typeface="宋体" panose="02010600030101010101" pitchFamily="2" charset="-122"/>
            </a:endParaRPr>
          </a:p>
        </p:txBody>
      </p:sp>
    </p:spTree>
  </p:cSld>
  <p:clrMapOvr>
    <a:masterClrMapping/>
  </p:clrMapOvr>
  <p:transition>
    <p:wipe di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normAutofit/>
          </a:bodyPr>
          <a:lstStyle/>
          <a:p>
            <a:r>
              <a:rPr lang="zh-CN" altLang="en-US" dirty="0"/>
              <a:t>参考定义框架</a:t>
            </a:r>
            <a:endParaRPr lang="zh-CN" altLang="en-US" dirty="0">
              <a:solidFill>
                <a:schemeClr val="accent5">
                  <a:lumMod val="75000"/>
                </a:schemeClr>
              </a:solidFill>
            </a:endParaRPr>
          </a:p>
        </p:txBody>
      </p:sp>
      <p:sp>
        <p:nvSpPr>
          <p:cNvPr id="59395" name="Rectangle 3"/>
          <p:cNvSpPr>
            <a:spLocks noGrp="1" noChangeArrowheads="1"/>
          </p:cNvSpPr>
          <p:nvPr>
            <p:ph idx="1"/>
          </p:nvPr>
        </p:nvSpPr>
        <p:spPr>
          <a:xfrm>
            <a:off x="395536" y="1825625"/>
            <a:ext cx="8119814" cy="4351338"/>
          </a:xfrm>
        </p:spPr>
        <p:txBody>
          <a:bodyPr>
            <a:normAutofit fontScale="90000"/>
          </a:bodyPr>
          <a:lstStyle/>
          <a:p>
            <a:pPr eaLnBrk="1" hangingPunct="1"/>
            <a:r>
              <a:rPr sz="2800" b="1" dirty="0">
                <a:ea typeface="宋体" panose="02010600030101010101" pitchFamily="2" charset="-122"/>
              </a:rPr>
              <a:t>端口</a:t>
            </a:r>
            <a:r>
              <a:rPr sz="2800" dirty="0">
                <a:ea typeface="宋体" panose="02010600030101010101" pitchFamily="2" charset="-122"/>
              </a:rPr>
              <a:t>：组件作为一个封装的实体，只能通过其接口与外部交互，组件的接口由一组端口组成，每个端口表示了组件和外部环境的交汇点。通过不同的端口类型，一个组件可以提供多重接口。端口可以很简单，如过程调用</a:t>
            </a:r>
            <a:r>
              <a:rPr lang="zh-CN" altLang="en-US" sz="2800" dirty="0">
                <a:ea typeface="宋体" panose="02010600030101010101" pitchFamily="2" charset="-122"/>
              </a:rPr>
              <a:t>；</a:t>
            </a:r>
            <a:r>
              <a:rPr sz="2800" dirty="0">
                <a:ea typeface="宋体" panose="02010600030101010101" pitchFamily="2" charset="-122"/>
              </a:rPr>
              <a:t>也可以很复杂，如通信协议。</a:t>
            </a:r>
            <a:endParaRPr sz="2800" dirty="0">
              <a:ea typeface="宋体" panose="02010600030101010101" pitchFamily="2" charset="-122"/>
            </a:endParaRPr>
          </a:p>
          <a:p>
            <a:pPr eaLnBrk="1" hangingPunct="1"/>
            <a:r>
              <a:rPr sz="2800" b="1" dirty="0">
                <a:ea typeface="宋体" panose="02010600030101010101" pitchFamily="2" charset="-122"/>
              </a:rPr>
              <a:t>角色</a:t>
            </a:r>
            <a:r>
              <a:rPr sz="2800" dirty="0">
                <a:ea typeface="宋体" panose="02010600030101010101" pitchFamily="2" charset="-122"/>
              </a:rPr>
              <a:t>：连接件作为建模软件体系结构的主要实体，同样也有接口，连接件的接口由一组角色组成，连接件的每个角色定义了该连接件表示的交互的参与者。二元连接件有两个角色，如</a:t>
            </a:r>
            <a:r>
              <a:rPr lang="zh-CN" altLang="en-US" sz="2800" dirty="0">
                <a:ea typeface="宋体" panose="02010600030101010101" pitchFamily="2" charset="-122"/>
              </a:rPr>
              <a:t>：</a:t>
            </a:r>
            <a:r>
              <a:rPr sz="2800" dirty="0">
                <a:ea typeface="宋体" panose="02010600030101010101" pitchFamily="2" charset="-122"/>
              </a:rPr>
              <a:t>RPC的角色为caller 和callee， pipe 的角色是reading 和writing</a:t>
            </a:r>
            <a:r>
              <a:rPr lang="zh-CN" altLang="en-US" sz="2800" dirty="0">
                <a:ea typeface="宋体" panose="02010600030101010101" pitchFamily="2" charset="-122"/>
              </a:rPr>
              <a:t>，</a:t>
            </a:r>
            <a:r>
              <a:rPr sz="2800" dirty="0">
                <a:ea typeface="宋体" panose="02010600030101010101" pitchFamily="2" charset="-122"/>
              </a:rPr>
              <a:t>消息传递的角色是sender 和receiver等。 有的连接件有多于两个的角色，如事件广播有一个事件发布者角色和任意多个事件接收者角色。</a:t>
            </a:r>
            <a:endParaRPr sz="2800" dirty="0">
              <a:ea typeface="宋体" panose="02010600030101010101" pitchFamily="2" charset="-122"/>
            </a:endParaRPr>
          </a:p>
        </p:txBody>
      </p:sp>
    </p:spTree>
  </p:cSld>
  <p:clrMapOvr>
    <a:masterClrMapping/>
  </p:clrMapOvr>
  <p:transition>
    <p:wipe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p:cNvSpPr>
            <a:spLocks noGrp="1" noChangeArrowheads="1"/>
          </p:cNvSpPr>
          <p:nvPr>
            <p:ph type="title"/>
          </p:nvPr>
        </p:nvSpPr>
        <p:spPr/>
        <p:txBody>
          <a:bodyPr/>
          <a:lstStyle/>
          <a:p>
            <a:pPr eaLnBrk="1" hangingPunct="1"/>
            <a:r>
              <a:rPr lang="en-US" altLang="zh-CN"/>
              <a:t>SA</a:t>
            </a:r>
            <a:r>
              <a:rPr lang="zh-CN" altLang="en-US"/>
              <a:t>之重要</a:t>
            </a:r>
            <a:endParaRPr lang="zh-CN" altLang="en-US"/>
          </a:p>
        </p:txBody>
      </p:sp>
      <p:sp>
        <p:nvSpPr>
          <p:cNvPr id="68613" name="Rectangle 3"/>
          <p:cNvSpPr>
            <a:spLocks noGrp="1" noChangeArrowheads="1"/>
          </p:cNvSpPr>
          <p:nvPr>
            <p:ph idx="1"/>
          </p:nvPr>
        </p:nvSpPr>
        <p:spPr/>
        <p:txBody>
          <a:bodyPr/>
          <a:lstStyle/>
          <a:p>
            <a:pPr algn="ctr" eaLnBrk="1" hangingPunct="1">
              <a:lnSpc>
                <a:spcPct val="80000"/>
              </a:lnSpc>
              <a:buFont typeface="Wingdings" panose="05000000000000000000" pitchFamily="2" charset="2"/>
              <a:buNone/>
            </a:pPr>
            <a:r>
              <a:rPr lang="zh-CN" altLang="en-US" sz="4000" dirty="0">
                <a:solidFill>
                  <a:srgbClr val="FF3300"/>
                </a:solidFill>
                <a:ea typeface="华文隶书" panose="02010800040101010101" pitchFamily="2" charset="-122"/>
              </a:rPr>
              <a:t>好的软件体系结构，</a:t>
            </a:r>
            <a:br>
              <a:rPr lang="zh-CN" altLang="en-US" sz="4000" dirty="0">
                <a:solidFill>
                  <a:srgbClr val="FF3300"/>
                </a:solidFill>
                <a:ea typeface="华文隶书" panose="02010800040101010101" pitchFamily="2" charset="-122"/>
              </a:rPr>
            </a:br>
            <a:r>
              <a:rPr lang="zh-CN" altLang="en-US" sz="4000" dirty="0">
                <a:solidFill>
                  <a:srgbClr val="FF3300"/>
                </a:solidFill>
                <a:ea typeface="华文隶书" panose="02010800040101010101" pitchFamily="2" charset="-122"/>
              </a:rPr>
              <a:t>是好的软件的必要条件。</a:t>
            </a:r>
            <a:endParaRPr lang="zh-CN" altLang="en-US" sz="4000" dirty="0">
              <a:solidFill>
                <a:srgbClr val="FF3300"/>
              </a:solidFill>
              <a:ea typeface="华文隶书" panose="02010800040101010101" pitchFamily="2" charset="-122"/>
            </a:endParaRPr>
          </a:p>
          <a:p>
            <a:pPr algn="ctr" eaLnBrk="1" hangingPunct="1">
              <a:lnSpc>
                <a:spcPct val="80000"/>
              </a:lnSpc>
              <a:buFont typeface="Wingdings" panose="05000000000000000000" pitchFamily="2" charset="2"/>
              <a:buNone/>
            </a:pPr>
            <a:r>
              <a:rPr lang="zh-CN" altLang="en-US" sz="4000" dirty="0">
                <a:solidFill>
                  <a:srgbClr val="0000CC"/>
                </a:solidFill>
                <a:ea typeface="华文隶书" panose="02010800040101010101" pitchFamily="2" charset="-122"/>
              </a:rPr>
              <a:t>“</a:t>
            </a:r>
            <a:r>
              <a:rPr lang="en-US" altLang="zh-CN" sz="4000" dirty="0">
                <a:solidFill>
                  <a:srgbClr val="0000CC"/>
                </a:solidFill>
                <a:ea typeface="华文隶书" panose="02010800040101010101" pitchFamily="2" charset="-122"/>
              </a:rPr>
              <a:t>Good architectural design has always been a major factor in determining the success of a software system.”</a:t>
            </a:r>
            <a:endParaRPr lang="en-US" altLang="zh-CN" sz="4000" dirty="0">
              <a:solidFill>
                <a:srgbClr val="0000CC"/>
              </a:solidFill>
              <a:ea typeface="华文隶书" panose="02010800040101010101" pitchFamily="2" charset="-122"/>
            </a:endParaRPr>
          </a:p>
        </p:txBody>
      </p:sp>
      <p:sp>
        <p:nvSpPr>
          <p:cNvPr id="68611"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7D8935DB-BAE7-407E-B6A3-66CBB8580514}" type="datetime1">
              <a:rPr lang="zh-CN" altLang="en-US" sz="1200" smtClean="0">
                <a:solidFill>
                  <a:schemeClr val="tx1"/>
                </a:solidFill>
              </a:rPr>
            </a:fld>
            <a:endParaRPr lang="zh-CN" altLang="en-US" sz="1200">
              <a:solidFill>
                <a:schemeClr val="tx1"/>
              </a:solidFill>
            </a:endParaRPr>
          </a:p>
        </p:txBody>
      </p:sp>
      <p:sp>
        <p:nvSpPr>
          <p:cNvPr id="68610"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A59B1F4-129E-4CC6-8F6B-E9CAD9255B85}"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2"/>
          <p:cNvSpPr>
            <a:spLocks noGrp="1" noChangeArrowheads="1"/>
          </p:cNvSpPr>
          <p:nvPr>
            <p:ph type="title"/>
          </p:nvPr>
        </p:nvSpPr>
        <p:spPr/>
        <p:txBody>
          <a:bodyPr/>
          <a:lstStyle/>
          <a:p>
            <a:pPr eaLnBrk="1" hangingPunct="1"/>
            <a:r>
              <a:rPr lang="en-US" altLang="zh-CN" dirty="0"/>
              <a:t>3</a:t>
            </a:r>
            <a:r>
              <a:rPr lang="zh-CN" altLang="en-US" dirty="0"/>
              <a:t> </a:t>
            </a:r>
            <a:r>
              <a:rPr lang="en-US" altLang="zh-CN" dirty="0"/>
              <a:t>SA</a:t>
            </a:r>
            <a:r>
              <a:rPr lang="zh-CN" altLang="en-US" dirty="0"/>
              <a:t>在</a:t>
            </a:r>
            <a:r>
              <a:rPr lang="en-US" altLang="zh-CN" dirty="0"/>
              <a:t>SE</a:t>
            </a:r>
            <a:r>
              <a:rPr lang="zh-CN" altLang="en-US" dirty="0"/>
              <a:t>中的地位</a:t>
            </a:r>
            <a:endParaRPr lang="zh-CN" altLang="en-US" dirty="0"/>
          </a:p>
        </p:txBody>
      </p:sp>
      <p:sp>
        <p:nvSpPr>
          <p:cNvPr id="70661" name="Rectangle 3"/>
          <p:cNvSpPr>
            <a:spLocks noGrp="1" noChangeArrowheads="1"/>
          </p:cNvSpPr>
          <p:nvPr>
            <p:ph idx="1"/>
          </p:nvPr>
        </p:nvSpPr>
        <p:spPr/>
        <p:txBody>
          <a:bodyPr/>
          <a:lstStyle/>
          <a:p>
            <a:pPr eaLnBrk="1" hangingPunct="1">
              <a:lnSpc>
                <a:spcPct val="80000"/>
              </a:lnSpc>
            </a:pPr>
            <a:r>
              <a:rPr lang="en-US" altLang="zh-CN" sz="1800"/>
              <a:t>Guide to the Software Engineering Body of Knowledge (SWEBOK)</a:t>
            </a:r>
            <a:br>
              <a:rPr lang="en-US" altLang="zh-CN" sz="1800"/>
            </a:br>
            <a:r>
              <a:rPr lang="en-US" altLang="zh-CN" sz="1800"/>
              <a:t>from </a:t>
            </a:r>
            <a:r>
              <a:rPr lang="en-US" altLang="zh-CN" sz="1800">
                <a:hlinkClick r:id="rId1"/>
              </a:rPr>
              <a:t>http://www.swebok.org/</a:t>
            </a:r>
            <a:r>
              <a:rPr lang="en-US" altLang="zh-CN" sz="1800"/>
              <a:t>  © IEEE</a:t>
            </a:r>
            <a:endParaRPr lang="en-US" altLang="zh-CN" sz="1800"/>
          </a:p>
          <a:p>
            <a:pPr eaLnBrk="1" hangingPunct="1">
              <a:lnSpc>
                <a:spcPct val="80000"/>
              </a:lnSpc>
            </a:pPr>
            <a:endParaRPr lang="zh-CN" altLang="en-US" sz="1800"/>
          </a:p>
        </p:txBody>
      </p:sp>
      <p:sp>
        <p:nvSpPr>
          <p:cNvPr id="70659"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372293AE-5255-484F-8354-356ACBDCD689}" type="datetime1">
              <a:rPr lang="zh-CN" altLang="en-US" sz="1200" smtClean="0">
                <a:solidFill>
                  <a:schemeClr val="tx1"/>
                </a:solidFill>
              </a:rPr>
            </a:fld>
            <a:endParaRPr lang="zh-CN" altLang="en-US" sz="1200">
              <a:solidFill>
                <a:schemeClr val="tx1"/>
              </a:solidFill>
            </a:endParaRPr>
          </a:p>
        </p:txBody>
      </p:sp>
      <p:sp>
        <p:nvSpPr>
          <p:cNvPr id="70658"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F7E4DB2-CEF3-4A43-B256-1A75D713DF4B}"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pic>
        <p:nvPicPr>
          <p:cNvPr id="7066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47800"/>
            <a:ext cx="8896350" cy="446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5"/>
          <p:cNvSpPr>
            <a:spLocks noChangeArrowheads="1"/>
          </p:cNvSpPr>
          <p:nvPr/>
        </p:nvSpPr>
        <p:spPr bwMode="auto">
          <a:xfrm>
            <a:off x="971550" y="1989138"/>
            <a:ext cx="863600" cy="3240087"/>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b="0">
              <a:solidFill>
                <a:schemeClr val="tx1"/>
              </a:solidFill>
            </a:endParaRPr>
          </a:p>
        </p:txBody>
      </p:sp>
      <p:pic>
        <p:nvPicPr>
          <p:cNvPr id="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0"/>
            <a:ext cx="391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1" name="Line 7"/>
          <p:cNvSpPr>
            <a:spLocks noChangeShapeType="1"/>
          </p:cNvSpPr>
          <p:nvPr/>
        </p:nvSpPr>
        <p:spPr bwMode="auto">
          <a:xfrm>
            <a:off x="6324600" y="3810000"/>
            <a:ext cx="1439863"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4)">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3"/>
                                        </p:tgtEl>
                                        <p:attrNameLst>
                                          <p:attrName>style.visibility</p:attrName>
                                        </p:attrNameLst>
                                      </p:cBhvr>
                                      <p:to>
                                        <p:strVal val="visible"/>
                                      </p:to>
                                    </p:se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57351"/>
                                        </p:tgtEl>
                                        <p:attrNameLst>
                                          <p:attrName>style.visibility</p:attrName>
                                        </p:attrNameLst>
                                      </p:cBhvr>
                                      <p:to>
                                        <p:strVal val="visible"/>
                                      </p:to>
                                    </p:set>
                                    <p:animEffect transition="in" filter="wipe(left)">
                                      <p:cBhvr>
                                        <p:cTn id="15" dur="500"/>
                                        <p:tgtEl>
                                          <p:spTgt spid="57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2"/>
          <p:cNvSpPr>
            <a:spLocks noGrp="1" noChangeArrowheads="1"/>
          </p:cNvSpPr>
          <p:nvPr>
            <p:ph type="title"/>
          </p:nvPr>
        </p:nvSpPr>
        <p:spPr/>
        <p:txBody>
          <a:bodyPr/>
          <a:lstStyle/>
          <a:p>
            <a:pPr eaLnBrk="1" hangingPunct="1"/>
            <a:r>
              <a:rPr lang="en-US" altLang="zh-CN"/>
              <a:t>Software Structure and Architecture</a:t>
            </a:r>
            <a:endParaRPr lang="en-US" altLang="zh-CN"/>
          </a:p>
        </p:txBody>
      </p:sp>
      <p:sp>
        <p:nvSpPr>
          <p:cNvPr id="2" name="内容占位符 1"/>
          <p:cNvSpPr>
            <a:spLocks noGrp="1"/>
          </p:cNvSpPr>
          <p:nvPr>
            <p:ph idx="1"/>
          </p:nvPr>
        </p:nvSpPr>
        <p:spPr/>
        <p:txBody>
          <a:bodyPr/>
          <a:lstStyle/>
          <a:p>
            <a:endParaRPr lang="zh-CN" altLang="en-US"/>
          </a:p>
        </p:txBody>
      </p:sp>
      <p:sp>
        <p:nvSpPr>
          <p:cNvPr id="71683"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2C10C0B2-F943-4235-8A76-88E642DEB7EE}" type="datetime1">
              <a:rPr lang="zh-CN" altLang="en-US" sz="1200" smtClean="0">
                <a:solidFill>
                  <a:schemeClr val="tx1"/>
                </a:solidFill>
              </a:rPr>
            </a:fld>
            <a:endParaRPr lang="zh-CN" altLang="en-US" sz="1200">
              <a:solidFill>
                <a:schemeClr val="tx1"/>
              </a:solidFill>
            </a:endParaRPr>
          </a:p>
        </p:txBody>
      </p:sp>
      <p:sp>
        <p:nvSpPr>
          <p:cNvPr id="71682"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CA11C25D-13CC-456D-ACE9-BF795C6F653E}"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pic>
        <p:nvPicPr>
          <p:cNvPr id="7168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29200" y="533400"/>
            <a:ext cx="292735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2"/>
          <p:cNvSpPr>
            <a:spLocks noGrp="1" noChangeArrowheads="1"/>
          </p:cNvSpPr>
          <p:nvPr>
            <p:ph type="title"/>
          </p:nvPr>
        </p:nvSpPr>
        <p:spPr/>
        <p:txBody>
          <a:bodyPr/>
          <a:lstStyle/>
          <a:p>
            <a:pPr eaLnBrk="1" hangingPunct="1"/>
            <a:r>
              <a:rPr lang="en-US" altLang="zh-CN" sz="4000"/>
              <a:t>4 </a:t>
            </a:r>
            <a:r>
              <a:rPr lang="zh-CN" altLang="en-US" sz="4000"/>
              <a:t>软件体系结构的理论基础</a:t>
            </a:r>
            <a:endParaRPr lang="zh-CN" altLang="en-US" sz="4000">
              <a:solidFill>
                <a:srgbClr val="0000CC"/>
              </a:solidFill>
            </a:endParaRPr>
          </a:p>
        </p:txBody>
      </p:sp>
      <p:sp>
        <p:nvSpPr>
          <p:cNvPr id="72709" name="Rectangle 3"/>
          <p:cNvSpPr>
            <a:spLocks noGrp="1" noChangeArrowheads="1"/>
          </p:cNvSpPr>
          <p:nvPr>
            <p:ph idx="1"/>
          </p:nvPr>
        </p:nvSpPr>
        <p:spPr>
          <a:xfrm>
            <a:off x="539552" y="1484784"/>
            <a:ext cx="7975798" cy="4692179"/>
          </a:xfrm>
        </p:spPr>
        <p:txBody>
          <a:bodyPr/>
          <a:lstStyle/>
          <a:p>
            <a:pPr marL="0" indent="0" eaLnBrk="1" hangingPunct="1">
              <a:lnSpc>
                <a:spcPct val="120000"/>
              </a:lnSpc>
              <a:buFont typeface="Wingdings" panose="05000000000000000000" pitchFamily="2" charset="2"/>
              <a:buNone/>
            </a:pPr>
            <a:r>
              <a:rPr lang="zh-CN" altLang="en-US" sz="2000" dirty="0"/>
              <a:t>软件体系结构是软件工程的一个重要的研究和实践领域，也是软件工程的一个新的发展阶段。软件体系结构今天的辉煌离不开软件技术和软件工程几十年来的发展。软件体系结构的理论基础其实有很多在多年以前就已经为人所知。它们主要是在</a:t>
            </a:r>
            <a:r>
              <a:rPr lang="en-US" altLang="zh-CN" sz="2000" dirty="0"/>
              <a:t>20</a:t>
            </a:r>
            <a:r>
              <a:rPr lang="zh-CN" altLang="en-US" sz="2000" dirty="0"/>
              <a:t>世纪</a:t>
            </a:r>
            <a:r>
              <a:rPr lang="en-US" altLang="zh-CN" sz="2000" dirty="0"/>
              <a:t>70</a:t>
            </a:r>
            <a:r>
              <a:rPr lang="zh-CN" altLang="en-US" sz="2000" dirty="0"/>
              <a:t>年代为结构化程序设计研究而提出的，并伴随着面向对象程序设计和构件等技术的发展而发展。这些理论对于成功地进行软件开发是十分重要的，而对于这种重要性的认识越是当人们感到软件开发困难的时候认识得越深刻。软件体系结构一些重要的理论基础有抽象、封装、数据隐藏、模块化、注意分离点、耦合和内聚、充分性、完备性和简单性、策略和实现的分离、接口和实现的分离、分而制之、层次性。这些理论并不是一个个分离的个体，而是紧密联系在一起的一个整体，共同构成软件体系结构的理论基础。 </a:t>
            </a:r>
            <a:endParaRPr lang="zh-CN" altLang="en-US" sz="2000" dirty="0"/>
          </a:p>
        </p:txBody>
      </p:sp>
      <p:sp>
        <p:nvSpPr>
          <p:cNvPr id="72707"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34B51180-BE29-4251-B975-BF5B28BC3616}" type="datetime1">
              <a:rPr lang="zh-CN" altLang="en-US" sz="1200" smtClean="0">
                <a:solidFill>
                  <a:schemeClr val="tx1"/>
                </a:solidFill>
              </a:rPr>
            </a:fld>
            <a:endParaRPr lang="zh-CN" altLang="en-US" sz="1200">
              <a:solidFill>
                <a:schemeClr val="tx1"/>
              </a:solidFill>
            </a:endParaRPr>
          </a:p>
        </p:txBody>
      </p:sp>
      <p:sp>
        <p:nvSpPr>
          <p:cNvPr id="72706"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2405BF1-5EF2-4E56-9258-DA62DB5D5F3C}"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2"/>
          <p:cNvSpPr>
            <a:spLocks noGrp="1" noChangeArrowheads="1"/>
          </p:cNvSpPr>
          <p:nvPr>
            <p:ph type="title"/>
          </p:nvPr>
        </p:nvSpPr>
        <p:spPr>
          <a:xfrm>
            <a:off x="395536" y="748506"/>
            <a:ext cx="7886700" cy="1325563"/>
          </a:xfrm>
        </p:spPr>
        <p:txBody>
          <a:bodyPr/>
          <a:lstStyle/>
          <a:p>
            <a:pPr eaLnBrk="1" hangingPunct="1"/>
            <a:r>
              <a:rPr lang="zh-CN" altLang="en-US" sz="2800" dirty="0">
                <a:solidFill>
                  <a:srgbClr val="FF3300"/>
                </a:solidFill>
              </a:rPr>
              <a:t>（</a:t>
            </a:r>
            <a:r>
              <a:rPr lang="en-US" altLang="zh-CN" sz="2800" dirty="0">
                <a:solidFill>
                  <a:srgbClr val="FF3300"/>
                </a:solidFill>
              </a:rPr>
              <a:t>1</a:t>
            </a:r>
            <a:r>
              <a:rPr lang="zh-CN" altLang="en-US" sz="2800" dirty="0">
                <a:solidFill>
                  <a:srgbClr val="FF3300"/>
                </a:solidFill>
              </a:rPr>
              <a:t>）抽象</a:t>
            </a:r>
            <a:r>
              <a:rPr lang="zh-CN" altLang="en-US" sz="4000" dirty="0"/>
              <a:t> </a:t>
            </a:r>
            <a:endParaRPr lang="zh-CN" altLang="en-US" sz="4000" dirty="0"/>
          </a:p>
        </p:txBody>
      </p:sp>
      <p:sp>
        <p:nvSpPr>
          <p:cNvPr id="73733" name="Rectangle 3"/>
          <p:cNvSpPr>
            <a:spLocks noGrp="1" noChangeArrowheads="1"/>
          </p:cNvSpPr>
          <p:nvPr>
            <p:ph idx="1"/>
          </p:nvPr>
        </p:nvSpPr>
        <p:spPr>
          <a:xfrm>
            <a:off x="540147" y="1521619"/>
            <a:ext cx="7886700" cy="4351338"/>
          </a:xfrm>
        </p:spPr>
        <p:txBody>
          <a:bodyPr/>
          <a:lstStyle/>
          <a:p>
            <a:pPr marL="0" indent="0" eaLnBrk="1" hangingPunct="1">
              <a:lnSpc>
                <a:spcPct val="120000"/>
              </a:lnSpc>
              <a:buFont typeface="Wingdings" panose="05000000000000000000" pitchFamily="2" charset="2"/>
              <a:buNone/>
            </a:pPr>
            <a:r>
              <a:rPr lang="zh-CN" altLang="en-US" sz="2000" dirty="0"/>
              <a:t>抽象是人们用来处理复杂问题的基本原理之一。抽象有几种形式，如数据抽象、对象抽象、实体抽象、行为抽象、过程抽象等。数据、实体的抽象使得软件操作的对象和参数是针对逻辑结构，而非存储结构。行为、过程的抽象使得操作的指派是依据标识而非地址，由此产生了操作的接口和动态约束描述。在处理系统复杂性方面，抽象起到了重要的作用。减少构件耦合、接口与实现的分离等，都得益于抽象。</a:t>
            </a:r>
            <a:endParaRPr lang="zh-CN" altLang="en-US" sz="2000" dirty="0"/>
          </a:p>
        </p:txBody>
      </p:sp>
      <p:sp>
        <p:nvSpPr>
          <p:cNvPr id="73731"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C2F139F2-D38B-416C-B916-D5FE8E7462C1}" type="datetime1">
              <a:rPr lang="zh-CN" altLang="en-US" sz="1200" smtClean="0">
                <a:solidFill>
                  <a:schemeClr val="tx1"/>
                </a:solidFill>
              </a:rPr>
            </a:fld>
            <a:endParaRPr lang="zh-CN" altLang="en-US" sz="1200">
              <a:solidFill>
                <a:schemeClr val="tx1"/>
              </a:solidFill>
            </a:endParaRPr>
          </a:p>
        </p:txBody>
      </p:sp>
      <p:sp>
        <p:nvSpPr>
          <p:cNvPr id="73730"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6186CBF6-41FE-4A9F-9418-5F6E89EC82CF}"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73734" name="Rectangle 4"/>
          <p:cNvSpPr>
            <a:spLocks noChangeArrowheads="1"/>
          </p:cNvSpPr>
          <p:nvPr/>
        </p:nvSpPr>
        <p:spPr bwMode="auto">
          <a:xfrm>
            <a:off x="411758" y="3933056"/>
            <a:ext cx="8229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dirty="0">
                <a:solidFill>
                  <a:srgbClr val="FF3300"/>
                </a:solidFill>
              </a:rPr>
              <a:t>（</a:t>
            </a:r>
            <a:r>
              <a:rPr lang="en-US" altLang="zh-CN" sz="2800" b="0" dirty="0">
                <a:solidFill>
                  <a:srgbClr val="FF3300"/>
                </a:solidFill>
              </a:rPr>
              <a:t>2</a:t>
            </a:r>
            <a:r>
              <a:rPr lang="zh-CN" altLang="en-US" sz="2800" b="0" dirty="0">
                <a:solidFill>
                  <a:srgbClr val="FF3300"/>
                </a:solidFill>
              </a:rPr>
              <a:t>）封装</a:t>
            </a:r>
            <a:endParaRPr lang="zh-CN" altLang="en-US" sz="4000" b="0" dirty="0">
              <a:solidFill>
                <a:srgbClr val="0033CC"/>
              </a:solidFill>
            </a:endParaRPr>
          </a:p>
        </p:txBody>
      </p:sp>
      <p:sp>
        <p:nvSpPr>
          <p:cNvPr id="73735" name="Text Box 5"/>
          <p:cNvSpPr txBox="1">
            <a:spLocks noChangeArrowheads="1"/>
          </p:cNvSpPr>
          <p:nvPr/>
        </p:nvSpPr>
        <p:spPr bwMode="auto">
          <a:xfrm>
            <a:off x="471190" y="4625579"/>
            <a:ext cx="8280400"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000" b="0" dirty="0">
                <a:solidFill>
                  <a:schemeClr val="tx1"/>
                </a:solidFill>
              </a:rPr>
              <a:t>在面向对象程序设计当中，封装是一种重要的机制。所谓对象的概念就是属性（数据）及其操作（行为）的封装体。但封装的机制并不局限于面向对象领域，在结构化程序设计中，封装在函数和子程序当中也得到了体现。封装有利于提高抽象的层次，有利于结构和实现的分离，最终提高了软件的可维护性、可重用性和可靠性。</a:t>
            </a:r>
            <a:endParaRPr lang="zh-CN" altLang="en-US" sz="2000" b="0" dirty="0">
              <a:solidFill>
                <a:schemeClr val="tx1"/>
              </a:solidFill>
            </a:endParaRPr>
          </a:p>
          <a:p>
            <a:pPr eaLnBrk="1" hangingPunct="1">
              <a:spcBef>
                <a:spcPct val="50000"/>
              </a:spcBef>
              <a:buClrTx/>
              <a:buSzTx/>
              <a:buFont typeface="Arial" panose="020B0604020202020204" pitchFamily="34" charset="0"/>
              <a:buNone/>
            </a:pPr>
            <a:endParaRPr lang="zh-CN" altLang="en-US" sz="2000" b="0" dirty="0">
              <a:solidFill>
                <a:schemeClr val="tx1"/>
              </a:solidFill>
            </a:endParaRPr>
          </a:p>
        </p:txBody>
      </p:sp>
    </p:spTree>
  </p:cSld>
  <p:clrMapOvr>
    <a:masterClrMapping/>
  </p:clrMapOvr>
  <p:transition>
    <p:wipe di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2"/>
          <p:cNvSpPr>
            <a:spLocks noGrp="1" noChangeArrowheads="1"/>
          </p:cNvSpPr>
          <p:nvPr>
            <p:ph type="title"/>
          </p:nvPr>
        </p:nvSpPr>
        <p:spPr>
          <a:xfrm>
            <a:off x="433734" y="980728"/>
            <a:ext cx="7886700" cy="1325563"/>
          </a:xfrm>
        </p:spPr>
        <p:txBody>
          <a:bodyPr/>
          <a:lstStyle/>
          <a:p>
            <a:pPr eaLnBrk="1" hangingPunct="1"/>
            <a:r>
              <a:rPr lang="zh-CN" altLang="en-US" sz="2800" dirty="0">
                <a:solidFill>
                  <a:srgbClr val="FF3300"/>
                </a:solidFill>
              </a:rPr>
              <a:t>（3）信息隐藏</a:t>
            </a:r>
            <a:endParaRPr lang="zh-CN" altLang="en-US" sz="4000" dirty="0"/>
          </a:p>
        </p:txBody>
      </p:sp>
      <p:sp>
        <p:nvSpPr>
          <p:cNvPr id="74757" name="Rectangle 3"/>
          <p:cNvSpPr>
            <a:spLocks noGrp="1" noChangeArrowheads="1"/>
          </p:cNvSpPr>
          <p:nvPr>
            <p:ph idx="1"/>
          </p:nvPr>
        </p:nvSpPr>
        <p:spPr/>
        <p:txBody>
          <a:bodyPr/>
          <a:lstStyle/>
          <a:p>
            <a:pPr marL="0" indent="0" eaLnBrk="1" hangingPunct="1">
              <a:lnSpc>
                <a:spcPct val="120000"/>
              </a:lnSpc>
              <a:buFont typeface="Wingdings" panose="05000000000000000000" pitchFamily="2" charset="2"/>
              <a:buNone/>
            </a:pPr>
            <a:r>
              <a:rPr lang="zh-CN" altLang="en-US" sz="2000" dirty="0"/>
              <a:t>信息隐藏是软件工程的最基本和最重要的原理之一。信息隐藏对用户隐藏了构件的实现细节，用来更好地处理系统的复杂性和减少各构件之间的耦合。为了更好地应用，用户不需要知道的细节都应该由构件封装起来。封装原理经常被用来作为实现信息隐藏的方法，信息隐藏也可以通过接口与实现分离的原理来实现。</a:t>
            </a:r>
            <a:endParaRPr lang="zh-CN" altLang="en-US" sz="2000" dirty="0"/>
          </a:p>
        </p:txBody>
      </p:sp>
      <p:sp>
        <p:nvSpPr>
          <p:cNvPr id="74755"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BFA6FFA2-AB97-401B-A72A-AC47479571E5}" type="datetime1">
              <a:rPr lang="zh-CN" altLang="en-US" sz="1200" smtClean="0">
                <a:solidFill>
                  <a:schemeClr val="tx1"/>
                </a:solidFill>
              </a:rPr>
            </a:fld>
            <a:endParaRPr lang="zh-CN" altLang="en-US" sz="1200">
              <a:solidFill>
                <a:schemeClr val="tx1"/>
              </a:solidFill>
            </a:endParaRPr>
          </a:p>
        </p:txBody>
      </p:sp>
      <p:sp>
        <p:nvSpPr>
          <p:cNvPr id="74754"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23106A1C-8808-4DA1-812D-EF0C25AF6397}"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74758" name="Rectangle 4"/>
          <p:cNvSpPr>
            <a:spLocks noChangeArrowheads="1"/>
          </p:cNvSpPr>
          <p:nvPr/>
        </p:nvSpPr>
        <p:spPr bwMode="auto">
          <a:xfrm>
            <a:off x="457200" y="3677047"/>
            <a:ext cx="8229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dirty="0">
                <a:solidFill>
                  <a:srgbClr val="FF3300"/>
                </a:solidFill>
              </a:rPr>
              <a:t>（</a:t>
            </a:r>
            <a:r>
              <a:rPr lang="en-US" altLang="zh-CN" sz="2800" b="0" dirty="0">
                <a:solidFill>
                  <a:srgbClr val="FF3300"/>
                </a:solidFill>
              </a:rPr>
              <a:t>4</a:t>
            </a:r>
            <a:r>
              <a:rPr lang="zh-CN" altLang="en-US" sz="2800" b="0" dirty="0">
                <a:solidFill>
                  <a:srgbClr val="FF3300"/>
                </a:solidFill>
              </a:rPr>
              <a:t>）模块化</a:t>
            </a:r>
            <a:r>
              <a:rPr lang="zh-CN" altLang="en-US" sz="4400" b="0" dirty="0">
                <a:solidFill>
                  <a:srgbClr val="0033CC"/>
                </a:solidFill>
              </a:rPr>
              <a:t> </a:t>
            </a:r>
            <a:endParaRPr lang="zh-CN" altLang="en-US" sz="2800" b="0" dirty="0">
              <a:solidFill>
                <a:srgbClr val="FF3300"/>
              </a:solidFill>
            </a:endParaRPr>
          </a:p>
        </p:txBody>
      </p:sp>
      <p:sp>
        <p:nvSpPr>
          <p:cNvPr id="74759" name="Text Box 5"/>
          <p:cNvSpPr txBox="1">
            <a:spLocks noChangeArrowheads="1"/>
          </p:cNvSpPr>
          <p:nvPr/>
        </p:nvSpPr>
        <p:spPr bwMode="auto">
          <a:xfrm>
            <a:off x="539750" y="4365625"/>
            <a:ext cx="82804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000" b="0" dirty="0">
                <a:solidFill>
                  <a:schemeClr val="tx1"/>
                </a:solidFill>
              </a:rPr>
              <a:t>模块化主要关心的是如何将一个软件系统分解成子系统和构件，其主要任务就是决定怎样将构成应用的逻辑结构物理地分割成代码实体。模块化的主要做法，就是在一个系统内引入具有良好定义的分界，依次来处理系统的复杂性。模块化与封装原理的联系非常密切。模块化带来了复杂系统资源管理、维护和应用的逻辑和条理性，增加了应用设计的灵活性。另外，它对于系统的运行设计和管理调度也提供了方便。</a:t>
            </a:r>
            <a:endParaRPr lang="zh-CN" altLang="en-US" sz="2000" b="0" dirty="0">
              <a:solidFill>
                <a:schemeClr val="tx1"/>
              </a:solidFill>
            </a:endParaRPr>
          </a:p>
        </p:txBody>
      </p:sp>
    </p:spTree>
  </p:cSld>
  <p:clrMapOvr>
    <a:masterClrMapping/>
  </p:clrMapOvr>
  <p:transition>
    <p:wipe di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2"/>
          <p:cNvSpPr>
            <a:spLocks noGrp="1" noChangeArrowheads="1"/>
          </p:cNvSpPr>
          <p:nvPr>
            <p:ph type="title"/>
          </p:nvPr>
        </p:nvSpPr>
        <p:spPr>
          <a:xfrm>
            <a:off x="323528" y="908720"/>
            <a:ext cx="7886700" cy="1325563"/>
          </a:xfrm>
        </p:spPr>
        <p:txBody>
          <a:bodyPr/>
          <a:lstStyle/>
          <a:p>
            <a:pPr eaLnBrk="1" hangingPunct="1"/>
            <a:r>
              <a:rPr lang="zh-CN" altLang="en-US" sz="2800" dirty="0">
                <a:solidFill>
                  <a:srgbClr val="FF3300"/>
                </a:solidFill>
              </a:rPr>
              <a:t>（</a:t>
            </a:r>
            <a:r>
              <a:rPr lang="en-US" altLang="zh-CN" sz="2800" dirty="0">
                <a:solidFill>
                  <a:srgbClr val="FF3300"/>
                </a:solidFill>
              </a:rPr>
              <a:t>5</a:t>
            </a:r>
            <a:r>
              <a:rPr lang="zh-CN" altLang="en-US" sz="2800" dirty="0">
                <a:solidFill>
                  <a:srgbClr val="FF3300"/>
                </a:solidFill>
              </a:rPr>
              <a:t>）关注分离</a:t>
            </a:r>
            <a:endParaRPr lang="zh-CN" altLang="en-US" sz="2800" dirty="0">
              <a:solidFill>
                <a:srgbClr val="FF3300"/>
              </a:solidFill>
            </a:endParaRPr>
          </a:p>
        </p:txBody>
      </p:sp>
      <p:sp>
        <p:nvSpPr>
          <p:cNvPr id="75781" name="Rectangle 3"/>
          <p:cNvSpPr>
            <a:spLocks noGrp="1" noChangeArrowheads="1"/>
          </p:cNvSpPr>
          <p:nvPr>
            <p:ph idx="1"/>
          </p:nvPr>
        </p:nvSpPr>
        <p:spPr/>
        <p:txBody>
          <a:bodyPr/>
          <a:lstStyle/>
          <a:p>
            <a:pPr marL="0" indent="0" eaLnBrk="1" hangingPunct="1">
              <a:lnSpc>
                <a:spcPct val="120000"/>
              </a:lnSpc>
              <a:buFont typeface="Wingdings" panose="05000000000000000000" pitchFamily="2" charset="2"/>
              <a:buNone/>
            </a:pPr>
            <a:r>
              <a:rPr lang="zh-CN" altLang="en-US" sz="2000"/>
              <a:t>不同和无关联的责任应该在软件系统中分离开来，让它们出现在不同的构件中。相互协作完成某一个特定任务的构件应该和其他任务中执行计算的构件分离开来。如果一个构件在不同的环境下扮演不同的角色，在构件中这些角色应该独立且相互分离。例如，在多层体系结构的组件设计中，在多种应用场景中担任不同角色的同一组件，需要并且可以使用不同的接口定义。这样，对某一角色开发的只是与角色相关的信息和服务，避免了过多暴露所造成对应用设计的负担和混乱，并保证了组件运行的可靠和安全。</a:t>
            </a:r>
            <a:endParaRPr lang="zh-CN" altLang="en-US" sz="2000"/>
          </a:p>
        </p:txBody>
      </p:sp>
      <p:sp>
        <p:nvSpPr>
          <p:cNvPr id="75779"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DBCB7C37-CF7E-4DFD-BD62-71B7EBC902A9}" type="datetime1">
              <a:rPr lang="zh-CN" altLang="en-US" sz="1200" smtClean="0">
                <a:solidFill>
                  <a:schemeClr val="tx1"/>
                </a:solidFill>
              </a:rPr>
            </a:fld>
            <a:endParaRPr lang="zh-CN" altLang="en-US" sz="1200">
              <a:solidFill>
                <a:schemeClr val="tx1"/>
              </a:solidFill>
            </a:endParaRPr>
          </a:p>
        </p:txBody>
      </p:sp>
      <p:sp>
        <p:nvSpPr>
          <p:cNvPr id="75778"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93F25B48-BB3C-42A5-B6CB-4324189AC542}"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2"/>
          <p:cNvSpPr>
            <a:spLocks noGrp="1" noChangeArrowheads="1"/>
          </p:cNvSpPr>
          <p:nvPr>
            <p:ph type="title"/>
          </p:nvPr>
        </p:nvSpPr>
        <p:spPr>
          <a:xfrm>
            <a:off x="467544" y="908720"/>
            <a:ext cx="7886700" cy="1325563"/>
          </a:xfrm>
        </p:spPr>
        <p:txBody>
          <a:bodyPr/>
          <a:lstStyle/>
          <a:p>
            <a:pPr eaLnBrk="1" hangingPunct="1"/>
            <a:r>
              <a:rPr lang="zh-CN" altLang="en-US" sz="2800" dirty="0">
                <a:solidFill>
                  <a:srgbClr val="FF3300"/>
                </a:solidFill>
              </a:rPr>
              <a:t>（</a:t>
            </a:r>
            <a:r>
              <a:rPr lang="en-US" altLang="zh-CN" sz="2800" dirty="0">
                <a:solidFill>
                  <a:srgbClr val="FF3300"/>
                </a:solidFill>
              </a:rPr>
              <a:t>6</a:t>
            </a:r>
            <a:r>
              <a:rPr lang="zh-CN" altLang="en-US" sz="2800" dirty="0">
                <a:solidFill>
                  <a:srgbClr val="FF3300"/>
                </a:solidFill>
              </a:rPr>
              <a:t>）耦合和内聚</a:t>
            </a:r>
            <a:endParaRPr lang="zh-CN" altLang="en-US" sz="2800" dirty="0">
              <a:solidFill>
                <a:srgbClr val="FF3300"/>
              </a:solidFill>
            </a:endParaRPr>
          </a:p>
        </p:txBody>
      </p:sp>
      <p:sp>
        <p:nvSpPr>
          <p:cNvPr id="76805" name="Rectangle 3"/>
          <p:cNvSpPr>
            <a:spLocks noGrp="1" noChangeArrowheads="1"/>
          </p:cNvSpPr>
          <p:nvPr>
            <p:ph idx="1"/>
          </p:nvPr>
        </p:nvSpPr>
        <p:spPr/>
        <p:txBody>
          <a:bodyPr/>
          <a:lstStyle/>
          <a:p>
            <a:pPr marL="0" indent="0" eaLnBrk="1" hangingPunct="1">
              <a:lnSpc>
                <a:spcPct val="120000"/>
              </a:lnSpc>
              <a:buFont typeface="Wingdings" panose="05000000000000000000" pitchFamily="2" charset="2"/>
              <a:buNone/>
            </a:pPr>
            <a:r>
              <a:rPr lang="zh-CN" altLang="en-US" sz="2000"/>
              <a:t>耦合和内聚最初是作为结构化设计方法的部分原理而提出的。耦合强调模块之间的特性，而内聚强调模块内部的特性。耦合是用来衡量一个模块同另一个模块的联系的紧密程度的。紧密的耦合就会使系统变得复杂，因为如果一个模块和另外的模块有很密切关联的话，这个模块就很难理解、调试、维护。通过弱耦合构件的设计可以降低系统的复杂性。内聚用来衡量单一模块内功能和元素间联系的紧密程度。内聚有几种形式，最期望获得的是功能内聚，它说明一个模块或者构件内的所有元素都共同来完成具有良好边界的行为。最差的形式是偶然内聚，这种形式将毫无联系的抽象放置到同一模块之中。其他形式的内聚还有：偶然内聚、时间内聚、过程内聚、通信内聚、顺序内聚和不规则内聚。 </a:t>
            </a:r>
            <a:endParaRPr lang="zh-CN" altLang="en-US" sz="2000"/>
          </a:p>
        </p:txBody>
      </p:sp>
      <p:sp>
        <p:nvSpPr>
          <p:cNvPr id="76803"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B2293F99-9222-4699-BFF4-7D1ECB10C922}" type="datetime1">
              <a:rPr lang="zh-CN" altLang="en-US" sz="1200" smtClean="0">
                <a:solidFill>
                  <a:schemeClr val="tx1"/>
                </a:solidFill>
              </a:rPr>
            </a:fld>
            <a:endParaRPr lang="zh-CN" altLang="en-US" sz="1200">
              <a:solidFill>
                <a:schemeClr val="tx1"/>
              </a:solidFill>
            </a:endParaRPr>
          </a:p>
        </p:txBody>
      </p:sp>
      <p:sp>
        <p:nvSpPr>
          <p:cNvPr id="76802"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9FCFF22-C3DD-4C7F-8028-1093D69E99E0}"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
          <p:cNvSpPr>
            <a:spLocks noGrp="1" noChangeArrowheads="1"/>
          </p:cNvSpPr>
          <p:nvPr>
            <p:ph type="title"/>
          </p:nvPr>
        </p:nvSpPr>
        <p:spPr>
          <a:xfrm>
            <a:off x="446087" y="908720"/>
            <a:ext cx="7886700" cy="1325563"/>
          </a:xfrm>
        </p:spPr>
        <p:txBody>
          <a:bodyPr/>
          <a:lstStyle/>
          <a:p>
            <a:pPr eaLnBrk="1" hangingPunct="1"/>
            <a:r>
              <a:rPr lang="zh-CN" altLang="en-US" sz="2800" dirty="0">
                <a:solidFill>
                  <a:srgbClr val="FF3300"/>
                </a:solidFill>
              </a:rPr>
              <a:t>（</a:t>
            </a:r>
            <a:r>
              <a:rPr lang="en-US" altLang="zh-CN" sz="2800" dirty="0">
                <a:solidFill>
                  <a:srgbClr val="FF3300"/>
                </a:solidFill>
              </a:rPr>
              <a:t>7</a:t>
            </a:r>
            <a:r>
              <a:rPr lang="zh-CN" altLang="en-US" sz="2800" dirty="0">
                <a:solidFill>
                  <a:srgbClr val="FF3300"/>
                </a:solidFill>
              </a:rPr>
              <a:t>）充分性、完备性和简单性</a:t>
            </a:r>
            <a:endParaRPr lang="zh-CN" altLang="en-US" sz="2800" dirty="0">
              <a:solidFill>
                <a:srgbClr val="FF3300"/>
              </a:solidFill>
            </a:endParaRPr>
          </a:p>
        </p:txBody>
      </p:sp>
      <p:sp>
        <p:nvSpPr>
          <p:cNvPr id="77829" name="Rectangle 3"/>
          <p:cNvSpPr>
            <a:spLocks noGrp="1" noChangeArrowheads="1"/>
          </p:cNvSpPr>
          <p:nvPr>
            <p:ph idx="1"/>
          </p:nvPr>
        </p:nvSpPr>
        <p:spPr/>
        <p:txBody>
          <a:bodyPr/>
          <a:lstStyle/>
          <a:p>
            <a:pPr marL="0" indent="0" eaLnBrk="1" hangingPunct="1">
              <a:lnSpc>
                <a:spcPct val="120000"/>
              </a:lnSpc>
              <a:buFont typeface="Wingdings" panose="05000000000000000000" pitchFamily="2" charset="2"/>
              <a:buNone/>
            </a:pPr>
            <a:r>
              <a:rPr lang="en-US" altLang="zh-CN" sz="2000"/>
              <a:t>Grady Booch</a:t>
            </a:r>
            <a:r>
              <a:rPr lang="zh-CN" altLang="en-US" sz="2000"/>
              <a:t>指出软件系统的每个构件都应该是充分的、完备的和简单的。充分性指的是构件应该把握住与其进行有意义和高效交互抽象的所有特性。完备性指的是一个构件应该把握住所有与其抽象相关的特性。简单性指的是构件所应该完成的操作都可以容易地得到实现。在对一个指定的问题寻找构件设计方案时，使其具有充分性和完备性是一个主要目标。 </a:t>
            </a:r>
            <a:endParaRPr lang="zh-CN" altLang="en-US" sz="2000"/>
          </a:p>
        </p:txBody>
      </p:sp>
      <p:sp>
        <p:nvSpPr>
          <p:cNvPr id="77827"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2616B8F5-D4F4-4C8E-8CB8-4A1E3DF1A307}" type="datetime1">
              <a:rPr lang="zh-CN" altLang="en-US" sz="1200" smtClean="0">
                <a:solidFill>
                  <a:schemeClr val="tx1"/>
                </a:solidFill>
              </a:rPr>
            </a:fld>
            <a:endParaRPr lang="zh-CN" altLang="en-US" sz="1200">
              <a:solidFill>
                <a:schemeClr val="tx1"/>
              </a:solidFill>
            </a:endParaRPr>
          </a:p>
        </p:txBody>
      </p:sp>
      <p:sp>
        <p:nvSpPr>
          <p:cNvPr id="77826"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28F39F11-5AC3-4998-B8E9-1EA0FF0C684E}"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
        <p:nvSpPr>
          <p:cNvPr id="77830" name="Rectangle 4"/>
          <p:cNvSpPr>
            <a:spLocks noChangeArrowheads="1"/>
          </p:cNvSpPr>
          <p:nvPr/>
        </p:nvSpPr>
        <p:spPr bwMode="auto">
          <a:xfrm>
            <a:off x="457200" y="4124672"/>
            <a:ext cx="8229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dirty="0">
                <a:solidFill>
                  <a:srgbClr val="FF3300"/>
                </a:solidFill>
              </a:rPr>
              <a:t>（</a:t>
            </a:r>
            <a:r>
              <a:rPr lang="en-US" altLang="zh-CN" sz="2800" b="0" dirty="0">
                <a:solidFill>
                  <a:srgbClr val="FF3300"/>
                </a:solidFill>
              </a:rPr>
              <a:t>8</a:t>
            </a:r>
            <a:r>
              <a:rPr lang="zh-CN" altLang="en-US" sz="2800" b="0" dirty="0">
                <a:solidFill>
                  <a:srgbClr val="FF3300"/>
                </a:solidFill>
              </a:rPr>
              <a:t>）分而治之</a:t>
            </a:r>
            <a:endParaRPr lang="zh-CN" altLang="en-US" sz="2800" b="0" dirty="0">
              <a:solidFill>
                <a:srgbClr val="FF3300"/>
              </a:solidFill>
            </a:endParaRPr>
          </a:p>
        </p:txBody>
      </p:sp>
      <p:sp>
        <p:nvSpPr>
          <p:cNvPr id="77831" name="Text Box 5"/>
          <p:cNvSpPr txBox="1">
            <a:spLocks noChangeArrowheads="1"/>
          </p:cNvSpPr>
          <p:nvPr/>
        </p:nvSpPr>
        <p:spPr bwMode="auto">
          <a:xfrm>
            <a:off x="684213" y="4565997"/>
            <a:ext cx="77755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000" b="0" dirty="0">
                <a:solidFill>
                  <a:schemeClr val="tx1"/>
                </a:solidFill>
              </a:rPr>
              <a:t>分而治之来自古时的政治，在软件体系结构中该原理得到大量的应用。例如，在设计中将一个复杂任务或构件分割成可以独立设计的更小的部分。该原理经常被用来作为实现注意点分离的方法，但是更重要的还是简化了问题的复杂度。 </a:t>
            </a:r>
            <a:endParaRPr lang="zh-CN" altLang="en-US" sz="2000" b="0" dirty="0">
              <a:solidFill>
                <a:schemeClr val="tx1"/>
              </a:solidFill>
            </a:endParaRPr>
          </a:p>
        </p:txBody>
      </p:sp>
    </p:spTree>
  </p:cSld>
  <p:clrMapOvr>
    <a:masterClrMapping/>
  </p:clrMapOvr>
  <p:transition>
    <p:wipe dir="u"/>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2"/>
          <p:cNvSpPr>
            <a:spLocks noGrp="1" noChangeArrowheads="1"/>
          </p:cNvSpPr>
          <p:nvPr>
            <p:ph type="title"/>
          </p:nvPr>
        </p:nvSpPr>
        <p:spPr>
          <a:xfrm>
            <a:off x="467544" y="983456"/>
            <a:ext cx="7886700" cy="1325563"/>
          </a:xfrm>
        </p:spPr>
        <p:txBody>
          <a:bodyPr/>
          <a:lstStyle/>
          <a:p>
            <a:pPr eaLnBrk="1" hangingPunct="1"/>
            <a:r>
              <a:rPr lang="zh-CN" altLang="en-US" sz="2800" dirty="0">
                <a:solidFill>
                  <a:srgbClr val="FF3300"/>
                </a:solidFill>
              </a:rPr>
              <a:t>（</a:t>
            </a:r>
            <a:r>
              <a:rPr lang="en-US" altLang="zh-CN" sz="2800" dirty="0">
                <a:solidFill>
                  <a:srgbClr val="FF3300"/>
                </a:solidFill>
              </a:rPr>
              <a:t>9</a:t>
            </a:r>
            <a:r>
              <a:rPr lang="zh-CN" altLang="en-US" sz="2800" dirty="0">
                <a:solidFill>
                  <a:srgbClr val="FF3300"/>
                </a:solidFill>
              </a:rPr>
              <a:t>）策略和实现的分离</a:t>
            </a:r>
            <a:endParaRPr lang="zh-CN" altLang="en-US" sz="2800" dirty="0">
              <a:solidFill>
                <a:srgbClr val="FF3300"/>
              </a:solidFill>
            </a:endParaRPr>
          </a:p>
        </p:txBody>
      </p:sp>
      <p:sp>
        <p:nvSpPr>
          <p:cNvPr id="78853" name="Rectangle 3"/>
          <p:cNvSpPr>
            <a:spLocks noGrp="1" noChangeArrowheads="1"/>
          </p:cNvSpPr>
          <p:nvPr>
            <p:ph idx="1"/>
          </p:nvPr>
        </p:nvSpPr>
        <p:spPr/>
        <p:txBody>
          <a:bodyPr/>
          <a:lstStyle/>
          <a:p>
            <a:pPr marL="0" indent="0" eaLnBrk="1" hangingPunct="1">
              <a:lnSpc>
                <a:spcPct val="120000"/>
              </a:lnSpc>
              <a:buFont typeface="Wingdings" panose="05000000000000000000" pitchFamily="2" charset="2"/>
              <a:buNone/>
            </a:pPr>
            <a:r>
              <a:rPr lang="zh-CN" altLang="en-US" sz="2000"/>
              <a:t>软件系统的构件应该实现策略或处理问题，但不能同时处理两者。策略构件负责处理上下文相关的决策、信息的语义和解释的知识、把不相交计算组合成结果、对参数值进行选择等问题。实现构件负责全面规范算法的执行，执行中不需要对上下文相关信息进行决策。由于独立于特定的上下文环境，实现构件容易重用和维护，而策略构件通常是与特定应用相关的，需要随着应用的变化而改变。也可以说策略和实现的分离强调分离出业务逻辑，将业务逻辑部分和与业务逻辑无关的实现部分分离开来，这样软件的结构更清晰。 </a:t>
            </a:r>
            <a:endParaRPr lang="zh-CN" altLang="en-US" sz="2000"/>
          </a:p>
        </p:txBody>
      </p:sp>
      <p:sp>
        <p:nvSpPr>
          <p:cNvPr id="78851"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3C6AAC7A-3586-4BC4-9EF3-EB4D160670FC}" type="datetime1">
              <a:rPr lang="zh-CN" altLang="en-US" sz="1200" smtClean="0">
                <a:solidFill>
                  <a:schemeClr val="tx1"/>
                </a:solidFill>
              </a:rPr>
            </a:fld>
            <a:endParaRPr lang="zh-CN" altLang="en-US" sz="1200">
              <a:solidFill>
                <a:schemeClr val="tx1"/>
              </a:solidFill>
            </a:endParaRPr>
          </a:p>
        </p:txBody>
      </p:sp>
      <p:sp>
        <p:nvSpPr>
          <p:cNvPr id="78850"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7E47CE4-F910-49F1-8F48-45E0FE91052C}"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2"/>
          <p:cNvSpPr>
            <a:spLocks noGrp="1" noChangeArrowheads="1"/>
          </p:cNvSpPr>
          <p:nvPr>
            <p:ph type="title"/>
          </p:nvPr>
        </p:nvSpPr>
        <p:spPr>
          <a:xfrm>
            <a:off x="539552" y="908720"/>
            <a:ext cx="7886700" cy="1325563"/>
          </a:xfrm>
        </p:spPr>
        <p:txBody>
          <a:bodyPr/>
          <a:lstStyle/>
          <a:p>
            <a:pPr eaLnBrk="1" hangingPunct="1"/>
            <a:r>
              <a:rPr lang="zh-CN" altLang="en-US" sz="2800" dirty="0">
                <a:solidFill>
                  <a:srgbClr val="FF3300"/>
                </a:solidFill>
              </a:rPr>
              <a:t>（</a:t>
            </a:r>
            <a:r>
              <a:rPr lang="en-US" altLang="zh-CN" sz="2800" dirty="0">
                <a:solidFill>
                  <a:srgbClr val="FF3300"/>
                </a:solidFill>
              </a:rPr>
              <a:t>10</a:t>
            </a:r>
            <a:r>
              <a:rPr lang="zh-CN" altLang="en-US" sz="2800" dirty="0">
                <a:solidFill>
                  <a:srgbClr val="FF3300"/>
                </a:solidFill>
              </a:rPr>
              <a:t>）接口和实现的分离</a:t>
            </a:r>
            <a:endParaRPr lang="zh-CN" altLang="en-US" sz="2800" dirty="0">
              <a:solidFill>
                <a:srgbClr val="FF3300"/>
              </a:solidFill>
            </a:endParaRPr>
          </a:p>
        </p:txBody>
      </p:sp>
      <p:sp>
        <p:nvSpPr>
          <p:cNvPr id="79877" name="Rectangle 3"/>
          <p:cNvSpPr>
            <a:spLocks noGrp="1" noChangeArrowheads="1"/>
          </p:cNvSpPr>
          <p:nvPr>
            <p:ph idx="1"/>
          </p:nvPr>
        </p:nvSpPr>
        <p:spPr/>
        <p:txBody>
          <a:bodyPr/>
          <a:lstStyle/>
          <a:p>
            <a:pPr marL="0" indent="0" eaLnBrk="1" hangingPunct="1">
              <a:lnSpc>
                <a:spcPct val="120000"/>
              </a:lnSpc>
              <a:buFont typeface="Wingdings" panose="05000000000000000000" pitchFamily="2" charset="2"/>
              <a:buNone/>
            </a:pPr>
            <a:r>
              <a:rPr lang="zh-CN" altLang="en-US" sz="2000"/>
              <a:t>任何一个构件都应该包含两个部分：接口和实现。接口部分定义了构件所提供的功能，并规范了功能的使用方法。实现部分包括了实现构件所提供功能的实际代码。该原理的主要目的是防止构件的客户接触到实现的细节，而只为客户提供构件的接口规范和使用方法。另外，该原理还允许独立于其他构件的应用而实现一个构件的功能。就像封装一样，接口和实现的分离也是一种用来获得信息隐藏的技术。接口和实现的分离还支持可修改性，如果构件的接口和实现进行了分离，那么构件它就更容易在系统中进行改变，而且这种分离避免了客户直接受到构件变化的影响。该原理使构件行为和表示的改变变得容易，尤其是那些不影响接口的修改，例如对运行性能的提高。 </a:t>
            </a:r>
            <a:endParaRPr lang="zh-CN" altLang="en-US" sz="2000"/>
          </a:p>
        </p:txBody>
      </p:sp>
      <p:sp>
        <p:nvSpPr>
          <p:cNvPr id="79875"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19087A0F-C6BA-4D05-BB6C-A36D47E85D4C}" type="datetime1">
              <a:rPr lang="zh-CN" altLang="en-US" sz="1200" smtClean="0">
                <a:solidFill>
                  <a:schemeClr val="tx1"/>
                </a:solidFill>
              </a:rPr>
            </a:fld>
            <a:endParaRPr lang="zh-CN" altLang="en-US" sz="1200">
              <a:solidFill>
                <a:schemeClr val="tx1"/>
              </a:solidFill>
            </a:endParaRPr>
          </a:p>
        </p:txBody>
      </p:sp>
      <p:sp>
        <p:nvSpPr>
          <p:cNvPr id="79874"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7949684-D289-49CC-89E2-D74D5E5C3011}"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2"/>
          <p:cNvSpPr>
            <a:spLocks noGrp="1" noChangeArrowheads="1"/>
          </p:cNvSpPr>
          <p:nvPr>
            <p:ph type="title"/>
          </p:nvPr>
        </p:nvSpPr>
        <p:spPr>
          <a:xfrm>
            <a:off x="467544" y="908720"/>
            <a:ext cx="7886700" cy="1325563"/>
          </a:xfrm>
        </p:spPr>
        <p:txBody>
          <a:bodyPr/>
          <a:lstStyle/>
          <a:p>
            <a:pPr eaLnBrk="1" hangingPunct="1"/>
            <a:r>
              <a:rPr lang="zh-CN" altLang="en-US" sz="2800" dirty="0">
                <a:solidFill>
                  <a:srgbClr val="FF3300"/>
                </a:solidFill>
              </a:rPr>
              <a:t>（</a:t>
            </a:r>
            <a:r>
              <a:rPr lang="en-US" altLang="zh-CN" sz="2800" dirty="0">
                <a:solidFill>
                  <a:srgbClr val="FF3300"/>
                </a:solidFill>
              </a:rPr>
              <a:t>11</a:t>
            </a:r>
            <a:r>
              <a:rPr lang="zh-CN" altLang="en-US" sz="2800" dirty="0">
                <a:solidFill>
                  <a:srgbClr val="FF3300"/>
                </a:solidFill>
              </a:rPr>
              <a:t>）层次性</a:t>
            </a:r>
            <a:endParaRPr lang="zh-CN" altLang="en-US" sz="2800" dirty="0">
              <a:solidFill>
                <a:srgbClr val="FF3300"/>
              </a:solidFill>
            </a:endParaRPr>
          </a:p>
        </p:txBody>
      </p:sp>
      <p:sp>
        <p:nvSpPr>
          <p:cNvPr id="80901" name="Rectangle 3"/>
          <p:cNvSpPr>
            <a:spLocks noGrp="1" noChangeArrowheads="1"/>
          </p:cNvSpPr>
          <p:nvPr>
            <p:ph idx="1"/>
          </p:nvPr>
        </p:nvSpPr>
        <p:spPr/>
        <p:txBody>
          <a:bodyPr/>
          <a:lstStyle/>
          <a:p>
            <a:pPr marL="0" indent="0" eaLnBrk="1" hangingPunct="1">
              <a:lnSpc>
                <a:spcPct val="120000"/>
              </a:lnSpc>
              <a:buFont typeface="Wingdings" panose="05000000000000000000" pitchFamily="2" charset="2"/>
              <a:buNone/>
            </a:pPr>
            <a:r>
              <a:rPr lang="zh-CN" altLang="en-US" sz="2000"/>
              <a:t>处理复杂问题有两种方法，即：分而制之的横向分割和分层次处理的纵向分割。后者是一种把问题分解成建立在基础概念和思想上多层次的、从底向上逐步抽象的分析和表达的结构，每一层处理该层次的问题、服务于该层次的要求。层次结构在日常生活中是很常见的，例如企业的组织结构和社会结构都是分层的。分层的思想也深入地渗透到人们的思维之中，有些工作比较复杂，我们没法一下子完成，只能把工作分为几层，一层一层地去做，高层工作总是建立在低层工作的基础之上。 </a:t>
            </a:r>
            <a:endParaRPr lang="zh-CN" altLang="en-US" sz="2000"/>
          </a:p>
        </p:txBody>
      </p:sp>
      <p:sp>
        <p:nvSpPr>
          <p:cNvPr id="80899" name="日期占位符 4"/>
          <p:cNvSpPr>
            <a:spLocks noGrp="1" noChangeArrowheads="1"/>
          </p:cNvSpPr>
          <p:nvPr>
            <p:ph type="dt" sz="half" idx="4294967295"/>
          </p:nvPr>
        </p:nvSpPr>
        <p:spPr>
          <a:xfrm>
            <a:off x="628650" y="6356350"/>
            <a:ext cx="2057400" cy="365125"/>
          </a:xfrm>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C68C2EC-76D9-49DC-9481-BF7DCFAB154A}" type="datetime1">
              <a:rPr lang="zh-CN" altLang="en-US" sz="1200" smtClean="0">
                <a:solidFill>
                  <a:schemeClr val="tx1"/>
                </a:solidFill>
              </a:rPr>
            </a:fld>
            <a:endParaRPr lang="zh-CN" altLang="en-US" sz="1200">
              <a:solidFill>
                <a:schemeClr val="tx1"/>
              </a:solidFill>
            </a:endParaRPr>
          </a:p>
        </p:txBody>
      </p:sp>
      <p:sp>
        <p:nvSpPr>
          <p:cNvPr id="80898"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b="1">
                <a:solidFill>
                  <a:srgbClr val="3333FF"/>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rgbClr val="FF3399"/>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9A5C20AF-A336-45D6-9154-CD29CFE37FE1}" type="slidenum">
              <a:rPr lang="zh-CN" altLang="en-US" sz="1200" smtClean="0">
                <a:solidFill>
                  <a:schemeClr val="tx1"/>
                </a:solidFill>
                <a:latin typeface="Arial Black" panose="020B0A04020102020204" pitchFamily="34" charset="0"/>
              </a:rPr>
            </a:fld>
            <a:endParaRPr lang="zh-CN" altLang="en-US" sz="1200">
              <a:solidFill>
                <a:schemeClr val="tx1"/>
              </a:solidFill>
              <a:latin typeface="Arial Black" panose="020B0A04020102020204" pitchFamily="34" charset="0"/>
            </a:endParaRPr>
          </a:p>
        </p:txBody>
      </p:sp>
    </p:spTree>
  </p:cSld>
  <p:clrMapOvr>
    <a:masterClrMapping/>
  </p:clrMapOvr>
  <p:transition>
    <p:wipe dir="u"/>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17705</Words>
  <Application>WPS 演示</Application>
  <PresentationFormat>全屏显示(4:3)</PresentationFormat>
  <Paragraphs>708</Paragraphs>
  <Slides>77</Slides>
  <Notes>13</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77</vt:i4>
      </vt:variant>
    </vt:vector>
  </HeadingPairs>
  <TitlesOfParts>
    <vt:vector size="96" baseType="lpstr">
      <vt:lpstr>Arial</vt:lpstr>
      <vt:lpstr>宋体</vt:lpstr>
      <vt:lpstr>Wingdings</vt:lpstr>
      <vt:lpstr>Calibri Light</vt:lpstr>
      <vt:lpstr>Garamond</vt:lpstr>
      <vt:lpstr>Times New Roman</vt:lpstr>
      <vt:lpstr>黑体</vt:lpstr>
      <vt:lpstr>Arial Black</vt:lpstr>
      <vt:lpstr>微软雅黑</vt:lpstr>
      <vt:lpstr>Arial</vt:lpstr>
      <vt:lpstr>Calibri</vt:lpstr>
      <vt:lpstr>Arial Unicode MS</vt:lpstr>
      <vt:lpstr>Tahoma</vt:lpstr>
      <vt:lpstr>Arial Narrow</vt:lpstr>
      <vt:lpstr>仿宋_GB2312</vt:lpstr>
      <vt:lpstr>仿宋</vt:lpstr>
      <vt:lpstr>华文隶书</vt:lpstr>
      <vt:lpstr>Office 主题</vt:lpstr>
      <vt:lpstr>Visio.Drawing.11</vt:lpstr>
      <vt:lpstr>软件体系结构 </vt:lpstr>
      <vt:lpstr>课程简介</vt:lpstr>
      <vt:lpstr>教材</vt:lpstr>
      <vt:lpstr>“建筑体系结构”</vt:lpstr>
      <vt:lpstr>软件危机</vt:lpstr>
      <vt:lpstr>软件危机</vt:lpstr>
      <vt:lpstr>软件危机</vt:lpstr>
      <vt:lpstr>软件危机的表现</vt:lpstr>
      <vt:lpstr>软件危机的表现</vt:lpstr>
      <vt:lpstr>软件危机的表现</vt:lpstr>
      <vt:lpstr>软件危机的表现</vt:lpstr>
      <vt:lpstr>软件危机的表现</vt:lpstr>
      <vt:lpstr>克服软件危机</vt:lpstr>
      <vt:lpstr>一个故事</vt:lpstr>
      <vt:lpstr>犬舍的体系结构设计</vt:lpstr>
      <vt:lpstr>独栋房屋的体系结构设计</vt:lpstr>
      <vt:lpstr>摩天大楼的体系结构设计</vt:lpstr>
      <vt:lpstr>体系结构的设计</vt:lpstr>
      <vt:lpstr>PowerPoint 演示文稿</vt:lpstr>
      <vt:lpstr>软件体系结构的产生</vt:lpstr>
      <vt:lpstr>PowerPoint 演示文稿</vt:lpstr>
      <vt:lpstr>软件体系结构的发展阶段</vt:lpstr>
      <vt:lpstr>软件体系结构的发展阶段</vt:lpstr>
      <vt:lpstr>软件体系结构的发展阶段</vt:lpstr>
      <vt:lpstr>软件体系结构的发展阶段</vt:lpstr>
      <vt:lpstr>软件体系结构的发展阶段</vt:lpstr>
      <vt:lpstr>软件体系结构的发展阶段</vt:lpstr>
      <vt:lpstr>软件体系结构的发展阶段</vt:lpstr>
      <vt:lpstr>PowerPoint 演示文稿</vt:lpstr>
      <vt:lpstr>PowerPoint 演示文稿</vt:lpstr>
      <vt:lpstr>PowerPoint 演示文稿</vt:lpstr>
      <vt:lpstr>1、软件体系结构研究的主要内容</vt:lpstr>
      <vt:lpstr>（1）软件体系结构描述语言</vt:lpstr>
      <vt:lpstr>（2）体系结构描述构造与表示</vt:lpstr>
      <vt:lpstr>（3）体系结构的设计、分析与验证</vt:lpstr>
      <vt:lpstr>（4）体系结构发现、演化与重用</vt:lpstr>
      <vt:lpstr>（5）基于体系结构的软件开发方法</vt:lpstr>
      <vt:lpstr>（6）特定领域的软件体系结构</vt:lpstr>
      <vt:lpstr>（7）软件体系结构支持工具</vt:lpstr>
      <vt:lpstr>（8）软件产品线体系结构</vt:lpstr>
      <vt:lpstr>2 SA的定义</vt:lpstr>
      <vt:lpstr>PowerPoint 演示文稿</vt:lpstr>
      <vt:lpstr>定义概述</vt:lpstr>
      <vt:lpstr>组成派的主要定义</vt:lpstr>
      <vt:lpstr>SA的定义</vt:lpstr>
      <vt:lpstr>SA的定义</vt:lpstr>
      <vt:lpstr>SA的定义</vt:lpstr>
      <vt:lpstr>SA的定义</vt:lpstr>
      <vt:lpstr>SA的定义</vt:lpstr>
      <vt:lpstr>SA的定义</vt:lpstr>
      <vt:lpstr>SA的定义</vt:lpstr>
      <vt:lpstr>SA的定义</vt:lpstr>
      <vt:lpstr>SA的定义</vt:lpstr>
      <vt:lpstr>SA的定义</vt:lpstr>
      <vt:lpstr>PowerPoint 演示文稿</vt:lpstr>
      <vt:lpstr>SA的定义</vt:lpstr>
      <vt:lpstr>决策派的主要定义</vt:lpstr>
      <vt:lpstr>SA的定义</vt:lpstr>
      <vt:lpstr>SA的定义</vt:lpstr>
      <vt:lpstr>PowerPoint 演示文稿</vt:lpstr>
      <vt:lpstr>其他定义</vt:lpstr>
      <vt:lpstr>参考定义框架</vt:lpstr>
      <vt:lpstr>参考定义框架</vt:lpstr>
      <vt:lpstr>参考定义框架</vt:lpstr>
      <vt:lpstr>参考定义框架</vt:lpstr>
      <vt:lpstr>SA之重要</vt:lpstr>
      <vt:lpstr>3 SA在SE中的地位</vt:lpstr>
      <vt:lpstr>Software Structure and Architecture</vt:lpstr>
      <vt:lpstr>4 软件体系结构的理论基础</vt:lpstr>
      <vt:lpstr>（1）抽象 </vt:lpstr>
      <vt:lpstr>（3）信息隐藏</vt:lpstr>
      <vt:lpstr>（5）关注分离</vt:lpstr>
      <vt:lpstr>（6）耦合和内聚</vt:lpstr>
      <vt:lpstr>（7）充分性、完备性和简单性</vt:lpstr>
      <vt:lpstr>（9）策略和实现的分离</vt:lpstr>
      <vt:lpstr>（10）接口和实现的分离</vt:lpstr>
      <vt:lpstr>（11）层次性</vt:lpstr>
    </vt:vector>
  </TitlesOfParts>
  <Company>南京理工大学计算机系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概述</dc:title>
  <dc:creator>zhao</dc:creator>
  <cp:lastModifiedBy>赵庆玲</cp:lastModifiedBy>
  <cp:revision>306</cp:revision>
  <dcterms:created xsi:type="dcterms:W3CDTF">2012-04-16T05:52:00Z</dcterms:created>
  <dcterms:modified xsi:type="dcterms:W3CDTF">2026-05-14T13:20:32Z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C222527A4F5E4FDEA4E05B7617EF0521_12</vt:lpwstr>
  </property>
</Properties>
</file>