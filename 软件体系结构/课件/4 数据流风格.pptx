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52"/>
  </p:notesMasterIdLst>
  <p:handoutMasterIdLst>
    <p:handoutMasterId r:id="rId53"/>
  </p:handoutMasterIdLst>
  <p:sldIdLst>
    <p:sldId id="307" r:id="rId2"/>
    <p:sldId id="260" r:id="rId3"/>
    <p:sldId id="288" r:id="rId4"/>
    <p:sldId id="289" r:id="rId5"/>
    <p:sldId id="293" r:id="rId6"/>
    <p:sldId id="294" r:id="rId7"/>
    <p:sldId id="308" r:id="rId8"/>
    <p:sldId id="295" r:id="rId9"/>
    <p:sldId id="296" r:id="rId10"/>
    <p:sldId id="297" r:id="rId11"/>
    <p:sldId id="263" r:id="rId12"/>
    <p:sldId id="298" r:id="rId13"/>
    <p:sldId id="299" r:id="rId14"/>
    <p:sldId id="300" r:id="rId15"/>
    <p:sldId id="266" r:id="rId16"/>
    <p:sldId id="267" r:id="rId17"/>
    <p:sldId id="301" r:id="rId18"/>
    <p:sldId id="564" r:id="rId19"/>
    <p:sldId id="268" r:id="rId20"/>
    <p:sldId id="565" r:id="rId21"/>
    <p:sldId id="566" r:id="rId22"/>
    <p:sldId id="270" r:id="rId23"/>
    <p:sldId id="567" r:id="rId24"/>
    <p:sldId id="568" r:id="rId25"/>
    <p:sldId id="569" r:id="rId26"/>
    <p:sldId id="570" r:id="rId27"/>
    <p:sldId id="571" r:id="rId28"/>
    <p:sldId id="272" r:id="rId29"/>
    <p:sldId id="273" r:id="rId30"/>
    <p:sldId id="572" r:id="rId31"/>
    <p:sldId id="274" r:id="rId32"/>
    <p:sldId id="573" r:id="rId33"/>
    <p:sldId id="574" r:id="rId34"/>
    <p:sldId id="575" r:id="rId35"/>
    <p:sldId id="576" r:id="rId36"/>
    <p:sldId id="309" r:id="rId37"/>
    <p:sldId id="306" r:id="rId38"/>
    <p:sldId id="279" r:id="rId39"/>
    <p:sldId id="280" r:id="rId40"/>
    <p:sldId id="577" r:id="rId41"/>
    <p:sldId id="579" r:id="rId42"/>
    <p:sldId id="578" r:id="rId43"/>
    <p:sldId id="580" r:id="rId44"/>
    <p:sldId id="561" r:id="rId45"/>
    <p:sldId id="562" r:id="rId46"/>
    <p:sldId id="563" r:id="rId47"/>
    <p:sldId id="281" r:id="rId48"/>
    <p:sldId id="282" r:id="rId49"/>
    <p:sldId id="283" r:id="rId50"/>
    <p:sldId id="284" r:id="rId5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3399"/>
    <a:srgbClr val="3333FF"/>
    <a:srgbClr val="0033CC"/>
    <a:srgbClr val="00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44" autoAdjust="0"/>
    <p:restoredTop sz="81568" autoAdjust="0"/>
  </p:normalViewPr>
  <p:slideViewPr>
    <p:cSldViewPr>
      <p:cViewPr varScale="1">
        <p:scale>
          <a:sx n="93" d="100"/>
          <a:sy n="93" d="100"/>
        </p:scale>
        <p:origin x="1599"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image" Target="../media/image23.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image" Target="../media/image2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5F4BA51-0791-4991-9FFA-47C9FA8A6613}"/>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099" name="Rectangle 3">
            <a:extLst>
              <a:ext uri="{FF2B5EF4-FFF2-40B4-BE49-F238E27FC236}">
                <a16:creationId xmlns:a16="http://schemas.microsoft.com/office/drawing/2014/main" id="{5A3B1C5B-1F25-47E3-B4A9-1450CF59A4EB}"/>
              </a:ext>
            </a:extLst>
          </p:cNvPr>
          <p:cNvSpPr>
            <a:spLocks noGrp="1" noRot="1" noChangeAspect="1" noChangeArrowheads="1" noTextEdit="1"/>
          </p:cNvSpPr>
          <p:nvPr>
            <p:ph type="sldImg" idx="4294967295"/>
          </p:nvPr>
        </p:nvSpPr>
        <p:spPr bwMode="auto">
          <a:xfrm>
            <a:off x="1149350" y="692150"/>
            <a:ext cx="4559300" cy="34163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A9FC84D-1F99-4F87-BCD0-51A2F09524B4}" type="slidenum">
              <a:rPr lang="zh-CN" altLang="en-US" smtClean="0"/>
              <a:pPr/>
              <a:t>2</a:t>
            </a:fld>
            <a:endParaRPr lang="zh-CN" altLang="en-US"/>
          </a:p>
        </p:txBody>
      </p:sp>
    </p:spTree>
    <p:extLst>
      <p:ext uri="{BB962C8B-B14F-4D97-AF65-F5344CB8AC3E}">
        <p14:creationId xmlns:p14="http://schemas.microsoft.com/office/powerpoint/2010/main" val="3016348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FEBBD058-2F32-4E61-B64B-4C1EB3435FBE}"/>
              </a:ext>
            </a:extLst>
          </p:cNvPr>
          <p:cNvSpPr>
            <a:spLocks noGrp="1" noRot="1" noChangeAspect="1" noChangeArrowheads="1" noTextEdit="1"/>
          </p:cNvSpPr>
          <p:nvPr>
            <p:ph type="sldImg" idx="4294967295"/>
          </p:nvPr>
        </p:nvSpPr>
        <p:spPr>
          <a:xfrm>
            <a:off x="1150938" y="692150"/>
            <a:ext cx="4556125" cy="3416300"/>
          </a:xfrm>
          <a:ln/>
        </p:spPr>
      </p:sp>
      <p:sp>
        <p:nvSpPr>
          <p:cNvPr id="14338" name="Rectangle 3">
            <a:extLst>
              <a:ext uri="{FF2B5EF4-FFF2-40B4-BE49-F238E27FC236}">
                <a16:creationId xmlns:a16="http://schemas.microsoft.com/office/drawing/2014/main" id="{816FFF7A-FC75-4D53-9548-3DFCB8E833B4}"/>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a:t>数据没有，就没有计算</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5C9315AF-D0DF-4429-B7CD-579E3DA8521F}"/>
              </a:ext>
            </a:extLst>
          </p:cNvPr>
          <p:cNvSpPr>
            <a:spLocks noGrp="1" noRot="1" noChangeAspect="1" noChangeArrowheads="1" noTextEdit="1"/>
          </p:cNvSpPr>
          <p:nvPr>
            <p:ph type="sldImg" idx="4294967295"/>
          </p:nvPr>
        </p:nvSpPr>
        <p:spPr>
          <a:xfrm>
            <a:off x="1150938" y="692150"/>
            <a:ext cx="4556125" cy="3416300"/>
          </a:xfrm>
          <a:ln/>
        </p:spPr>
      </p:sp>
      <p:sp>
        <p:nvSpPr>
          <p:cNvPr id="19458" name="Rectangle 3">
            <a:extLst>
              <a:ext uri="{FF2B5EF4-FFF2-40B4-BE49-F238E27FC236}">
                <a16:creationId xmlns:a16="http://schemas.microsoft.com/office/drawing/2014/main" id="{4ECF884D-6737-493F-B144-AD4B86749997}"/>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dirty="0"/>
              <a:t>当数据到达，处理过程被激活，如果没有数据，处于休眠状态</a:t>
            </a:r>
            <a:endParaRPr lang="en-US" altLang="zh-CN" dirty="0"/>
          </a:p>
          <a:p>
            <a:endParaRPr lang="en-US" altLang="zh-CN" dirty="0"/>
          </a:p>
          <a:p>
            <a:r>
              <a:rPr lang="zh-CN" altLang="en-US" dirty="0"/>
              <a:t>第一个体系结构可用吗？</a:t>
            </a:r>
          </a:p>
          <a:p>
            <a:r>
              <a:rPr lang="zh-CN" altLang="en-US" dirty="0"/>
              <a:t>如果数据流如此混乱，说明我们选择的体系结构不对</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43AF693A-3DE2-4540-A920-5FDE4EDD9C8E}"/>
              </a:ext>
            </a:extLst>
          </p:cNvPr>
          <p:cNvSpPr>
            <a:spLocks noGrp="1" noRot="1" noChangeAspect="1" noChangeArrowheads="1" noTextEdit="1"/>
          </p:cNvSpPr>
          <p:nvPr>
            <p:ph type="sldImg" idx="4294967295"/>
          </p:nvPr>
        </p:nvSpPr>
        <p:spPr>
          <a:xfrm>
            <a:off x="1150938" y="692150"/>
            <a:ext cx="4556125" cy="3416300"/>
          </a:xfrm>
          <a:ln/>
        </p:spPr>
      </p:sp>
      <p:sp>
        <p:nvSpPr>
          <p:cNvPr id="21506" name="Rectangle 3">
            <a:extLst>
              <a:ext uri="{FF2B5EF4-FFF2-40B4-BE49-F238E27FC236}">
                <a16:creationId xmlns:a16="http://schemas.microsoft.com/office/drawing/2014/main" id="{89EEE48F-CD07-45BB-BB68-93ADA100EBAC}"/>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a:t>瓶颈</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5F4B52A0-170A-4D64-B0E1-4D9E3B1921C1}"/>
              </a:ext>
            </a:extLst>
          </p:cNvPr>
          <p:cNvSpPr>
            <a:spLocks noGrp="1" noRot="1" noChangeAspect="1" noChangeArrowheads="1" noTextEdit="1"/>
          </p:cNvSpPr>
          <p:nvPr>
            <p:ph type="sldImg" idx="4294967295"/>
          </p:nvPr>
        </p:nvSpPr>
        <p:spPr>
          <a:xfrm>
            <a:off x="1150938" y="692150"/>
            <a:ext cx="4556125" cy="3416300"/>
          </a:xfrm>
          <a:ln/>
        </p:spPr>
      </p:sp>
      <p:sp>
        <p:nvSpPr>
          <p:cNvPr id="23554" name="Rectangle 3">
            <a:extLst>
              <a:ext uri="{FF2B5EF4-FFF2-40B4-BE49-F238E27FC236}">
                <a16:creationId xmlns:a16="http://schemas.microsoft.com/office/drawing/2014/main" id="{BF5F4258-985E-4CB2-9B80-B2E18CC8EA0B}"/>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a:t>瓶颈</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4D24D151-A02E-4544-AAC0-1401F9D9D528}"/>
              </a:ext>
            </a:extLst>
          </p:cNvPr>
          <p:cNvSpPr>
            <a:spLocks noGrp="1" noRot="1" noChangeAspect="1" noChangeArrowheads="1" noTextEdit="1"/>
          </p:cNvSpPr>
          <p:nvPr>
            <p:ph type="sldImg" idx="4294967295"/>
          </p:nvPr>
        </p:nvSpPr>
        <p:spPr>
          <a:xfrm>
            <a:off x="1150938" y="692150"/>
            <a:ext cx="4556125" cy="3416300"/>
          </a:xfrm>
          <a:ln/>
        </p:spPr>
      </p:sp>
      <p:sp>
        <p:nvSpPr>
          <p:cNvPr id="25602" name="Rectangle 3">
            <a:extLst>
              <a:ext uri="{FF2B5EF4-FFF2-40B4-BE49-F238E27FC236}">
                <a16:creationId xmlns:a16="http://schemas.microsoft.com/office/drawing/2014/main" id="{96FD5DA0-35C2-4CB0-800A-9F018DD52481}"/>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a:t>管道是批处理的进化</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50938" y="692150"/>
            <a:ext cx="4556125" cy="3416300"/>
          </a:xfrm>
        </p:spPr>
      </p:sp>
      <p:sp>
        <p:nvSpPr>
          <p:cNvPr id="3" name="备注占位符 2"/>
          <p:cNvSpPr>
            <a:spLocks noGrp="1"/>
          </p:cNvSpPr>
          <p:nvPr>
            <p:ph type="body" idx="1"/>
          </p:nvPr>
        </p:nvSpPr>
        <p:spPr/>
        <p:txBody>
          <a:bodyPr/>
          <a:lstStyle/>
          <a:p>
            <a:endParaRPr lang="en-US" altLang="zh-CN" dirty="0"/>
          </a:p>
          <a:p>
            <a:r>
              <a:rPr lang="zh-CN" altLang="en-US" dirty="0"/>
              <a:t>每一步对输入存储设备上数据</a:t>
            </a:r>
          </a:p>
        </p:txBody>
      </p:sp>
    </p:spTree>
    <p:extLst>
      <p:ext uri="{BB962C8B-B14F-4D97-AF65-F5344CB8AC3E}">
        <p14:creationId xmlns:p14="http://schemas.microsoft.com/office/powerpoint/2010/main" val="367377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A3D522DD-D9A2-4BAD-8BFA-4F5B4D42B339}"/>
              </a:ext>
            </a:extLst>
          </p:cNvPr>
          <p:cNvSpPr>
            <a:spLocks noGrp="1" noRot="1" noChangeAspect="1" noChangeArrowheads="1" noTextEdit="1"/>
          </p:cNvSpPr>
          <p:nvPr>
            <p:ph type="sldImg" idx="4294967295"/>
          </p:nvPr>
        </p:nvSpPr>
        <p:spPr>
          <a:xfrm>
            <a:off x="1150938" y="692150"/>
            <a:ext cx="4556125" cy="3416300"/>
          </a:xfrm>
          <a:ln/>
        </p:spPr>
      </p:sp>
      <p:sp>
        <p:nvSpPr>
          <p:cNvPr id="28674" name="Rectangle 3">
            <a:extLst>
              <a:ext uri="{FF2B5EF4-FFF2-40B4-BE49-F238E27FC236}">
                <a16:creationId xmlns:a16="http://schemas.microsoft.com/office/drawing/2014/main" id="{5356CF14-7FC6-4E5B-B5FD-9B3DD60171CB}"/>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a:t>管道是批处理的进化</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1834E2C5-7433-4661-815D-796B4286A59A}"/>
              </a:ext>
            </a:extLst>
          </p:cNvPr>
          <p:cNvSpPr>
            <a:spLocks noGrp="1" noRot="1" noChangeAspect="1" noChangeArrowheads="1" noTextEdit="1"/>
          </p:cNvSpPr>
          <p:nvPr>
            <p:ph type="sldImg" idx="4294967295"/>
          </p:nvPr>
        </p:nvSpPr>
        <p:spPr>
          <a:xfrm>
            <a:off x="1150938" y="692150"/>
            <a:ext cx="4556125" cy="3416300"/>
          </a:xfrm>
          <a:ln/>
        </p:spPr>
      </p:sp>
      <p:sp>
        <p:nvSpPr>
          <p:cNvPr id="36866" name="Rectangle 3">
            <a:extLst>
              <a:ext uri="{FF2B5EF4-FFF2-40B4-BE49-F238E27FC236}">
                <a16:creationId xmlns:a16="http://schemas.microsoft.com/office/drawing/2014/main" id="{CA1988A4-6E56-42DF-B39F-2836F098E597}"/>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en-US" altLang="zh-CN"/>
              <a:t>Robustness</a:t>
            </a:r>
            <a:r>
              <a:rPr lang="zh-CN" altLang="en-US"/>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0464182E-D39E-42F7-924A-9E2A23FD3FF8}"/>
              </a:ext>
            </a:extLst>
          </p:cNvPr>
          <p:cNvSpPr>
            <a:spLocks noGrp="1" noRot="1" noChangeAspect="1" noChangeArrowheads="1" noTextEdit="1"/>
          </p:cNvSpPr>
          <p:nvPr>
            <p:ph type="sldImg" idx="4294967295"/>
          </p:nvPr>
        </p:nvSpPr>
        <p:spPr>
          <a:xfrm>
            <a:off x="1150938" y="692150"/>
            <a:ext cx="4556125" cy="3416300"/>
          </a:xfrm>
          <a:ln/>
        </p:spPr>
      </p:sp>
      <p:sp>
        <p:nvSpPr>
          <p:cNvPr id="38914" name="Rectangle 3">
            <a:extLst>
              <a:ext uri="{FF2B5EF4-FFF2-40B4-BE49-F238E27FC236}">
                <a16:creationId xmlns:a16="http://schemas.microsoft.com/office/drawing/2014/main" id="{47ABA9B6-7982-42AD-8034-7E7613BD224A}"/>
              </a:ext>
            </a:extLst>
          </p:cNvPr>
          <p:cNvSpPr>
            <a:spLocks noGrp="1" noChangeArrowheads="1"/>
          </p:cNvSpPr>
          <p:nvPr>
            <p:ph type="body" idx="4294967295"/>
          </p:nvPr>
        </p:nvSpPr>
        <p:spPr>
          <a:ln/>
          <a:extLst>
            <a:ext uri="{91240B29-F687-4F45-9708-019B960494DF}">
              <a14:hiddenLine xmlns:a14="http://schemas.microsoft.com/office/drawing/2010/main" w="12700">
                <a:solidFill>
                  <a:srgbClr val="000000"/>
                </a:solidFill>
                <a:miter lim="800000"/>
                <a:headEnd/>
                <a:tailEnd/>
              </a14:hiddenLine>
            </a:ext>
          </a:extLst>
        </p:spPr>
        <p:txBody>
          <a:bodyPr>
            <a:prstTxWarp prst="textNoShape">
              <a:avLst/>
            </a:prstTxWarp>
          </a:bodyPr>
          <a:lstStyle/>
          <a:p>
            <a:r>
              <a:rPr lang="zh-CN" altLang="en-US"/>
              <a:t>管道是批处理的进化</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p>
        </p:txBody>
      </p:sp>
      <p:sp>
        <p:nvSpPr>
          <p:cNvPr id="4" name="日期占位符 3"/>
          <p:cNvSpPr>
            <a:spLocks noGrp="1"/>
          </p:cNvSpPr>
          <p:nvPr>
            <p:ph type="dt" sz="half" idx="10"/>
          </p:nvPr>
        </p:nvSpPr>
        <p:spPr/>
        <p:txBody>
          <a:bodyPr/>
          <a:lstStyle>
            <a:lvl1pPr>
              <a:defRPr/>
            </a:lvl1pPr>
          </a:lstStyle>
          <a:p>
            <a:pPr>
              <a:defRPr/>
            </a:pPr>
            <a:fld id="{1AB0335E-C650-462D-AB5B-3068683DED07}" type="datetime1">
              <a:rPr lang="zh-CN" altLang="en-US" smtClean="0"/>
              <a:pPr>
                <a:defRPr/>
              </a:pPr>
              <a:t>2021/5/13</a:t>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0D391079-A94E-4E27-9ED7-3E80B3C70FA4}" type="slidenum">
              <a:rPr lang="en-US" altLang="zh-CN" smtClean="0"/>
              <a:pPr>
                <a:defRPr/>
              </a:pPr>
              <a:t>‹#›</a:t>
            </a:fld>
            <a:endParaRPr lang="en-US" altLang="zh-CN"/>
          </a:p>
        </p:txBody>
      </p:sp>
    </p:spTree>
    <p:extLst>
      <p:ext uri="{BB962C8B-B14F-4D97-AF65-F5344CB8AC3E}">
        <p14:creationId xmlns:p14="http://schemas.microsoft.com/office/powerpoint/2010/main" val="1306678945"/>
      </p:ext>
    </p:extLst>
  </p:cSld>
  <p:clrMapOvr>
    <a:masterClrMapping/>
  </p:clrMapOvr>
  <p:transition>
    <p:wipe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66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10"/>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1" name="Picture 19" descr="C:\Users\Administrator\Desktop\2校徽、中英文字体及标准色的组合.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75" y="247650"/>
            <a:ext cx="19272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01650" y="0"/>
            <a:ext cx="7886700" cy="1325563"/>
          </a:xfrm>
        </p:spPr>
        <p:txBody>
          <a:bodyPr/>
          <a:lstStyle/>
          <a:p>
            <a:r>
              <a:rPr lang="zh-CN" altLang="en-US" noProof="1"/>
              <a:t>单击此处编辑母版标题样式</a:t>
            </a:r>
          </a:p>
        </p:txBody>
      </p:sp>
      <p:sp>
        <p:nvSpPr>
          <p:cNvPr id="3" name="内容占位符 2"/>
          <p:cNvSpPr>
            <a:spLocks noGrp="1"/>
          </p:cNvSpPr>
          <p:nvPr>
            <p:ph idx="1" hasCustomPrompt="1"/>
          </p:nvPr>
        </p:nvSpPr>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3" name="灯片编号占位符 5"/>
          <p:cNvSpPr>
            <a:spLocks noGrp="1"/>
          </p:cNvSpPr>
          <p:nvPr>
            <p:ph type="sldNum" sz="quarter" idx="11"/>
          </p:nvPr>
        </p:nvSpPr>
        <p:spPr/>
        <p:txBody>
          <a:bodyPr/>
          <a:lstStyle>
            <a:lvl1pPr>
              <a:defRPr/>
            </a:lvl1pPr>
          </a:lstStyle>
          <a:p>
            <a:pPr>
              <a:defRPr/>
            </a:pPr>
            <a:fld id="{CBCE89AB-7F0E-484C-B48A-92E0E2A53382}" type="slidenum">
              <a:rPr lang="en-US" altLang="zh-CN" smtClean="0"/>
              <a:pPr>
                <a:defRPr/>
              </a:pPr>
              <a:t>‹#›</a:t>
            </a:fld>
            <a:endParaRPr lang="en-US" altLang="zh-CN"/>
          </a:p>
        </p:txBody>
      </p:sp>
    </p:spTree>
    <p:extLst>
      <p:ext uri="{BB962C8B-B14F-4D97-AF65-F5344CB8AC3E}">
        <p14:creationId xmlns:p14="http://schemas.microsoft.com/office/powerpoint/2010/main" val="312133367"/>
      </p:ext>
    </p:extLst>
  </p:cSld>
  <p:clrMapOvr>
    <a:masterClrMapping/>
  </p:clrMapOvr>
  <p:transition>
    <p:wipe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编辑母版文本样式</a:t>
            </a:r>
          </a:p>
        </p:txBody>
      </p:sp>
      <p:sp>
        <p:nvSpPr>
          <p:cNvPr id="4" name="日期占位符 3"/>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5" name="灯片编号占位符 5"/>
          <p:cNvSpPr>
            <a:spLocks noGrp="1"/>
          </p:cNvSpPr>
          <p:nvPr>
            <p:ph type="sldNum" sz="quarter" idx="11"/>
          </p:nvPr>
        </p:nvSpPr>
        <p:spPr/>
        <p:txBody>
          <a:bodyPr/>
          <a:lstStyle>
            <a:lvl1pPr>
              <a:defRPr/>
            </a:lvl1pPr>
          </a:lstStyle>
          <a:p>
            <a:pPr>
              <a:defRPr/>
            </a:pPr>
            <a:fld id="{02F6136B-B5D4-4503-A071-EE006085D895}" type="slidenum">
              <a:rPr lang="en-US" altLang="zh-CN" smtClean="0"/>
              <a:pPr>
                <a:defRPr/>
              </a:pPr>
              <a:t>‹#›</a:t>
            </a:fld>
            <a:endParaRPr lang="en-US" altLang="zh-CN"/>
          </a:p>
        </p:txBody>
      </p:sp>
    </p:spTree>
    <p:extLst>
      <p:ext uri="{BB962C8B-B14F-4D97-AF65-F5344CB8AC3E}">
        <p14:creationId xmlns:p14="http://schemas.microsoft.com/office/powerpoint/2010/main" val="3497195533"/>
      </p:ext>
    </p:extLst>
  </p:cSld>
  <p:clrMapOvr>
    <a:masterClrMapping/>
  </p:clrMapOvr>
  <p:transition>
    <p:wipe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hasCustomPrompt="1"/>
          </p:nvPr>
        </p:nvSpPr>
        <p:spPr>
          <a:xfrm>
            <a:off x="628650" y="1825625"/>
            <a:ext cx="3886200" cy="435133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hasCustomPrompt="1"/>
          </p:nvPr>
        </p:nvSpPr>
        <p:spPr>
          <a:xfrm>
            <a:off x="4629150" y="1825625"/>
            <a:ext cx="3886200" cy="435133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9" name="日期占位符 4"/>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A062C0A8-AA44-49E4-8AB8-D984CB5A6AE2}" type="slidenum">
              <a:rPr lang="en-US" altLang="zh-CN" smtClean="0"/>
              <a:pPr>
                <a:defRPr/>
              </a:pPr>
              <a:t>‹#›</a:t>
            </a:fld>
            <a:endParaRPr lang="en-US" altLang="zh-CN"/>
          </a:p>
        </p:txBody>
      </p:sp>
    </p:spTree>
    <p:extLst>
      <p:ext uri="{BB962C8B-B14F-4D97-AF65-F5344CB8AC3E}">
        <p14:creationId xmlns:p14="http://schemas.microsoft.com/office/powerpoint/2010/main" val="3642976697"/>
      </p:ext>
    </p:extLst>
  </p:cSld>
  <p:clrMapOvr>
    <a:masterClrMapping/>
  </p:clrMapOvr>
  <p:transition>
    <p:wipe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pic>
        <p:nvPicPr>
          <p:cNvPr id="7"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10"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365125"/>
            <a:ext cx="7886700" cy="1325563"/>
          </a:xfrm>
        </p:spPr>
        <p:txBody>
          <a:bodyPr/>
          <a:lstStyle/>
          <a:p>
            <a:r>
              <a:rPr lang="zh-CN" altLang="en-US" noProof="1"/>
              <a:t>单击此处编辑母版标题样式</a:t>
            </a:r>
          </a:p>
        </p:txBody>
      </p:sp>
      <p:sp>
        <p:nvSpPr>
          <p:cNvPr id="3" name="文本占位符 2"/>
          <p:cNvSpPr>
            <a:spLocks noGrp="1"/>
          </p:cNvSpPr>
          <p:nvPr>
            <p:ph type="body" idx="1" hasCustomPrompt="1"/>
          </p:nvPr>
        </p:nvSpPr>
        <p:spPr>
          <a:xfrm>
            <a:off x="890081" y="1778438"/>
            <a:ext cx="3655181"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p>
        </p:txBody>
      </p:sp>
      <p:sp>
        <p:nvSpPr>
          <p:cNvPr id="4" name="内容占位符 3"/>
          <p:cNvSpPr>
            <a:spLocks noGrp="1"/>
          </p:cNvSpPr>
          <p:nvPr>
            <p:ph sz="half" idx="2" hasCustomPrompt="1"/>
          </p:nvPr>
        </p:nvSpPr>
        <p:spPr>
          <a:xfrm>
            <a:off x="890081" y="2665379"/>
            <a:ext cx="3655181" cy="3524284"/>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hasCustomPrompt="1"/>
          </p:nvPr>
        </p:nvSpPr>
        <p:spPr>
          <a:xfrm>
            <a:off x="4692704" y="1778438"/>
            <a:ext cx="3673182" cy="823912"/>
          </a:xfrm>
        </p:spPr>
        <p:txBody>
          <a:bodyPr anchor="ct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noProof="1"/>
              <a:t>编辑母版文本样式</a:t>
            </a:r>
          </a:p>
        </p:txBody>
      </p:sp>
      <p:sp>
        <p:nvSpPr>
          <p:cNvPr id="6" name="内容占位符 5"/>
          <p:cNvSpPr>
            <a:spLocks noGrp="1"/>
          </p:cNvSpPr>
          <p:nvPr>
            <p:ph sz="quarter" idx="4" hasCustomPrompt="1"/>
          </p:nvPr>
        </p:nvSpPr>
        <p:spPr>
          <a:xfrm>
            <a:off x="4692704" y="2665379"/>
            <a:ext cx="3673182" cy="3524284"/>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11" name="日期占位符 6"/>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12" name="页脚占位符 7"/>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3" name="灯片编号占位符 8"/>
          <p:cNvSpPr>
            <a:spLocks noGrp="1"/>
          </p:cNvSpPr>
          <p:nvPr>
            <p:ph type="sldNum" sz="quarter" idx="12"/>
          </p:nvPr>
        </p:nvSpPr>
        <p:spPr/>
        <p:txBody>
          <a:bodyPr/>
          <a:lstStyle>
            <a:lvl1pPr>
              <a:defRPr/>
            </a:lvl1pPr>
          </a:lstStyle>
          <a:p>
            <a:pPr>
              <a:defRPr/>
            </a:pPr>
            <a:fld id="{4E18E368-1E2A-4751-8B20-A46686D66FBA}" type="slidenum">
              <a:rPr lang="en-US" altLang="zh-CN" smtClean="0"/>
              <a:pPr>
                <a:defRPr/>
              </a:pPr>
              <a:t>‹#›</a:t>
            </a:fld>
            <a:endParaRPr lang="en-US" altLang="zh-CN"/>
          </a:p>
        </p:txBody>
      </p:sp>
    </p:spTree>
    <p:extLst>
      <p:ext uri="{BB962C8B-B14F-4D97-AF65-F5344CB8AC3E}">
        <p14:creationId xmlns:p14="http://schemas.microsoft.com/office/powerpoint/2010/main" val="1017807085"/>
      </p:ext>
    </p:extLst>
  </p:cSld>
  <p:clrMapOvr>
    <a:masterClrMapping/>
  </p:clrMapOvr>
  <p:transition>
    <p:wipe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4" name="灯片编号占位符 5"/>
          <p:cNvSpPr>
            <a:spLocks noGrp="1"/>
          </p:cNvSpPr>
          <p:nvPr>
            <p:ph type="sldNum" sz="quarter" idx="11"/>
          </p:nvPr>
        </p:nvSpPr>
        <p:spPr/>
        <p:txBody>
          <a:bodyPr/>
          <a:lstStyle>
            <a:lvl1pPr>
              <a:defRPr/>
            </a:lvl1pPr>
          </a:lstStyle>
          <a:p>
            <a:pPr>
              <a:defRPr/>
            </a:pPr>
            <a:fld id="{3B631CFE-3331-4B45-9C51-8989FB96F144}" type="slidenum">
              <a:rPr lang="en-US" altLang="zh-CN" smtClean="0"/>
              <a:pPr>
                <a:defRPr/>
              </a:pPr>
              <a:t>‹#›</a:t>
            </a:fld>
            <a:endParaRPr lang="en-US" altLang="zh-CN"/>
          </a:p>
        </p:txBody>
      </p:sp>
    </p:spTree>
    <p:extLst>
      <p:ext uri="{BB962C8B-B14F-4D97-AF65-F5344CB8AC3E}">
        <p14:creationId xmlns:p14="http://schemas.microsoft.com/office/powerpoint/2010/main" val="1094602944"/>
      </p:ext>
    </p:extLst>
  </p:cSld>
  <p:clrMapOvr>
    <a:masterClrMapping/>
  </p:clrMapOvr>
  <p:transition>
    <p:wipe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5"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日期占位符 1"/>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7" name="页脚占位符 2"/>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8" name="灯片编号占位符 3"/>
          <p:cNvSpPr>
            <a:spLocks noGrp="1"/>
          </p:cNvSpPr>
          <p:nvPr>
            <p:ph type="sldNum" sz="quarter" idx="12"/>
          </p:nvPr>
        </p:nvSpPr>
        <p:spPr/>
        <p:txBody>
          <a:bodyPr/>
          <a:lstStyle>
            <a:lvl1pPr>
              <a:defRPr/>
            </a:lvl1pPr>
          </a:lstStyle>
          <a:p>
            <a:pPr>
              <a:defRPr/>
            </a:pPr>
            <a:fld id="{DEEC59A2-5888-4E13-8830-345CCC4C1282}" type="slidenum">
              <a:rPr lang="en-US" altLang="zh-CN" smtClean="0"/>
              <a:pPr>
                <a:defRPr/>
              </a:pPr>
              <a:t>‹#›</a:t>
            </a:fld>
            <a:endParaRPr lang="en-US" altLang="zh-CN"/>
          </a:p>
        </p:txBody>
      </p:sp>
    </p:spTree>
    <p:extLst>
      <p:ext uri="{BB962C8B-B14F-4D97-AF65-F5344CB8AC3E}">
        <p14:creationId xmlns:p14="http://schemas.microsoft.com/office/powerpoint/2010/main" val="4279901411"/>
      </p:ext>
    </p:extLst>
  </p:cSld>
  <p:clrMapOvr>
    <a:masterClrMapping/>
  </p:clrMapOvr>
  <p:transition>
    <p:wipe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pic>
        <p:nvPicPr>
          <p:cNvPr id="5"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8"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629841" y="457200"/>
            <a:ext cx="3124012" cy="1600200"/>
          </a:xfr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391" y="457201"/>
            <a:ext cx="4629150" cy="540385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629841" y="2057400"/>
            <a:ext cx="3124012"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编辑母版文本样式</a:t>
            </a:r>
          </a:p>
        </p:txBody>
      </p:sp>
      <p:sp>
        <p:nvSpPr>
          <p:cNvPr id="9" name="日期占位符 4"/>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10" name="页脚占位符 5"/>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1" name="灯片编号占位符 6"/>
          <p:cNvSpPr>
            <a:spLocks noGrp="1"/>
          </p:cNvSpPr>
          <p:nvPr>
            <p:ph type="sldNum" sz="quarter" idx="12"/>
          </p:nvPr>
        </p:nvSpPr>
        <p:spPr/>
        <p:txBody>
          <a:bodyPr/>
          <a:lstStyle>
            <a:lvl1pPr>
              <a:defRPr/>
            </a:lvl1pPr>
          </a:lstStyle>
          <a:p>
            <a:pPr>
              <a:defRPr/>
            </a:pPr>
            <a:fld id="{660ACE65-B4A2-48B2-A7AA-0667520B1EA5}" type="slidenum">
              <a:rPr lang="en-US" altLang="zh-CN" smtClean="0"/>
              <a:pPr>
                <a:defRPr/>
              </a:pPr>
              <a:t>‹#›</a:t>
            </a:fld>
            <a:endParaRPr lang="en-US" altLang="zh-CN"/>
          </a:p>
        </p:txBody>
      </p:sp>
    </p:spTree>
    <p:extLst>
      <p:ext uri="{BB962C8B-B14F-4D97-AF65-F5344CB8AC3E}">
        <p14:creationId xmlns:p14="http://schemas.microsoft.com/office/powerpoint/2010/main" val="2168036074"/>
      </p:ext>
    </p:extLst>
  </p:cSld>
  <p:clrMapOvr>
    <a:masterClrMapping/>
  </p:clrMapOvr>
  <p:transition>
    <p:wipe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vertTitleAndTx" preserve="1">
  <p:cSld name="竖版">
    <p:spTree>
      <p:nvGrpSpPr>
        <p:cNvPr id="1" name=""/>
        <p:cNvGrpSpPr/>
        <p:nvPr/>
      </p:nvGrpSpPr>
      <p:grpSpPr>
        <a:xfrm>
          <a:off x="0" y="0"/>
          <a:ext cx="0" cy="0"/>
          <a:chOff x="0" y="0"/>
          <a:chExt cx="0" cy="0"/>
        </a:xfrm>
      </p:grpSpPr>
      <p:pic>
        <p:nvPicPr>
          <p:cNvPr id="4"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7"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6543675" y="365125"/>
            <a:ext cx="1971675" cy="5811838"/>
          </a:xfrm>
        </p:spPr>
        <p:txBody>
          <a:bodyPr vert="eaVert"/>
          <a:lstStyle/>
          <a:p>
            <a:r>
              <a:rPr lang="zh-CN" altLang="en-US" noProof="1"/>
              <a:t>单击此处编辑母版标题样式</a:t>
            </a:r>
          </a:p>
        </p:txBody>
      </p:sp>
      <p:sp>
        <p:nvSpPr>
          <p:cNvPr id="3" name="竖排文字占位符 2"/>
          <p:cNvSpPr>
            <a:spLocks noGrp="1"/>
          </p:cNvSpPr>
          <p:nvPr>
            <p:ph type="body" orient="vert" idx="1" hasCustomPrompt="1"/>
          </p:nvPr>
        </p:nvSpPr>
        <p:spPr>
          <a:xfrm>
            <a:off x="628650" y="365125"/>
            <a:ext cx="5800725" cy="5811838"/>
          </a:xfrm>
        </p:spPr>
        <p:txBody>
          <a:bodyPr vert="eaVert"/>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3"/>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9" name="页脚占位符 4"/>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a:p>
        </p:txBody>
      </p:sp>
      <p:sp>
        <p:nvSpPr>
          <p:cNvPr id="10" name="灯片编号占位符 5"/>
          <p:cNvSpPr>
            <a:spLocks noGrp="1"/>
          </p:cNvSpPr>
          <p:nvPr>
            <p:ph type="sldNum" sz="quarter" idx="12"/>
          </p:nvPr>
        </p:nvSpPr>
        <p:spPr/>
        <p:txBody>
          <a:bodyPr/>
          <a:lstStyle>
            <a:lvl1pPr>
              <a:defRPr/>
            </a:lvl1pPr>
          </a:lstStyle>
          <a:p>
            <a:pPr>
              <a:defRPr/>
            </a:pPr>
            <a:fld id="{13DCBE4D-B2CD-4B81-8E39-B1C923FC04B7}" type="slidenum">
              <a:rPr lang="en-US" altLang="zh-CN" smtClean="0"/>
              <a:pPr>
                <a:defRPr/>
              </a:pPr>
              <a:t>‹#›</a:t>
            </a:fld>
            <a:endParaRPr lang="en-US" altLang="zh-CN"/>
          </a:p>
        </p:txBody>
      </p:sp>
    </p:spTree>
    <p:extLst>
      <p:ext uri="{BB962C8B-B14F-4D97-AF65-F5344CB8AC3E}">
        <p14:creationId xmlns:p14="http://schemas.microsoft.com/office/powerpoint/2010/main" val="4206607809"/>
      </p:ext>
    </p:extLst>
  </p:cSld>
  <p:clrMapOvr>
    <a:masterClrMapping/>
  </p:clrMapOvr>
  <p:transition>
    <p:wipe dir="u"/>
  </p:transition>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pic>
        <p:nvPicPr>
          <p:cNvPr id="3" name="Picture 2" descr="未标题-2 - 副本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直接连接符 4"/>
          <p:cNvSpPr>
            <a:spLocks noChangeShapeType="1"/>
          </p:cNvSpPr>
          <p:nvPr/>
        </p:nv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 name="直接连接符 14"/>
          <p:cNvSpPr>
            <a:spLocks noChangeShapeType="1"/>
          </p:cNvSpPr>
          <p:nvPr/>
        </p:nv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pic>
        <p:nvPicPr>
          <p:cNvPr id="6" name="Picture 19" descr="C:\Users\Administrator\Desktop\2校徽、中英文字体及标准色的组合.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内容占位符 1"/>
          <p:cNvSpPr>
            <a:spLocks noGrp="1"/>
          </p:cNvSpPr>
          <p:nvPr>
            <p:ph hasCustomPrompt="1"/>
          </p:nvPr>
        </p:nvSpPr>
        <p:spPr>
          <a:xfrm>
            <a:off x="628650" y="365125"/>
            <a:ext cx="7886700" cy="5811838"/>
          </a:xfrm>
        </p:spPr>
        <p:txBody>
          <a:bodyPr/>
          <a:lstStyle/>
          <a:p>
            <a:pPr lvl="0"/>
            <a:r>
              <a:rPr lang="zh-CN" altLang="en-US" noProof="1"/>
              <a:t>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2"/>
          <p:cNvSpPr>
            <a:spLocks noGrp="1"/>
          </p:cNvSpPr>
          <p:nvPr>
            <p:ph type="dt" sz="half" idx="10"/>
          </p:nvPr>
        </p:nvSpPr>
        <p:spPr/>
        <p:txBody>
          <a:bodyPr/>
          <a:lstStyle>
            <a:lvl1pPr>
              <a:defRPr/>
            </a:lvl1pPr>
          </a:lstStyle>
          <a:p>
            <a:pPr>
              <a:defRPr/>
            </a:pPr>
            <a:fld id="{6E33BF36-EEC8-48CD-B350-D04265E6B01F}" type="datetime1">
              <a:rPr lang="zh-CN" altLang="en-US" smtClean="0"/>
              <a:pPr>
                <a:defRPr/>
              </a:pPr>
              <a:t>2021/5/13</a:t>
            </a:fld>
            <a:endParaRPr lang="en-US" altLang="zh-CN"/>
          </a:p>
        </p:txBody>
      </p:sp>
      <p:sp>
        <p:nvSpPr>
          <p:cNvPr id="8" name="页脚占位符 3"/>
          <p:cNvSpPr>
            <a:spLocks noGrp="1"/>
          </p:cNvSpPr>
          <p:nvPr>
            <p:ph type="ftr" sz="quarter" idx="11"/>
          </p:nvPr>
        </p:nvSpPr>
        <p:spPr>
          <a:xfrm>
            <a:off x="3028950" y="6356350"/>
            <a:ext cx="3086100" cy="365125"/>
          </a:xfrm>
          <a:prstGeom prst="rect">
            <a:avLst/>
          </a:prstGeom>
        </p:spPr>
        <p:txBody>
          <a:bodyPr/>
          <a:lstStyle>
            <a:lvl1pPr eaLnBrk="1" hangingPunct="1">
              <a:buFontTx/>
              <a:buNone/>
              <a:defRPr/>
            </a:lvl1pPr>
          </a:lstStyle>
          <a:p>
            <a:pPr>
              <a:defRPr/>
            </a:pPr>
            <a:endParaRPr lang="zh-CN" altLang="en-US" dirty="0"/>
          </a:p>
        </p:txBody>
      </p:sp>
      <p:sp>
        <p:nvSpPr>
          <p:cNvPr id="9" name="灯片编号占位符 4"/>
          <p:cNvSpPr>
            <a:spLocks noGrp="1"/>
          </p:cNvSpPr>
          <p:nvPr>
            <p:ph type="sldNum" sz="quarter" idx="12"/>
          </p:nvPr>
        </p:nvSpPr>
        <p:spPr/>
        <p:txBody>
          <a:bodyPr/>
          <a:lstStyle>
            <a:lvl1pPr>
              <a:defRPr/>
            </a:lvl1pPr>
          </a:lstStyle>
          <a:p>
            <a:pPr>
              <a:defRPr/>
            </a:pPr>
            <a:fld id="{13DCBE4D-B2CD-4B81-8E39-B1C923FC04B7}" type="slidenum">
              <a:rPr lang="en-US" altLang="zh-CN" smtClean="0"/>
              <a:pPr>
                <a:defRPr/>
              </a:pPr>
              <a:t>‹#›</a:t>
            </a:fld>
            <a:endParaRPr lang="en-US" altLang="zh-CN"/>
          </a:p>
        </p:txBody>
      </p:sp>
    </p:spTree>
    <p:extLst>
      <p:ext uri="{BB962C8B-B14F-4D97-AF65-F5344CB8AC3E}">
        <p14:creationId xmlns:p14="http://schemas.microsoft.com/office/powerpoint/2010/main" val="2393154355"/>
      </p:ext>
    </p:extLst>
  </p:cSld>
  <p:clrMapOvr>
    <a:masterClrMapping/>
  </p:clrMapOvr>
  <p:transition>
    <p:wipe dir="u"/>
  </p:transition>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bg>
      <p:bgPr>
        <a:gradFill rotWithShape="1">
          <a:gsLst>
            <a:gs pos="0">
              <a:srgbClr val="000000">
                <a:alpha val="100000"/>
              </a:srgbClr>
            </a:gs>
            <a:gs pos="100000">
              <a:srgbClr val="000066">
                <a:alpha val="100000"/>
              </a:srgbClr>
            </a:gs>
            <a:gs pos="100000">
              <a:srgbClr val="0A128C">
                <a:alpha val="100000"/>
              </a:srgbClr>
            </a:gs>
            <a:gs pos="100000">
              <a:srgbClr val="181CC7">
                <a:alpha val="100000"/>
              </a:srgbClr>
            </a:gs>
            <a:gs pos="100000">
              <a:srgbClr val="7005D4">
                <a:alpha val="100000"/>
              </a:srgbClr>
            </a:gs>
            <a:gs pos="100000">
              <a:srgbClr val="8C3D91">
                <a:alpha val="100000"/>
              </a:srgbClr>
            </a:gs>
          </a:gsLst>
          <a:lin ang="16200000"/>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Rectangle 4"/>
          <p:cNvSpPr>
            <a:spLocks noGrp="1" noChangeArrowheads="1"/>
          </p:cNvSpPr>
          <p:nvPr>
            <p:ph type="dt" sz="half" idx="12"/>
          </p:nvPr>
        </p:nvSpPr>
        <p:spPr bwMode="auto">
          <a:xfrm>
            <a:off x="457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a:defRPr/>
            </a:pPr>
            <a:fld id="{6E33BF36-EEC8-48CD-B350-D04265E6B01F}" type="datetime1">
              <a:rPr lang="zh-CN" altLang="en-US" smtClean="0"/>
              <a:pPr>
                <a:defRPr/>
              </a:pPr>
              <a:t>2021/5/13</a:t>
            </a:fld>
            <a:endParaRPr lang="en-US" altLang="zh-CN"/>
          </a:p>
        </p:txBody>
      </p:sp>
      <p:sp>
        <p:nvSpPr>
          <p:cNvPr id="10" name="Rectangle 5"/>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1" i="0" u="none" strike="noStrike" kern="1200" cap="none" spc="0" normalizeH="0" baseline="0" noProof="0">
              <a:ln>
                <a:noFill/>
              </a:ln>
              <a:solidFill>
                <a:srgbClr val="0000FF"/>
              </a:solidFill>
              <a:effectLst/>
              <a:uLnTx/>
              <a:uFillTx/>
              <a:latin typeface="+mj-lt"/>
              <a:ea typeface="宋体" panose="02010600030101010101" pitchFamily="2" charset="-122"/>
              <a:cs typeface="+mn-cs"/>
            </a:endParaRPr>
          </a:p>
        </p:txBody>
      </p:sp>
      <p:sp>
        <p:nvSpPr>
          <p:cNvPr id="11" name="Rectangle 6"/>
          <p:cNvSpPr>
            <a:spLocks noGrp="1" noChangeArrowheads="1"/>
          </p:cNvSpPr>
          <p:nvPr>
            <p:ph type="sldNum" sz="quarter" idx="4"/>
          </p:nvPr>
        </p:nvSpPr>
        <p:spPr bwMode="auto">
          <a:xfrm>
            <a:off x="6553200" y="6243638"/>
            <a:ext cx="2133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a:defRPr/>
            </a:pPr>
            <a:fld id="{13DCBE4D-B2CD-4B81-8E39-B1C923FC04B7}" type="slidenum">
              <a:rPr lang="en-US" altLang="zh-CN" smtClean="0"/>
              <a:pPr>
                <a:defRPr/>
              </a:pPr>
              <a:t>‹#›</a:t>
            </a:fld>
            <a:endParaRPr lang="en-US" altLang="zh-CN"/>
          </a:p>
        </p:txBody>
      </p:sp>
    </p:spTree>
    <p:extLst>
      <p:ext uri="{BB962C8B-B14F-4D97-AF65-F5344CB8AC3E}">
        <p14:creationId xmlns:p14="http://schemas.microsoft.com/office/powerpoint/2010/main" val="41518648"/>
      </p:ext>
    </p:extLst>
  </p:cSld>
  <p:clrMapOvr>
    <a:masterClrMapping/>
  </p:clrMapOvr>
  <p:transition>
    <p:wipe dir="u"/>
  </p:transition>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01650" y="119063"/>
            <a:ext cx="62579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a:t>
            </a:r>
          </a:p>
        </p:txBody>
      </p:sp>
      <p:sp>
        <p:nvSpPr>
          <p:cNvPr id="1027" name="文本占位符 2"/>
          <p:cNvSpPr>
            <a:spLocks noGrp="1" noChangeArrowheads="1"/>
          </p:cNvSpPr>
          <p:nvPr>
            <p:ph type="body" idx="9"/>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buFontTx/>
              <a:buNone/>
              <a:defRPr sz="1200">
                <a:solidFill>
                  <a:schemeClr val="tx1">
                    <a:tint val="75000"/>
                  </a:schemeClr>
                </a:solidFill>
              </a:defRPr>
            </a:lvl1pPr>
          </a:lstStyle>
          <a:p>
            <a:pPr>
              <a:defRPr/>
            </a:pPr>
            <a:fld id="{6E33BF36-EEC8-48CD-B350-D04265E6B01F}" type="datetime1">
              <a:rPr lang="zh-CN" altLang="en-US" smtClean="0"/>
              <a:pPr>
                <a:defRPr/>
              </a:pPr>
              <a:t>2021/5/13</a:t>
            </a:fld>
            <a:endParaRPr lang="en-US" altLang="zh-CN"/>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buFontTx/>
              <a:buNone/>
              <a:defRPr sz="1200">
                <a:solidFill>
                  <a:schemeClr val="tx1">
                    <a:tint val="75000"/>
                  </a:schemeClr>
                </a:solidFill>
              </a:defRPr>
            </a:lvl1pPr>
          </a:lstStyle>
          <a:p>
            <a:pPr>
              <a:defRPr/>
            </a:pPr>
            <a:fld id="{13DCBE4D-B2CD-4B81-8E39-B1C923FC04B7}" type="slidenum">
              <a:rPr lang="en-US" altLang="zh-CN" smtClean="0"/>
              <a:pPr>
                <a:defRPr/>
              </a:pPr>
              <a:t>‹#›</a:t>
            </a:fld>
            <a:endParaRPr lang="en-US" altLang="zh-CN"/>
          </a:p>
        </p:txBody>
      </p:sp>
      <p:pic>
        <p:nvPicPr>
          <p:cNvPr id="1030" name="Picture 2" descr="未标题-2 - 副本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13" y="7938"/>
            <a:ext cx="9166226"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1" name="直接连接符 4"/>
          <p:cNvCxnSpPr>
            <a:cxnSpLocks noChangeShapeType="1"/>
          </p:cNvCxnSpPr>
          <p:nvPr/>
        </p:nvCxnSpPr>
        <p:spPr bwMode="auto">
          <a:xfrm>
            <a:off x="501650" y="908050"/>
            <a:ext cx="8642350"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cxnSp>
        <p:nvCxnSpPr>
          <p:cNvPr id="1032" name="直接连接符 14"/>
          <p:cNvCxnSpPr>
            <a:cxnSpLocks noChangeShapeType="1"/>
          </p:cNvCxnSpPr>
          <p:nvPr/>
        </p:nvCxnSpPr>
        <p:spPr bwMode="auto">
          <a:xfrm>
            <a:off x="6307138" y="1066800"/>
            <a:ext cx="2836862" cy="0"/>
          </a:xfrm>
          <a:prstGeom prst="line">
            <a:avLst/>
          </a:prstGeom>
          <a:noFill/>
          <a:ln w="12700">
            <a:solidFill>
              <a:schemeClr val="bg1"/>
            </a:solidFill>
            <a:round/>
          </a:ln>
          <a:extLst>
            <a:ext uri="{909E8E84-426E-40DD-AFC4-6F175D3DCCD1}">
              <a14:hiddenFill xmlns:a14="http://schemas.microsoft.com/office/drawing/2010/main">
                <a:noFill/>
              </a14:hiddenFill>
            </a:ext>
          </a:extLst>
        </p:spPr>
      </p:cxnSp>
      <p:pic>
        <p:nvPicPr>
          <p:cNvPr id="1033" name="Picture 19" descr="C:\Users\Administrator\Desktop\2校徽、中英文字体及标准色的组合.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386513" y="188913"/>
            <a:ext cx="2600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693162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p:wipe dir="u"/>
  </p:transition>
  <p:hf sldNum="0" hdr="0" ftr="0"/>
  <p:txStyles>
    <p:titleStyle>
      <a:lvl1pPr algn="l" rtl="0" eaLnBrk="1" fontAlgn="base" hangingPunct="1">
        <a:lnSpc>
          <a:spcPct val="90000"/>
        </a:lnSpc>
        <a:spcBef>
          <a:spcPct val="0"/>
        </a:spcBef>
        <a:spcAft>
          <a:spcPct val="0"/>
        </a:spcAft>
        <a:defRPr sz="4400" kern="1200">
          <a:solidFill>
            <a:schemeClr val="bg1"/>
          </a:solidFill>
          <a:latin typeface="+mj-lt"/>
          <a:ea typeface="+mj-ea"/>
          <a:cs typeface="+mj-cs"/>
        </a:defRPr>
      </a:lvl1pPr>
      <a:lvl2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2pPr>
      <a:lvl3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3pPr>
      <a:lvl4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4pPr>
      <a:lvl5pPr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5pPr>
      <a:lvl6pPr marL="4572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6pPr>
      <a:lvl7pPr marL="9144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7pPr>
      <a:lvl8pPr marL="13716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8pPr>
      <a:lvl9pPr marL="1828800" algn="l" rtl="0" eaLnBrk="1" fontAlgn="base" hangingPunct="1">
        <a:lnSpc>
          <a:spcPct val="90000"/>
        </a:lnSpc>
        <a:spcBef>
          <a:spcPct val="0"/>
        </a:spcBef>
        <a:spcAft>
          <a:spcPct val="0"/>
        </a:spcAft>
        <a:defRPr sz="4400">
          <a:solidFill>
            <a:schemeClr val="bg1"/>
          </a:solidFill>
          <a:latin typeface="Calibri Light" panose="020F0302020204030204" pitchFamily="34" charset="0"/>
          <a:ea typeface="宋体"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7.wmf"/><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9.e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4.png"/><Relationship Id="rId5" Type="http://schemas.openxmlformats.org/officeDocument/2006/relationships/oleObject" Target="../embeddings/oleObject3.bin"/><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8.png"/><Relationship Id="rId5" Type="http://schemas.openxmlformats.org/officeDocument/2006/relationships/oleObject" Target="../embeddings/oleObject5.bin"/><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5.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4.2&#20179;&#24211;&#21644;&#40657;&#26495;.ppt" TargetMode="External"/><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3BE0617E-0DDE-4036-827E-69D62263D64F}"/>
              </a:ext>
            </a:extLst>
          </p:cNvPr>
          <p:cNvSpPr>
            <a:spLocks noGrp="1" noChangeArrowheads="1"/>
          </p:cNvSpPr>
          <p:nvPr>
            <p:ph type="ctrTitle"/>
          </p:nvPr>
        </p:nvSpPr>
        <p:spPr>
          <a:xfrm>
            <a:off x="1143000" y="983903"/>
            <a:ext cx="6858000" cy="2387600"/>
          </a:xfrm>
        </p:spPr>
        <p:txBody>
          <a:bodyPr lIns="90488" tIns="44450" rIns="90488" bIns="44450"/>
          <a:lstStyle/>
          <a:p>
            <a:pPr algn="ctr" eaLnBrk="1" hangingPunct="1"/>
            <a:r>
              <a:rPr lang="zh-CN" altLang="en-US" sz="5400" b="1" dirty="0">
                <a:solidFill>
                  <a:srgbClr val="000000"/>
                </a:solidFill>
                <a:latin typeface="黑体" panose="02010609060101010101" pitchFamily="49" charset="-122"/>
                <a:ea typeface="黑体" panose="02010609060101010101" pitchFamily="49" charset="-122"/>
              </a:rPr>
              <a:t>软件体系结构</a:t>
            </a:r>
            <a:br>
              <a:rPr lang="zh-CN" altLang="en-US" sz="5400" b="1" dirty="0">
                <a:solidFill>
                  <a:srgbClr val="000000"/>
                </a:solidFill>
                <a:latin typeface="黑体" panose="02010609060101010101" pitchFamily="49" charset="-122"/>
                <a:ea typeface="黑体" panose="02010609060101010101" pitchFamily="49" charset="-122"/>
              </a:rPr>
            </a:br>
            <a:endParaRPr lang="zh-CN" altLang="en-US" sz="5400" b="1" dirty="0">
              <a:solidFill>
                <a:srgbClr val="000000"/>
              </a:solidFill>
              <a:latin typeface="黑体" panose="02010609060101010101" pitchFamily="49" charset="-122"/>
              <a:ea typeface="黑体" panose="02010609060101010101" pitchFamily="49" charset="-122"/>
            </a:endParaRPr>
          </a:p>
        </p:txBody>
      </p:sp>
      <p:sp>
        <p:nvSpPr>
          <p:cNvPr id="4099" name="Rectangle 4">
            <a:extLst>
              <a:ext uri="{FF2B5EF4-FFF2-40B4-BE49-F238E27FC236}">
                <a16:creationId xmlns:a16="http://schemas.microsoft.com/office/drawing/2014/main" id="{7588A1A2-9F24-4A31-B8F1-54744D965E9D}"/>
              </a:ext>
            </a:extLst>
          </p:cNvPr>
          <p:cNvSpPr>
            <a:spLocks noGrp="1" noChangeArrowheads="1"/>
          </p:cNvSpPr>
          <p:nvPr>
            <p:ph type="subTitle" idx="1"/>
          </p:nvPr>
        </p:nvSpPr>
        <p:spPr/>
        <p:txBody>
          <a:bodyPr/>
          <a:lstStyle/>
          <a:p>
            <a:pPr eaLnBrk="1" hangingPunct="1"/>
            <a:r>
              <a:rPr lang="en-US" altLang="zh-CN" dirty="0"/>
              <a:t>  </a:t>
            </a:r>
            <a:endParaRPr lang="zh-CN" altLang="en-US" dirty="0"/>
          </a:p>
        </p:txBody>
      </p:sp>
      <p:sp>
        <p:nvSpPr>
          <p:cNvPr id="4" name="Rectangle 3">
            <a:extLst>
              <a:ext uri="{FF2B5EF4-FFF2-40B4-BE49-F238E27FC236}">
                <a16:creationId xmlns:a16="http://schemas.microsoft.com/office/drawing/2014/main" id="{76AC877D-A88A-424C-954B-D7E132CF5CD9}"/>
              </a:ext>
            </a:extLst>
          </p:cNvPr>
          <p:cNvSpPr txBox="1">
            <a:spLocks noChangeArrowheads="1"/>
          </p:cNvSpPr>
          <p:nvPr/>
        </p:nvSpPr>
        <p:spPr bwMode="auto">
          <a:xfrm>
            <a:off x="395536" y="3140968"/>
            <a:ext cx="85280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mn-lt"/>
                <a:ea typeface="+mn-ea"/>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mn-lt"/>
                <a:ea typeface="+mn-ea"/>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mn-lt"/>
                <a:ea typeface="+mn-ea"/>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4000" dirty="0">
                <a:ea typeface="黑体" panose="02010609060101010101" pitchFamily="49" charset="-122"/>
              </a:rPr>
              <a:t>第</a:t>
            </a:r>
            <a:r>
              <a:rPr lang="en-US" altLang="zh-CN" sz="4000" dirty="0">
                <a:ea typeface="黑体" panose="02010609060101010101" pitchFamily="49" charset="-122"/>
              </a:rPr>
              <a:t>4</a:t>
            </a:r>
            <a:r>
              <a:rPr lang="zh-CN" altLang="en-US" sz="4000" dirty="0">
                <a:ea typeface="黑体" panose="02010609060101010101" pitchFamily="49" charset="-122"/>
              </a:rPr>
              <a:t>章 数据流风格</a:t>
            </a:r>
            <a:endParaRPr lang="en-US" altLang="zh-CN" sz="4000" dirty="0">
              <a:ea typeface="黑体" panose="02010609060101010101" pitchFamily="49" charset="-122"/>
            </a:endParaRPr>
          </a:p>
          <a:p>
            <a:r>
              <a:rPr lang="en-US" altLang="zh-CN" sz="4000" dirty="0">
                <a:ea typeface="黑体" panose="02010609060101010101" pitchFamily="49" charset="-122"/>
              </a:rPr>
              <a:t>——</a:t>
            </a:r>
            <a:r>
              <a:rPr lang="zh-CN" altLang="en-US" sz="4000" dirty="0">
                <a:ea typeface="黑体" panose="02010609060101010101" pitchFamily="49" charset="-122"/>
              </a:rPr>
              <a:t>管道</a:t>
            </a:r>
            <a:r>
              <a:rPr lang="en-US" altLang="zh-CN" sz="4000" dirty="0">
                <a:ea typeface="黑体" panose="02010609060101010101" pitchFamily="49" charset="-122"/>
              </a:rPr>
              <a:t>-</a:t>
            </a:r>
            <a:r>
              <a:rPr lang="zh-CN" altLang="en-US" sz="4000" dirty="0">
                <a:ea typeface="黑体" panose="02010609060101010101" pitchFamily="49" charset="-122"/>
              </a:rPr>
              <a:t>过滤器</a:t>
            </a:r>
            <a:endParaRPr lang="en-US" altLang="zh-CN" sz="4000" dirty="0">
              <a:ea typeface="黑体" panose="02010609060101010101" pitchFamily="49" charset="-122"/>
            </a:endParaRPr>
          </a:p>
          <a:p>
            <a:endParaRPr lang="en-US" altLang="zh-CN" sz="4000" dirty="0">
              <a:ea typeface="黑体" panose="02010609060101010101" pitchFamily="49" charset="-122"/>
            </a:endParaRPr>
          </a:p>
          <a:p>
            <a:r>
              <a:rPr lang="zh-CN" altLang="en-US" sz="2800" dirty="0">
                <a:ea typeface="黑体" panose="02010609060101010101" pitchFamily="49" charset="-122"/>
              </a:rPr>
              <a:t>李晅松</a:t>
            </a:r>
            <a:endParaRPr lang="en-US" altLang="zh-CN" sz="2800" dirty="0">
              <a:ea typeface="黑体" panose="02010609060101010101" pitchFamily="49" charset="-122"/>
            </a:endParaRPr>
          </a:p>
          <a:p>
            <a:r>
              <a:rPr lang="zh-CN" altLang="en-US" sz="2800" dirty="0">
                <a:ea typeface="黑体" panose="02010609060101010101" pitchFamily="49" charset="-122"/>
              </a:rPr>
              <a:t>南京理工大学计算机科学与工程学院</a:t>
            </a:r>
            <a:endParaRPr lang="en-US" altLang="zh-CN" sz="2800" dirty="0">
              <a:ea typeface="黑体" panose="02010609060101010101" pitchFamily="49" charset="-122"/>
            </a:endParaRPr>
          </a:p>
          <a:p>
            <a:r>
              <a:rPr lang="en-US" altLang="zh-CN" sz="2800" dirty="0">
                <a:ea typeface="黑体" panose="02010609060101010101" pitchFamily="49" charset="-122"/>
              </a:rPr>
              <a:t>lixs@njust.edu.cn</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3"/>
          <p:cNvSpPr>
            <a:spLocks noGrp="1" noChangeArrowheads="1"/>
          </p:cNvSpPr>
          <p:nvPr>
            <p:ph idx="1"/>
          </p:nvPr>
        </p:nvSpPr>
        <p:spPr>
          <a:xfrm>
            <a:off x="928662" y="1285860"/>
            <a:ext cx="7358114" cy="4071966"/>
          </a:xfrm>
          <a:noFill/>
        </p:spPr>
        <p:txBody>
          <a:bodyPr>
            <a:noAutofit/>
          </a:bodyPr>
          <a:lstStyle/>
          <a:p>
            <a:r>
              <a:rPr lang="zh-CN" altLang="zh-CN" sz="2800" dirty="0">
                <a:latin typeface="+mn-ea"/>
              </a:rPr>
              <a:t>软件</a:t>
            </a:r>
            <a:r>
              <a:rPr lang="zh-CN" altLang="en-US" sz="2800" dirty="0">
                <a:latin typeface="+mn-ea"/>
              </a:rPr>
              <a:t>体系结构</a:t>
            </a:r>
            <a:r>
              <a:rPr lang="zh-CN" altLang="zh-CN" sz="2800" dirty="0">
                <a:latin typeface="+mn-ea"/>
              </a:rPr>
              <a:t>风格（</a:t>
            </a:r>
            <a:r>
              <a:rPr lang="en-US" altLang="zh-CN" sz="2800" dirty="0">
                <a:latin typeface="+mn-ea"/>
              </a:rPr>
              <a:t>software architecture style</a:t>
            </a:r>
            <a:r>
              <a:rPr lang="zh-CN" altLang="zh-CN" sz="2800" dirty="0">
                <a:latin typeface="+mn-ea"/>
              </a:rPr>
              <a:t>）</a:t>
            </a:r>
            <a:r>
              <a:rPr lang="en-US" altLang="zh-CN" sz="2800" dirty="0">
                <a:latin typeface="+mn-ea"/>
              </a:rPr>
              <a:t>,</a:t>
            </a:r>
            <a:r>
              <a:rPr lang="zh-CN" altLang="zh-CN" sz="2800" dirty="0">
                <a:latin typeface="+mn-ea"/>
              </a:rPr>
              <a:t>又称软件</a:t>
            </a:r>
            <a:r>
              <a:rPr lang="zh-CN" altLang="en-US" sz="2800" dirty="0">
                <a:latin typeface="+mn-ea"/>
              </a:rPr>
              <a:t>体系结构</a:t>
            </a:r>
            <a:r>
              <a:rPr lang="zh-CN" altLang="zh-CN" sz="2800" dirty="0">
                <a:latin typeface="+mn-ea"/>
              </a:rPr>
              <a:t>惯用模式（</a:t>
            </a:r>
            <a:r>
              <a:rPr lang="en-US" altLang="zh-CN" sz="2800" dirty="0">
                <a:latin typeface="+mn-ea"/>
              </a:rPr>
              <a:t>software architecture idiomatic paradigm</a:t>
            </a:r>
            <a:r>
              <a:rPr lang="zh-CN" altLang="zh-CN" sz="2800" dirty="0">
                <a:latin typeface="+mn-ea"/>
              </a:rPr>
              <a:t>），是描述某一特定应用领域中系统组织方式的惯用模式，作为</a:t>
            </a:r>
            <a:r>
              <a:rPr lang="en-US" altLang="zh-CN" sz="2800" dirty="0">
                <a:latin typeface="+mn-ea"/>
              </a:rPr>
              <a:t>“</a:t>
            </a:r>
            <a:r>
              <a:rPr lang="zh-CN" altLang="zh-CN" sz="2800" dirty="0">
                <a:latin typeface="+mn-ea"/>
              </a:rPr>
              <a:t>可复用的组织模式和习语</a:t>
            </a:r>
            <a:r>
              <a:rPr lang="en-US" altLang="zh-CN" sz="2800" dirty="0">
                <a:latin typeface="+mn-ea"/>
              </a:rPr>
              <a:t>”</a:t>
            </a:r>
            <a:r>
              <a:rPr lang="zh-CN" altLang="zh-CN" sz="2800" dirty="0">
                <a:latin typeface="+mn-ea"/>
              </a:rPr>
              <a:t>，为设计人员的交流提供了公共的术语空间，促进了设计复用与代码复用。</a:t>
            </a:r>
          </a:p>
          <a:p>
            <a:endParaRPr lang="en-US" altLang="zh-CN" sz="2200" dirty="0">
              <a:latin typeface="+mn-ea"/>
            </a:endParaRPr>
          </a:p>
        </p:txBody>
      </p:sp>
      <p:sp>
        <p:nvSpPr>
          <p:cNvPr id="7" name="灯片编号占位符 6"/>
          <p:cNvSpPr>
            <a:spLocks noGrp="1"/>
          </p:cNvSpPr>
          <p:nvPr>
            <p:ph type="sldNum" sz="quarter" idx="12"/>
          </p:nvPr>
        </p:nvSpPr>
        <p:spPr/>
        <p:txBody>
          <a:bodyPr/>
          <a:lstStyle/>
          <a:p>
            <a:endParaRPr lang="zh-CN" altLang="en-US" dirty="0"/>
          </a:p>
        </p:txBody>
      </p:sp>
      <p:sp>
        <p:nvSpPr>
          <p:cNvPr id="16390" name="Rectangle 4"/>
          <p:cNvSpPr>
            <a:spLocks noChangeArrowheads="1"/>
          </p:cNvSpPr>
          <p:nvPr/>
        </p:nvSpPr>
        <p:spPr bwMode="auto">
          <a:xfrm>
            <a:off x="611560" y="188640"/>
            <a:ext cx="7772400" cy="685800"/>
          </a:xfrm>
          <a:prstGeom prst="rect">
            <a:avLst/>
          </a:prstGeom>
          <a:noFill/>
          <a:ln w="9525">
            <a:noFill/>
            <a:miter lim="800000"/>
            <a:headEnd/>
            <a:tailEnd/>
          </a:ln>
        </p:spPr>
        <p:txBody>
          <a:bodyPr/>
          <a:lstStyle/>
          <a:p>
            <a:pPr>
              <a:spcBef>
                <a:spcPct val="0"/>
              </a:spcBef>
            </a:pPr>
            <a:r>
              <a:rPr lang="zh-CN" altLang="en-US" sz="4000" dirty="0">
                <a:solidFill>
                  <a:schemeClr val="bg1"/>
                </a:solidFill>
                <a:latin typeface="+mj-lt"/>
                <a:ea typeface="+mj-ea"/>
                <a:cs typeface="+mj-cs"/>
              </a:rPr>
              <a:t>软件体系结构风格的定义</a:t>
            </a:r>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AF87A06B-780B-4289-A549-84EFA895A05D}"/>
              </a:ext>
            </a:extLst>
          </p:cNvPr>
          <p:cNvSpPr>
            <a:spLocks noGrp="1" noChangeArrowheads="1"/>
          </p:cNvSpPr>
          <p:nvPr>
            <p:ph type="title"/>
          </p:nvPr>
        </p:nvSpPr>
        <p:spPr/>
        <p:txBody>
          <a:bodyPr/>
          <a:lstStyle/>
          <a:p>
            <a:r>
              <a:rPr lang="zh-CN" altLang="en-US" sz="4000" dirty="0"/>
              <a:t>体系结构风格</a:t>
            </a:r>
            <a:endParaRPr lang="en-US" altLang="zh-CN" sz="4000" dirty="0"/>
          </a:p>
        </p:txBody>
      </p:sp>
      <p:sp>
        <p:nvSpPr>
          <p:cNvPr id="6148" name="Rectangle 3">
            <a:extLst>
              <a:ext uri="{FF2B5EF4-FFF2-40B4-BE49-F238E27FC236}">
                <a16:creationId xmlns:a16="http://schemas.microsoft.com/office/drawing/2014/main" id="{962A931C-4830-41F4-806B-3E2969AE2818}"/>
              </a:ext>
            </a:extLst>
          </p:cNvPr>
          <p:cNvSpPr>
            <a:spLocks noGrp="1" noChangeArrowheads="1"/>
          </p:cNvSpPr>
          <p:nvPr>
            <p:ph idx="1"/>
          </p:nvPr>
        </p:nvSpPr>
        <p:spPr/>
        <p:txBody>
          <a:bodyPr/>
          <a:lstStyle/>
          <a:p>
            <a:pPr marL="0" indent="0" algn="ctr">
              <a:buFont typeface="Wingdings" panose="05000000000000000000" pitchFamily="2" charset="2"/>
              <a:buNone/>
            </a:pPr>
            <a:r>
              <a:rPr lang="en-US" altLang="zh-CN" i="1">
                <a:solidFill>
                  <a:srgbClr val="FF3399"/>
                </a:solidFill>
              </a:rPr>
              <a:t>Architectural styles help software engineers to reason about architectural qualities. </a:t>
            </a:r>
          </a:p>
          <a:p>
            <a:pPr marL="0" indent="0" algn="ctr">
              <a:buFont typeface="Wingdings" panose="05000000000000000000" pitchFamily="2" charset="2"/>
              <a:buNone/>
            </a:pPr>
            <a:endParaRPr lang="en-US" altLang="zh-CN" i="1">
              <a:solidFill>
                <a:srgbClr val="FF3399"/>
              </a:solidFill>
            </a:endParaRPr>
          </a:p>
          <a:p>
            <a:pPr marL="0" indent="0" algn="ctr">
              <a:buFont typeface="Wingdings" panose="05000000000000000000" pitchFamily="2" charset="2"/>
              <a:buNone/>
            </a:pPr>
            <a:r>
              <a:rPr lang="zh-CN" altLang="en-US" i="1">
                <a:solidFill>
                  <a:srgbClr val="FF3399"/>
                </a:solidFill>
              </a:rPr>
              <a:t>体系结构风格帮助软件工程师</a:t>
            </a:r>
          </a:p>
          <a:p>
            <a:pPr marL="0" indent="0" algn="ctr">
              <a:buFont typeface="Wingdings" panose="05000000000000000000" pitchFamily="2" charset="2"/>
              <a:buNone/>
            </a:pPr>
            <a:r>
              <a:rPr lang="zh-CN" altLang="en-US" i="1">
                <a:solidFill>
                  <a:srgbClr val="FF3399"/>
                </a:solidFill>
              </a:rPr>
              <a:t>推断软件体系结构的质量</a:t>
            </a:r>
            <a:endParaRPr lang="zh-CN" altLang="en-US"/>
          </a:p>
        </p:txBody>
      </p:sp>
      <p:sp>
        <p:nvSpPr>
          <p:cNvPr id="6145" name="灯片编号占位符 3">
            <a:extLst>
              <a:ext uri="{FF2B5EF4-FFF2-40B4-BE49-F238E27FC236}">
                <a16:creationId xmlns:a16="http://schemas.microsoft.com/office/drawing/2014/main" id="{38FBEB46-A3A9-4548-87C4-E220C14DCE1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20B6D2E-4B4A-46D8-AD30-8DA27E071C69}" type="slidenum">
              <a:rPr lang="en-US" altLang="zh-CN">
                <a:latin typeface="Arial Black" panose="020B0A04020102020204" pitchFamily="34" charset="0"/>
              </a:rPr>
              <a:pPr eaLnBrk="1" hangingPunct="1">
                <a:buFont typeface="Arial" panose="020B0604020202020204" pitchFamily="34" charset="0"/>
                <a:buNone/>
              </a:pPr>
              <a:t>3</a:t>
            </a:fld>
            <a:endParaRPr lang="en-US" altLang="zh-CN">
              <a:latin typeface="Arial Black" panose="020B0A04020102020204" pitchFamily="34" charset="0"/>
            </a:endParaRPr>
          </a:p>
        </p:txBody>
      </p:sp>
      <p:sp>
        <p:nvSpPr>
          <p:cNvPr id="6146" name="日期占位符 4">
            <a:extLst>
              <a:ext uri="{FF2B5EF4-FFF2-40B4-BE49-F238E27FC236}">
                <a16:creationId xmlns:a16="http://schemas.microsoft.com/office/drawing/2014/main" id="{D0CD4150-7F0A-46BB-AB82-BDB577588D02}"/>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68B0B40-77AE-4805-8388-8E173B362421}"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3DAAA560-2412-4700-B758-271218FFDBC1}"/>
              </a:ext>
            </a:extLst>
          </p:cNvPr>
          <p:cNvSpPr>
            <a:spLocks noGrp="1" noChangeArrowheads="1"/>
          </p:cNvSpPr>
          <p:nvPr>
            <p:ph type="title"/>
          </p:nvPr>
        </p:nvSpPr>
        <p:spPr/>
        <p:txBody>
          <a:bodyPr/>
          <a:lstStyle/>
          <a:p>
            <a:r>
              <a:rPr lang="zh-CN" altLang="en-US" sz="4000" dirty="0"/>
              <a:t>体系结构风格</a:t>
            </a:r>
            <a:endParaRPr lang="en-US" altLang="zh-CN" sz="4000" dirty="0"/>
          </a:p>
        </p:txBody>
      </p:sp>
      <p:sp>
        <p:nvSpPr>
          <p:cNvPr id="7172" name="Rectangle 4">
            <a:extLst>
              <a:ext uri="{FF2B5EF4-FFF2-40B4-BE49-F238E27FC236}">
                <a16:creationId xmlns:a16="http://schemas.microsoft.com/office/drawing/2014/main" id="{0839AC8E-85B9-46C9-A531-A6F2C135F153}"/>
              </a:ext>
            </a:extLst>
          </p:cNvPr>
          <p:cNvSpPr>
            <a:spLocks noGrp="1" noChangeArrowheads="1"/>
          </p:cNvSpPr>
          <p:nvPr>
            <p:ph idx="1"/>
          </p:nvPr>
        </p:nvSpPr>
        <p:spPr/>
        <p:txBody>
          <a:bodyPr/>
          <a:lstStyle/>
          <a:p>
            <a:r>
              <a:rPr lang="en-US" altLang="zh-CN" sz="2800"/>
              <a:t>A style</a:t>
            </a:r>
          </a:p>
          <a:p>
            <a:pPr lvl="1"/>
            <a:r>
              <a:rPr lang="en-US" altLang="zh-CN" sz="2400"/>
              <a:t>describes a class of architectures</a:t>
            </a:r>
            <a:br>
              <a:rPr lang="en-US" altLang="zh-CN" sz="2400"/>
            </a:br>
            <a:r>
              <a:rPr lang="zh-CN" altLang="en-US" sz="2400"/>
              <a:t>描述一类体系结构</a:t>
            </a:r>
          </a:p>
          <a:p>
            <a:pPr lvl="1"/>
            <a:r>
              <a:rPr lang="en-US" altLang="zh-CN" sz="2400"/>
              <a:t>is found repeatedly in practice</a:t>
            </a:r>
            <a:br>
              <a:rPr lang="en-US" altLang="zh-CN" sz="2400"/>
            </a:br>
            <a:r>
              <a:rPr lang="zh-CN" altLang="en-US" sz="2400"/>
              <a:t>在实践中被多次设计、应用</a:t>
            </a:r>
          </a:p>
          <a:p>
            <a:pPr lvl="1"/>
            <a:r>
              <a:rPr lang="en-US" altLang="zh-CN" sz="2400"/>
              <a:t>is a package of design decisions</a:t>
            </a:r>
            <a:br>
              <a:rPr lang="en-US" altLang="zh-CN" sz="2400"/>
            </a:br>
            <a:r>
              <a:rPr lang="zh-CN" altLang="en-US" sz="2400"/>
              <a:t>是若干设计思想的综合</a:t>
            </a:r>
          </a:p>
          <a:p>
            <a:pPr lvl="1"/>
            <a:r>
              <a:rPr lang="en-US" altLang="zh-CN" sz="2400"/>
              <a:t>has known properties that permit reuse</a:t>
            </a:r>
            <a:br>
              <a:rPr lang="en-US" altLang="zh-CN" sz="2400"/>
            </a:br>
            <a:r>
              <a:rPr lang="zh-CN" altLang="en-US" sz="2400"/>
              <a:t>具有已经被熟知的特性，并且可以复用</a:t>
            </a:r>
          </a:p>
        </p:txBody>
      </p:sp>
      <p:sp>
        <p:nvSpPr>
          <p:cNvPr id="7169" name="灯片编号占位符 3">
            <a:extLst>
              <a:ext uri="{FF2B5EF4-FFF2-40B4-BE49-F238E27FC236}">
                <a16:creationId xmlns:a16="http://schemas.microsoft.com/office/drawing/2014/main" id="{2D80D0A2-0CD7-40E4-9E1B-65B8C9A9F538}"/>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ED44144-0EE4-4EF3-A0DC-DDCB2327138E}" type="slidenum">
              <a:rPr lang="en-US" altLang="zh-CN">
                <a:latin typeface="Arial Black" panose="020B0A04020102020204" pitchFamily="34" charset="0"/>
              </a:rPr>
              <a:pPr eaLnBrk="1" hangingPunct="1">
                <a:buFont typeface="Arial" panose="020B0604020202020204" pitchFamily="34" charset="0"/>
                <a:buNone/>
              </a:pPr>
              <a:t>4</a:t>
            </a:fld>
            <a:endParaRPr lang="en-US" altLang="zh-CN">
              <a:latin typeface="Arial Black" panose="020B0A04020102020204" pitchFamily="34" charset="0"/>
            </a:endParaRPr>
          </a:p>
        </p:txBody>
      </p:sp>
      <p:sp>
        <p:nvSpPr>
          <p:cNvPr id="7170" name="日期占位符 4">
            <a:extLst>
              <a:ext uri="{FF2B5EF4-FFF2-40B4-BE49-F238E27FC236}">
                <a16:creationId xmlns:a16="http://schemas.microsoft.com/office/drawing/2014/main" id="{C543DADA-A942-4470-BC0A-B4DFB82E7F19}"/>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3B372AE-1818-4BC0-BA6B-2AE34439C820}"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EFACB805-EC32-4639-9B83-7BA1EECE0903}"/>
              </a:ext>
            </a:extLst>
          </p:cNvPr>
          <p:cNvSpPr>
            <a:spLocks noGrp="1" noChangeArrowheads="1"/>
          </p:cNvSpPr>
          <p:nvPr>
            <p:ph type="title"/>
          </p:nvPr>
        </p:nvSpPr>
        <p:spPr/>
        <p:txBody>
          <a:bodyPr/>
          <a:lstStyle/>
          <a:p>
            <a:r>
              <a:rPr lang="zh-CN" altLang="en-US" dirty="0"/>
              <a:t>体系结构风格</a:t>
            </a:r>
            <a:endParaRPr lang="en-US" altLang="zh-CN" dirty="0"/>
          </a:p>
        </p:txBody>
      </p:sp>
      <p:sp>
        <p:nvSpPr>
          <p:cNvPr id="8196" name="Rectangle 3">
            <a:extLst>
              <a:ext uri="{FF2B5EF4-FFF2-40B4-BE49-F238E27FC236}">
                <a16:creationId xmlns:a16="http://schemas.microsoft.com/office/drawing/2014/main" id="{7A7FDBB0-9A64-4113-AA60-54E4909BC7B8}"/>
              </a:ext>
            </a:extLst>
          </p:cNvPr>
          <p:cNvSpPr>
            <a:spLocks noGrp="1" noChangeArrowheads="1"/>
          </p:cNvSpPr>
          <p:nvPr>
            <p:ph idx="1"/>
          </p:nvPr>
        </p:nvSpPr>
        <p:spPr/>
        <p:txBody>
          <a:bodyPr/>
          <a:lstStyle/>
          <a:p>
            <a:pPr>
              <a:lnSpc>
                <a:spcPct val="90000"/>
              </a:lnSpc>
            </a:pPr>
            <a:r>
              <a:rPr lang="en-US" altLang="zh-CN" sz="2800" dirty="0"/>
              <a:t>A style is determined (described) by</a:t>
            </a:r>
          </a:p>
          <a:p>
            <a:pPr lvl="1">
              <a:lnSpc>
                <a:spcPct val="90000"/>
              </a:lnSpc>
            </a:pPr>
            <a:r>
              <a:rPr lang="en-US" altLang="zh-CN" sz="2400" dirty="0"/>
              <a:t>a set of component types (e.g., data repository, process, object)</a:t>
            </a:r>
            <a:br>
              <a:rPr lang="en-US" altLang="zh-CN" sz="2400" dirty="0"/>
            </a:br>
            <a:r>
              <a:rPr lang="zh-CN" altLang="en-US" sz="2400" dirty="0"/>
              <a:t>一组组件类型（例如：数据容器，过程，对象）</a:t>
            </a:r>
          </a:p>
          <a:p>
            <a:pPr lvl="1">
              <a:lnSpc>
                <a:spcPct val="90000"/>
              </a:lnSpc>
            </a:pPr>
            <a:r>
              <a:rPr lang="en-US" altLang="zh-CN" sz="2400" dirty="0"/>
              <a:t>a set of connector types/interaction mechanisms (e.g., subroutine call, event, pipe)</a:t>
            </a:r>
            <a:br>
              <a:rPr lang="en-US" altLang="zh-CN" sz="2400" dirty="0"/>
            </a:br>
            <a:r>
              <a:rPr lang="zh-CN" altLang="en-US" sz="2400" dirty="0"/>
              <a:t>一组连接件类型</a:t>
            </a:r>
            <a:r>
              <a:rPr lang="en-US" altLang="zh-CN" sz="2400" dirty="0"/>
              <a:t>/</a:t>
            </a:r>
            <a:r>
              <a:rPr lang="zh-CN" altLang="en-US" sz="2400" dirty="0"/>
              <a:t>交互机制（例如：过程调用，事件，管道）</a:t>
            </a:r>
          </a:p>
          <a:p>
            <a:pPr lvl="1">
              <a:lnSpc>
                <a:spcPct val="90000"/>
              </a:lnSpc>
            </a:pPr>
            <a:r>
              <a:rPr lang="en-US" altLang="zh-CN" sz="2400" dirty="0"/>
              <a:t>a topological layout of these components</a:t>
            </a:r>
            <a:br>
              <a:rPr lang="en-US" altLang="zh-CN" sz="2400" dirty="0"/>
            </a:br>
            <a:r>
              <a:rPr lang="zh-CN" altLang="en-US" sz="2400" dirty="0"/>
              <a:t>这些组件的拓扑分布</a:t>
            </a:r>
          </a:p>
        </p:txBody>
      </p:sp>
      <p:sp>
        <p:nvSpPr>
          <p:cNvPr id="8193" name="灯片编号占位符 3">
            <a:extLst>
              <a:ext uri="{FF2B5EF4-FFF2-40B4-BE49-F238E27FC236}">
                <a16:creationId xmlns:a16="http://schemas.microsoft.com/office/drawing/2014/main" id="{B32EC27E-81A3-4916-9D0E-C8D4BC31B8ED}"/>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616738C-BBFC-4E76-BCB9-DED26F0A3149}" type="slidenum">
              <a:rPr lang="en-US" altLang="zh-CN">
                <a:latin typeface="Arial Black" panose="020B0A04020102020204" pitchFamily="34" charset="0"/>
              </a:rPr>
              <a:pPr eaLnBrk="1" hangingPunct="1">
                <a:buFont typeface="Arial" panose="020B0604020202020204" pitchFamily="34" charset="0"/>
                <a:buNone/>
              </a:pPr>
              <a:t>5</a:t>
            </a:fld>
            <a:endParaRPr lang="en-US" altLang="zh-CN">
              <a:latin typeface="Arial Black" panose="020B0A04020102020204" pitchFamily="34" charset="0"/>
            </a:endParaRPr>
          </a:p>
        </p:txBody>
      </p:sp>
      <p:sp>
        <p:nvSpPr>
          <p:cNvPr id="8194" name="日期占位符 4">
            <a:extLst>
              <a:ext uri="{FF2B5EF4-FFF2-40B4-BE49-F238E27FC236}">
                <a16:creationId xmlns:a16="http://schemas.microsoft.com/office/drawing/2014/main" id="{17AE97E3-ADF5-436E-9942-02697A4AE896}"/>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6509954-28EF-4492-AF40-D36D7D82AE4B}"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14C1BBE6-63DC-4412-9DE5-D6C1E8F41865}"/>
              </a:ext>
            </a:extLst>
          </p:cNvPr>
          <p:cNvSpPr>
            <a:spLocks noGrp="1" noChangeArrowheads="1"/>
          </p:cNvSpPr>
          <p:nvPr>
            <p:ph type="title"/>
          </p:nvPr>
        </p:nvSpPr>
        <p:spPr/>
        <p:txBody>
          <a:bodyPr/>
          <a:lstStyle/>
          <a:p>
            <a:r>
              <a:rPr lang="zh-CN" altLang="en-US" dirty="0"/>
              <a:t>体系结构风格</a:t>
            </a:r>
            <a:endParaRPr lang="en-US" altLang="zh-CN" dirty="0"/>
          </a:p>
        </p:txBody>
      </p:sp>
      <p:sp>
        <p:nvSpPr>
          <p:cNvPr id="9220" name="Rectangle 3">
            <a:extLst>
              <a:ext uri="{FF2B5EF4-FFF2-40B4-BE49-F238E27FC236}">
                <a16:creationId xmlns:a16="http://schemas.microsoft.com/office/drawing/2014/main" id="{E47F216C-BF6D-4D7C-9404-1E79274E8F91}"/>
              </a:ext>
            </a:extLst>
          </p:cNvPr>
          <p:cNvSpPr>
            <a:spLocks noGrp="1" noChangeArrowheads="1"/>
          </p:cNvSpPr>
          <p:nvPr>
            <p:ph idx="1"/>
          </p:nvPr>
        </p:nvSpPr>
        <p:spPr>
          <a:xfrm>
            <a:off x="457200" y="1981200"/>
            <a:ext cx="8229600" cy="4327525"/>
          </a:xfrm>
        </p:spPr>
        <p:txBody>
          <a:bodyPr/>
          <a:lstStyle/>
          <a:p>
            <a:pPr>
              <a:lnSpc>
                <a:spcPct val="90000"/>
              </a:lnSpc>
            </a:pPr>
            <a:r>
              <a:rPr lang="en-US" altLang="zh-CN" sz="2800"/>
              <a:t>A style is determined (described) by</a:t>
            </a:r>
          </a:p>
          <a:p>
            <a:pPr lvl="1">
              <a:lnSpc>
                <a:spcPct val="90000"/>
              </a:lnSpc>
            </a:pPr>
            <a:r>
              <a:rPr lang="en-US" altLang="zh-CN" sz="2400"/>
              <a:t>a set of constraints on topology and behavior (e.g., a data repository is not allowed to change stored values, pipelines are acyclic)</a:t>
            </a:r>
            <a:br>
              <a:rPr lang="en-US" altLang="zh-CN" sz="2400"/>
            </a:br>
            <a:r>
              <a:rPr lang="zh-CN" altLang="en-US" sz="2400"/>
              <a:t>一组对拓扑和行为的约束（例如：数据容器不能自己存储数据，管道不能是循环的</a:t>
            </a:r>
          </a:p>
          <a:p>
            <a:pPr lvl="1">
              <a:lnSpc>
                <a:spcPct val="90000"/>
              </a:lnSpc>
            </a:pPr>
            <a:r>
              <a:rPr lang="en-US" altLang="zh-CN" sz="2400"/>
              <a:t>an </a:t>
            </a:r>
            <a:r>
              <a:rPr lang="en-US" altLang="zh-CN" sz="2400" i="1"/>
              <a:t>informal</a:t>
            </a:r>
            <a:r>
              <a:rPr lang="en-US" altLang="zh-CN" sz="2400"/>
              <a:t> description of the costs and benefits of the style, e.g.: “Use the pipe and filter style when reuse is desired and performance is not a top priority</a:t>
            </a:r>
            <a:br>
              <a:rPr lang="en-US" altLang="zh-CN" sz="2400"/>
            </a:br>
            <a:r>
              <a:rPr lang="zh-CN" altLang="en-US" sz="2400"/>
              <a:t>一些对风格的成本和益处的</a:t>
            </a:r>
            <a:r>
              <a:rPr lang="zh-CN" altLang="en-US" sz="2400" i="1"/>
              <a:t>非正式</a:t>
            </a:r>
            <a:r>
              <a:rPr lang="zh-CN" altLang="en-US" sz="2400"/>
              <a:t>的描述，例如：如果你需要重用性并且性能不是很重要，那么可以使用管道风格</a:t>
            </a:r>
          </a:p>
        </p:txBody>
      </p:sp>
      <p:sp>
        <p:nvSpPr>
          <p:cNvPr id="9217" name="灯片编号占位符 3">
            <a:extLst>
              <a:ext uri="{FF2B5EF4-FFF2-40B4-BE49-F238E27FC236}">
                <a16:creationId xmlns:a16="http://schemas.microsoft.com/office/drawing/2014/main" id="{68EF6F26-913D-433A-92D9-8F5363393934}"/>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C7A8629-F101-4597-AE22-07EC30EA1510}" type="slidenum">
              <a:rPr lang="en-US" altLang="zh-CN">
                <a:latin typeface="Arial Black" panose="020B0A04020102020204" pitchFamily="34" charset="0"/>
              </a:rPr>
              <a:pPr eaLnBrk="1" hangingPunct="1">
                <a:buFont typeface="Arial" panose="020B0604020202020204" pitchFamily="34" charset="0"/>
                <a:buNone/>
              </a:pPr>
              <a:t>6</a:t>
            </a:fld>
            <a:endParaRPr lang="en-US" altLang="zh-CN">
              <a:latin typeface="Arial Black" panose="020B0A04020102020204" pitchFamily="34" charset="0"/>
            </a:endParaRPr>
          </a:p>
        </p:txBody>
      </p:sp>
      <p:sp>
        <p:nvSpPr>
          <p:cNvPr id="9218" name="日期占位符 4">
            <a:extLst>
              <a:ext uri="{FF2B5EF4-FFF2-40B4-BE49-F238E27FC236}">
                <a16:creationId xmlns:a16="http://schemas.microsoft.com/office/drawing/2014/main" id="{4480EAFF-CCC7-4EB0-93DC-B6173AAAE2CA}"/>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DB506D8-A5C4-4963-BE4C-3F357204A2BD}"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111B2A-1873-4AD4-B008-D2D99FD71C2D}"/>
              </a:ext>
            </a:extLst>
          </p:cNvPr>
          <p:cNvSpPr>
            <a:spLocks noGrp="1"/>
          </p:cNvSpPr>
          <p:nvPr>
            <p:ph type="title"/>
          </p:nvPr>
        </p:nvSpPr>
        <p:spPr/>
        <p:txBody>
          <a:bodyPr/>
          <a:lstStyle/>
          <a:p>
            <a:r>
              <a:rPr lang="zh-CN" altLang="en-US" dirty="0"/>
              <a:t>体系结构风格</a:t>
            </a:r>
          </a:p>
        </p:txBody>
      </p:sp>
      <p:sp>
        <p:nvSpPr>
          <p:cNvPr id="3" name="内容占位符 2">
            <a:extLst>
              <a:ext uri="{FF2B5EF4-FFF2-40B4-BE49-F238E27FC236}">
                <a16:creationId xmlns:a16="http://schemas.microsoft.com/office/drawing/2014/main" id="{32BB60A9-200C-46BB-821E-A95988686E62}"/>
              </a:ext>
            </a:extLst>
          </p:cNvPr>
          <p:cNvSpPr>
            <a:spLocks noGrp="1"/>
          </p:cNvSpPr>
          <p:nvPr>
            <p:ph idx="1"/>
          </p:nvPr>
        </p:nvSpPr>
        <p:spPr/>
        <p:txBody>
          <a:bodyPr/>
          <a:lstStyle/>
          <a:p>
            <a:r>
              <a:rPr lang="zh-CN" altLang="en-US" dirty="0"/>
              <a:t>使用体系结构风格的优势</a:t>
            </a:r>
            <a:endParaRPr lang="en-US" altLang="zh-CN" dirty="0"/>
          </a:p>
          <a:p>
            <a:pPr lvl="1"/>
            <a:r>
              <a:rPr lang="zh-CN" altLang="en-US" dirty="0"/>
              <a:t>它极大地促进了设计的重用性和代码的重用性，并且使得系统的组织结构易被理解。</a:t>
            </a:r>
            <a:endParaRPr lang="en-US" altLang="zh-CN" dirty="0"/>
          </a:p>
          <a:p>
            <a:pPr lvl="2"/>
            <a:r>
              <a:rPr lang="zh-CN" altLang="zh-CN" dirty="0"/>
              <a:t>即使没有给出具体实现细节，依然可以通过</a:t>
            </a:r>
            <a:r>
              <a:rPr lang="en-US" altLang="zh-CN" dirty="0"/>
              <a:t>“</a:t>
            </a:r>
            <a:r>
              <a:rPr lang="zh-CN" altLang="zh-CN" dirty="0"/>
              <a:t>客户</a:t>
            </a:r>
            <a:r>
              <a:rPr lang="en-US" altLang="zh-CN" dirty="0"/>
              <a:t>/</a:t>
            </a:r>
            <a:r>
              <a:rPr lang="zh-CN" altLang="zh-CN" dirty="0"/>
              <a:t>服务器</a:t>
            </a:r>
            <a:r>
              <a:rPr lang="en-US" altLang="zh-CN" dirty="0"/>
              <a:t>”</a:t>
            </a:r>
            <a:r>
              <a:rPr lang="zh-CN" altLang="en-US" dirty="0"/>
              <a:t>体系结构</a:t>
            </a:r>
            <a:r>
              <a:rPr lang="zh-CN" altLang="zh-CN" dirty="0"/>
              <a:t>风格大致推测出系统的组成结构和工作方式。</a:t>
            </a:r>
            <a:endParaRPr lang="en-US" altLang="zh-CN" dirty="0"/>
          </a:p>
          <a:p>
            <a:pPr lvl="1"/>
            <a:r>
              <a:rPr lang="zh-CN" altLang="en-US" dirty="0"/>
              <a:t>使用标准的体系结构风格可较好地支持系统内部的互操作性以及针对特定风格的分析</a:t>
            </a:r>
            <a:endParaRPr lang="en-US" altLang="zh-CN" dirty="0"/>
          </a:p>
          <a:p>
            <a:pPr lvl="2"/>
            <a:r>
              <a:rPr lang="zh-CN" altLang="zh-CN" dirty="0"/>
              <a:t>如</a:t>
            </a:r>
            <a:r>
              <a:rPr lang="zh-CN" altLang="en-US" dirty="0"/>
              <a:t>：</a:t>
            </a:r>
            <a:r>
              <a:rPr lang="en-US" altLang="zh-CN" dirty="0"/>
              <a:t>“</a:t>
            </a:r>
            <a:r>
              <a:rPr lang="zh-CN" altLang="zh-CN" dirty="0"/>
              <a:t>管道</a:t>
            </a:r>
            <a:r>
              <a:rPr lang="en-US" altLang="zh-CN" dirty="0"/>
              <a:t>/</a:t>
            </a:r>
            <a:r>
              <a:rPr lang="zh-CN" altLang="zh-CN" dirty="0"/>
              <a:t>过滤器</a:t>
            </a:r>
            <a:r>
              <a:rPr lang="en-US" altLang="zh-CN" dirty="0"/>
              <a:t>”</a:t>
            </a:r>
            <a:r>
              <a:rPr lang="zh-CN" altLang="zh-CN" dirty="0"/>
              <a:t>风格可用来分析调度、吞吐量、延迟，和死锁等问题。</a:t>
            </a:r>
            <a:endParaRPr lang="zh-CN" altLang="en-US" dirty="0"/>
          </a:p>
          <a:p>
            <a:endParaRPr lang="zh-CN" altLang="en-US" dirty="0"/>
          </a:p>
        </p:txBody>
      </p:sp>
    </p:spTree>
    <p:extLst>
      <p:ext uri="{BB962C8B-B14F-4D97-AF65-F5344CB8AC3E}">
        <p14:creationId xmlns:p14="http://schemas.microsoft.com/office/powerpoint/2010/main" val="1184652121"/>
      </p:ext>
    </p:extLst>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1026">
            <a:extLst>
              <a:ext uri="{FF2B5EF4-FFF2-40B4-BE49-F238E27FC236}">
                <a16:creationId xmlns:a16="http://schemas.microsoft.com/office/drawing/2014/main" id="{DD5FD800-AA58-4FDA-9EF5-FCC5B6156E89}"/>
              </a:ext>
            </a:extLst>
          </p:cNvPr>
          <p:cNvSpPr>
            <a:spLocks noGrp="1" noChangeArrowheads="1"/>
          </p:cNvSpPr>
          <p:nvPr>
            <p:ph type="title"/>
          </p:nvPr>
        </p:nvSpPr>
        <p:spPr/>
        <p:txBody>
          <a:bodyPr/>
          <a:lstStyle/>
          <a:p>
            <a:r>
              <a:rPr lang="zh-CN" altLang="en-US" dirty="0"/>
              <a:t>体系结构风格</a:t>
            </a:r>
            <a:endParaRPr lang="en-US" altLang="zh-CN" dirty="0"/>
          </a:p>
        </p:txBody>
      </p:sp>
      <p:sp>
        <p:nvSpPr>
          <p:cNvPr id="10244" name="Rectangle 1029">
            <a:extLst>
              <a:ext uri="{FF2B5EF4-FFF2-40B4-BE49-F238E27FC236}">
                <a16:creationId xmlns:a16="http://schemas.microsoft.com/office/drawing/2014/main" id="{AE156C67-258D-4FF4-8370-DABE88D71BD2}"/>
              </a:ext>
            </a:extLst>
          </p:cNvPr>
          <p:cNvSpPr>
            <a:spLocks noGrp="1" noChangeArrowheads="1"/>
          </p:cNvSpPr>
          <p:nvPr>
            <p:ph idx="1"/>
          </p:nvPr>
        </p:nvSpPr>
        <p:spPr>
          <a:xfrm>
            <a:off x="457200" y="1700213"/>
            <a:ext cx="8229600" cy="4537075"/>
          </a:xfrm>
        </p:spPr>
        <p:txBody>
          <a:bodyPr/>
          <a:lstStyle/>
          <a:p>
            <a:pPr marL="0" indent="0">
              <a:lnSpc>
                <a:spcPct val="80000"/>
              </a:lnSpc>
              <a:buFont typeface="Wingdings" panose="05000000000000000000" pitchFamily="2" charset="2"/>
              <a:buNone/>
            </a:pPr>
            <a:r>
              <a:rPr lang="en-US" altLang="zh-CN" sz="2400"/>
              <a:t>Garlan and Shaw compiled a catalog of architectural styles in 1995. Others, such as Buschmann, have augmented this.</a:t>
            </a:r>
          </a:p>
          <a:p>
            <a:pPr marL="0" indent="0">
              <a:lnSpc>
                <a:spcPct val="80000"/>
              </a:lnSpc>
              <a:buFont typeface="Wingdings" panose="05000000000000000000" pitchFamily="2" charset="2"/>
              <a:buNone/>
            </a:pPr>
            <a:endParaRPr lang="en-US" altLang="zh-CN" sz="2400"/>
          </a:p>
          <a:p>
            <a:pPr marL="0" indent="0">
              <a:lnSpc>
                <a:spcPct val="80000"/>
              </a:lnSpc>
              <a:buFont typeface="Wingdings" panose="05000000000000000000" pitchFamily="2" charset="2"/>
              <a:buNone/>
            </a:pPr>
            <a:r>
              <a:rPr lang="en-US" altLang="zh-CN" sz="2400"/>
              <a:t>There is no complete list. </a:t>
            </a:r>
            <a:br>
              <a:rPr lang="en-US" altLang="zh-CN" sz="2400"/>
            </a:br>
            <a:r>
              <a:rPr lang="zh-CN" altLang="en-US" sz="2400"/>
              <a:t>没有完备的列表</a:t>
            </a:r>
          </a:p>
          <a:p>
            <a:pPr marL="0" indent="0">
              <a:lnSpc>
                <a:spcPct val="80000"/>
              </a:lnSpc>
              <a:buFont typeface="Wingdings" panose="05000000000000000000" pitchFamily="2" charset="2"/>
              <a:buNone/>
            </a:pPr>
            <a:endParaRPr lang="zh-CN" altLang="en-US" sz="2400"/>
          </a:p>
          <a:p>
            <a:pPr marL="0" indent="0">
              <a:lnSpc>
                <a:spcPct val="80000"/>
              </a:lnSpc>
              <a:buFont typeface="Wingdings" panose="05000000000000000000" pitchFamily="2" charset="2"/>
              <a:buNone/>
            </a:pPr>
            <a:r>
              <a:rPr lang="en-US" altLang="zh-CN" sz="2400"/>
              <a:t>There is no unique, non-overlapping list. </a:t>
            </a:r>
            <a:br>
              <a:rPr lang="en-US" altLang="zh-CN" sz="2400"/>
            </a:br>
            <a:r>
              <a:rPr lang="zh-CN" altLang="en-US" sz="2400"/>
              <a:t>没有无重叠的列表</a:t>
            </a:r>
          </a:p>
          <a:p>
            <a:pPr marL="0" indent="0">
              <a:lnSpc>
                <a:spcPct val="80000"/>
              </a:lnSpc>
              <a:buFont typeface="Wingdings" panose="05000000000000000000" pitchFamily="2" charset="2"/>
              <a:buNone/>
            </a:pPr>
            <a:endParaRPr lang="zh-CN" altLang="en-US" sz="2400"/>
          </a:p>
          <a:p>
            <a:pPr marL="0" indent="0">
              <a:lnSpc>
                <a:spcPct val="80000"/>
              </a:lnSpc>
              <a:buFont typeface="Wingdings" panose="05000000000000000000" pitchFamily="2" charset="2"/>
              <a:buNone/>
            </a:pPr>
            <a:r>
              <a:rPr lang="en-US" altLang="zh-CN" sz="2400"/>
              <a:t>Styles overlap. </a:t>
            </a:r>
            <a:r>
              <a:rPr lang="zh-CN" altLang="en-US" sz="2400"/>
              <a:t>风格是彼此重叠的</a:t>
            </a:r>
          </a:p>
          <a:p>
            <a:pPr marL="0" indent="0">
              <a:lnSpc>
                <a:spcPct val="80000"/>
              </a:lnSpc>
              <a:buFont typeface="Wingdings" panose="05000000000000000000" pitchFamily="2" charset="2"/>
              <a:buNone/>
            </a:pPr>
            <a:endParaRPr lang="zh-CN" altLang="en-US" sz="2400"/>
          </a:p>
          <a:p>
            <a:pPr marL="0" indent="0">
              <a:lnSpc>
                <a:spcPct val="80000"/>
              </a:lnSpc>
              <a:buFont typeface="Wingdings" panose="05000000000000000000" pitchFamily="2" charset="2"/>
              <a:buNone/>
            </a:pPr>
            <a:r>
              <a:rPr lang="en-US" altLang="zh-CN" sz="2400"/>
              <a:t>Systems exhibit multiple styles at once. </a:t>
            </a:r>
            <a:br>
              <a:rPr lang="en-US" altLang="zh-CN" sz="2400"/>
            </a:br>
            <a:r>
              <a:rPr lang="zh-CN" altLang="en-US" sz="2400"/>
              <a:t>一个系统通常表现出多种风格</a:t>
            </a:r>
            <a:endParaRPr lang="zh-CN" altLang="en-US" sz="2400" b="0"/>
          </a:p>
          <a:p>
            <a:pPr marL="0" indent="0">
              <a:lnSpc>
                <a:spcPct val="80000"/>
              </a:lnSpc>
              <a:buFont typeface="Wingdings" panose="05000000000000000000" pitchFamily="2" charset="2"/>
              <a:buNone/>
            </a:pPr>
            <a:endParaRPr lang="en-US" altLang="zh-CN" sz="2400"/>
          </a:p>
        </p:txBody>
      </p:sp>
      <p:sp>
        <p:nvSpPr>
          <p:cNvPr id="10241" name="灯片编号占位符 3">
            <a:extLst>
              <a:ext uri="{FF2B5EF4-FFF2-40B4-BE49-F238E27FC236}">
                <a16:creationId xmlns:a16="http://schemas.microsoft.com/office/drawing/2014/main" id="{C36E37FA-78C4-4E46-A470-F0EF0F5AD8A8}"/>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9E43313-F33D-4C3F-813A-FD07AE7A1025}" type="slidenum">
              <a:rPr lang="en-US" altLang="zh-CN">
                <a:latin typeface="Arial Black" panose="020B0A04020102020204" pitchFamily="34" charset="0"/>
              </a:rPr>
              <a:pPr eaLnBrk="1" hangingPunct="1">
                <a:buFont typeface="Arial" panose="020B0604020202020204" pitchFamily="34" charset="0"/>
                <a:buNone/>
              </a:pPr>
              <a:t>8</a:t>
            </a:fld>
            <a:endParaRPr lang="en-US" altLang="zh-CN">
              <a:latin typeface="Arial Black" panose="020B0A04020102020204" pitchFamily="34" charset="0"/>
            </a:endParaRPr>
          </a:p>
        </p:txBody>
      </p:sp>
      <p:sp>
        <p:nvSpPr>
          <p:cNvPr id="10242" name="日期占位符 4">
            <a:extLst>
              <a:ext uri="{FF2B5EF4-FFF2-40B4-BE49-F238E27FC236}">
                <a16:creationId xmlns:a16="http://schemas.microsoft.com/office/drawing/2014/main" id="{EB6FE5A3-0D89-4617-88BA-5E33ADC1D68C}"/>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3477642-7B50-4BB9-89B3-9B8D32E1E487}"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026">
            <a:extLst>
              <a:ext uri="{FF2B5EF4-FFF2-40B4-BE49-F238E27FC236}">
                <a16:creationId xmlns:a16="http://schemas.microsoft.com/office/drawing/2014/main" id="{3A585647-585B-45C3-85D2-1168C3549E4C}"/>
              </a:ext>
            </a:extLst>
          </p:cNvPr>
          <p:cNvSpPr>
            <a:spLocks noGrp="1" noChangeArrowheads="1"/>
          </p:cNvSpPr>
          <p:nvPr>
            <p:ph type="title"/>
          </p:nvPr>
        </p:nvSpPr>
        <p:spPr/>
        <p:txBody>
          <a:bodyPr/>
          <a:lstStyle/>
          <a:p>
            <a:r>
              <a:rPr lang="en-US" altLang="zh-CN"/>
              <a:t>Types of Architectural Styles</a:t>
            </a:r>
          </a:p>
        </p:txBody>
      </p:sp>
      <p:sp>
        <p:nvSpPr>
          <p:cNvPr id="11265" name="灯片编号占位符 3">
            <a:extLst>
              <a:ext uri="{FF2B5EF4-FFF2-40B4-BE49-F238E27FC236}">
                <a16:creationId xmlns:a16="http://schemas.microsoft.com/office/drawing/2014/main" id="{B9A899E7-54AE-4743-9A82-314D95CC11D1}"/>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EBDEFF3-8494-4FDE-AAC2-54F54029F9BB}" type="slidenum">
              <a:rPr lang="en-US" altLang="zh-CN">
                <a:latin typeface="Arial Black" panose="020B0A04020102020204" pitchFamily="34" charset="0"/>
              </a:rPr>
              <a:pPr eaLnBrk="1" hangingPunct="1">
                <a:buFont typeface="Arial" panose="020B0604020202020204" pitchFamily="34" charset="0"/>
                <a:buNone/>
              </a:pPr>
              <a:t>9</a:t>
            </a:fld>
            <a:endParaRPr lang="en-US" altLang="zh-CN">
              <a:latin typeface="Arial Black" panose="020B0A04020102020204" pitchFamily="34" charset="0"/>
            </a:endParaRPr>
          </a:p>
        </p:txBody>
      </p:sp>
      <p:sp>
        <p:nvSpPr>
          <p:cNvPr id="11266" name="日期占位符 4">
            <a:extLst>
              <a:ext uri="{FF2B5EF4-FFF2-40B4-BE49-F238E27FC236}">
                <a16:creationId xmlns:a16="http://schemas.microsoft.com/office/drawing/2014/main" id="{B2C840F2-4210-479C-B76F-97E584A52E04}"/>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337AEF4-C4F5-4CC5-8CB9-C4BA06C90F85}" type="datetime1">
              <a:rPr lang="zh-CN" altLang="en-US"/>
              <a:pPr eaLnBrk="1" hangingPunct="1">
                <a:buFont typeface="Arial" panose="020B0604020202020204" pitchFamily="34" charset="0"/>
                <a:buNone/>
              </a:pPr>
              <a:t>2021/5/13</a:t>
            </a:fld>
            <a:endParaRPr lang="zh-CN" altLang="en-US"/>
          </a:p>
        </p:txBody>
      </p:sp>
      <p:pic>
        <p:nvPicPr>
          <p:cNvPr id="11268" name="Picture 1029">
            <a:extLst>
              <a:ext uri="{FF2B5EF4-FFF2-40B4-BE49-F238E27FC236}">
                <a16:creationId xmlns:a16="http://schemas.microsoft.com/office/drawing/2014/main" id="{DE990FF4-4D05-42F6-AB23-012A26B94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1700213"/>
            <a:ext cx="649605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67B3BC14-3214-48D8-80FE-3A4CE47A2AA5}"/>
              </a:ext>
            </a:extLst>
          </p:cNvPr>
          <p:cNvSpPr>
            <a:spLocks noGrp="1" noChangeArrowheads="1"/>
          </p:cNvSpPr>
          <p:nvPr>
            <p:ph type="title"/>
          </p:nvPr>
        </p:nvSpPr>
        <p:spPr/>
        <p:txBody>
          <a:bodyPr/>
          <a:lstStyle/>
          <a:p>
            <a:r>
              <a:rPr lang="zh-CN" altLang="en-US" sz="4000" dirty="0"/>
              <a:t>体系结构风格注意事项</a:t>
            </a:r>
            <a:endParaRPr lang="en-US" altLang="zh-CN" sz="4000" dirty="0"/>
          </a:p>
        </p:txBody>
      </p:sp>
      <p:sp>
        <p:nvSpPr>
          <p:cNvPr id="12292" name="Rectangle 3">
            <a:extLst>
              <a:ext uri="{FF2B5EF4-FFF2-40B4-BE49-F238E27FC236}">
                <a16:creationId xmlns:a16="http://schemas.microsoft.com/office/drawing/2014/main" id="{E1CD73EF-F9B5-42EB-82BA-F354A34063A0}"/>
              </a:ext>
            </a:extLst>
          </p:cNvPr>
          <p:cNvSpPr>
            <a:spLocks noGrp="1" noChangeArrowheads="1"/>
          </p:cNvSpPr>
          <p:nvPr>
            <p:ph idx="1"/>
          </p:nvPr>
        </p:nvSpPr>
        <p:spPr>
          <a:xfrm>
            <a:off x="457200" y="1557338"/>
            <a:ext cx="8229600" cy="4608512"/>
          </a:xfrm>
        </p:spPr>
        <p:txBody>
          <a:bodyPr/>
          <a:lstStyle/>
          <a:p>
            <a:pPr>
              <a:lnSpc>
                <a:spcPct val="90000"/>
              </a:lnSpc>
            </a:pPr>
            <a:r>
              <a:rPr lang="en-US" altLang="zh-CN" sz="2400" dirty="0"/>
              <a:t>When we introduce a new style, we will typically first examine its “pure” form.</a:t>
            </a:r>
          </a:p>
          <a:p>
            <a:pPr lvl="1">
              <a:lnSpc>
                <a:spcPct val="90000"/>
              </a:lnSpc>
            </a:pPr>
            <a:r>
              <a:rPr lang="en-US" altLang="zh-CN" sz="2000" dirty="0"/>
              <a:t>pure architectural style are rarely found in practice</a:t>
            </a:r>
            <a:br>
              <a:rPr lang="en-US" altLang="zh-CN" sz="2000" dirty="0"/>
            </a:br>
            <a:r>
              <a:rPr lang="zh-CN" altLang="en-US" sz="2000" dirty="0"/>
              <a:t>纯粹的体系风格在实际中很难遇到</a:t>
            </a:r>
          </a:p>
          <a:p>
            <a:pPr lvl="1">
              <a:lnSpc>
                <a:spcPct val="90000"/>
              </a:lnSpc>
            </a:pPr>
            <a:r>
              <a:rPr lang="en-US" altLang="zh-CN" sz="2000" dirty="0"/>
              <a:t>systems in practice</a:t>
            </a:r>
          </a:p>
          <a:p>
            <a:pPr lvl="2">
              <a:lnSpc>
                <a:spcPct val="90000"/>
              </a:lnSpc>
            </a:pPr>
            <a:r>
              <a:rPr lang="en-US" altLang="zh-CN" sz="1800" dirty="0"/>
              <a:t>regularly deviate from the academic definitions of these systems. </a:t>
            </a:r>
            <a:r>
              <a:rPr lang="zh-CN" altLang="en-US" sz="1800" dirty="0"/>
              <a:t>循规蹈矩地背离了对这些系统的学术定义</a:t>
            </a:r>
          </a:p>
          <a:p>
            <a:pPr lvl="2">
              <a:lnSpc>
                <a:spcPct val="90000"/>
              </a:lnSpc>
            </a:pPr>
            <a:r>
              <a:rPr lang="en-US" altLang="zh-CN" sz="1800" dirty="0"/>
              <a:t>typically feature many architectural styles simultaneously</a:t>
            </a:r>
            <a:br>
              <a:rPr lang="en-US" altLang="zh-CN" sz="1800" dirty="0"/>
            </a:br>
            <a:r>
              <a:rPr lang="zh-CN" altLang="en-US" sz="1800" dirty="0"/>
              <a:t>典型地，融合很多体系风格的特色</a:t>
            </a:r>
          </a:p>
          <a:p>
            <a:pPr lvl="1" latinLnBrk="1">
              <a:lnSpc>
                <a:spcPct val="90000"/>
              </a:lnSpc>
            </a:pPr>
            <a:r>
              <a:rPr lang="en-US" altLang="zh-CN" sz="2000" dirty="0"/>
              <a:t>as an architect you must understand the “pure” styles to understand the strength and weaknesses of the style as well as the consequences of deviating from the style</a:t>
            </a:r>
            <a:br>
              <a:rPr lang="en-US" altLang="zh-CN" sz="2000" dirty="0"/>
            </a:br>
            <a:r>
              <a:rPr lang="zh-CN" altLang="en-US" sz="2000" dirty="0"/>
              <a:t>作为一个体系结构师，你必须理解“纯”的风格。理解它的优点与缺陷，也要理解背离此种风格之后会带来什么结果</a:t>
            </a:r>
          </a:p>
        </p:txBody>
      </p:sp>
      <p:sp>
        <p:nvSpPr>
          <p:cNvPr id="12289" name="灯片编号占位符 3">
            <a:extLst>
              <a:ext uri="{FF2B5EF4-FFF2-40B4-BE49-F238E27FC236}">
                <a16:creationId xmlns:a16="http://schemas.microsoft.com/office/drawing/2014/main" id="{10A51714-23E5-4E3E-94EF-CE64D8094589}"/>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8BAA0C2-8734-4D00-A2F4-9CB615DF252D}" type="slidenum">
              <a:rPr lang="en-US" altLang="zh-CN">
                <a:latin typeface="Arial Black" panose="020B0A04020102020204" pitchFamily="34" charset="0"/>
              </a:rPr>
              <a:pPr eaLnBrk="1" hangingPunct="1">
                <a:buFont typeface="Arial" panose="020B0604020202020204" pitchFamily="34" charset="0"/>
                <a:buNone/>
              </a:pPr>
              <a:t>10</a:t>
            </a:fld>
            <a:endParaRPr lang="en-US" altLang="zh-CN">
              <a:latin typeface="Arial Black" panose="020B0A04020102020204" pitchFamily="34" charset="0"/>
            </a:endParaRPr>
          </a:p>
        </p:txBody>
      </p:sp>
      <p:sp>
        <p:nvSpPr>
          <p:cNvPr id="12290" name="日期占位符 4">
            <a:extLst>
              <a:ext uri="{FF2B5EF4-FFF2-40B4-BE49-F238E27FC236}">
                <a16:creationId xmlns:a16="http://schemas.microsoft.com/office/drawing/2014/main" id="{981472EC-89DB-4844-A7F0-908C8C97945B}"/>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E443155-8772-4B9E-A758-0E52C03BE4B3}"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a:extLst>
              <a:ext uri="{FF2B5EF4-FFF2-40B4-BE49-F238E27FC236}">
                <a16:creationId xmlns:a16="http://schemas.microsoft.com/office/drawing/2014/main" id="{84A3F9A7-7EA1-4A2A-8BE3-8AA25260FD75}"/>
              </a:ext>
            </a:extLst>
          </p:cNvPr>
          <p:cNvSpPr>
            <a:spLocks noGrp="1" noChangeArrowheads="1"/>
          </p:cNvSpPr>
          <p:nvPr>
            <p:ph type="title"/>
          </p:nvPr>
        </p:nvSpPr>
        <p:spPr/>
        <p:txBody>
          <a:bodyPr/>
          <a:lstStyle/>
          <a:p>
            <a:r>
              <a:rPr lang="en-US" altLang="zh-CN" sz="4000"/>
              <a:t>Data Flow Style</a:t>
            </a:r>
            <a:r>
              <a:rPr lang="zh-CN" altLang="en-US" sz="4000"/>
              <a:t>（数据流风格）</a:t>
            </a:r>
          </a:p>
        </p:txBody>
      </p:sp>
      <p:sp>
        <p:nvSpPr>
          <p:cNvPr id="13316" name="Rectangle 3">
            <a:extLst>
              <a:ext uri="{FF2B5EF4-FFF2-40B4-BE49-F238E27FC236}">
                <a16:creationId xmlns:a16="http://schemas.microsoft.com/office/drawing/2014/main" id="{B0CFA2BB-8EA1-4179-9AD2-5AB793ACA48C}"/>
              </a:ext>
            </a:extLst>
          </p:cNvPr>
          <p:cNvSpPr>
            <a:spLocks noGrp="1" noChangeArrowheads="1"/>
          </p:cNvSpPr>
          <p:nvPr>
            <p:ph idx="1"/>
          </p:nvPr>
        </p:nvSpPr>
        <p:spPr/>
        <p:txBody>
          <a:bodyPr/>
          <a:lstStyle/>
          <a:p>
            <a:pPr>
              <a:lnSpc>
                <a:spcPct val="80000"/>
              </a:lnSpc>
            </a:pPr>
            <a:r>
              <a:rPr lang="en-US" altLang="zh-CN" sz="2400" dirty="0"/>
              <a:t>A data flow system is one in which</a:t>
            </a:r>
          </a:p>
          <a:p>
            <a:pPr lvl="1">
              <a:lnSpc>
                <a:spcPct val="80000"/>
              </a:lnSpc>
            </a:pPr>
            <a:r>
              <a:rPr lang="en-US" altLang="zh-CN" sz="2000" dirty="0"/>
              <a:t>the availability of data controls the computation</a:t>
            </a:r>
            <a:br>
              <a:rPr lang="en-US" altLang="zh-CN" sz="2000" dirty="0"/>
            </a:br>
            <a:r>
              <a:rPr lang="zh-CN" altLang="en-US" sz="2000" dirty="0"/>
              <a:t>由数据控制计算</a:t>
            </a:r>
          </a:p>
          <a:p>
            <a:pPr lvl="1">
              <a:lnSpc>
                <a:spcPct val="80000"/>
              </a:lnSpc>
            </a:pPr>
            <a:r>
              <a:rPr lang="en-US" altLang="zh-CN" sz="2000" dirty="0"/>
              <a:t>the structure of the design is dominated by orderly motion of data from process to process</a:t>
            </a:r>
            <a:br>
              <a:rPr lang="en-US" altLang="zh-CN" sz="2000" dirty="0"/>
            </a:br>
            <a:r>
              <a:rPr lang="zh-CN" altLang="en-US" sz="2000" dirty="0"/>
              <a:t>系统结构由数据在处理之间的有序移动决定</a:t>
            </a:r>
          </a:p>
          <a:p>
            <a:pPr lvl="1">
              <a:lnSpc>
                <a:spcPct val="80000"/>
              </a:lnSpc>
            </a:pPr>
            <a:r>
              <a:rPr lang="en-US" altLang="zh-CN" sz="2000" dirty="0"/>
              <a:t>the pattern of data flow is explicit</a:t>
            </a:r>
            <a:br>
              <a:rPr lang="en-US" altLang="zh-CN" sz="2000" dirty="0"/>
            </a:br>
            <a:r>
              <a:rPr lang="zh-CN" altLang="en-US" sz="2000" dirty="0"/>
              <a:t>数据流系统的结构是显而易见的</a:t>
            </a:r>
          </a:p>
          <a:p>
            <a:pPr>
              <a:lnSpc>
                <a:spcPct val="80000"/>
              </a:lnSpc>
            </a:pPr>
            <a:r>
              <a:rPr lang="en-US" altLang="zh-CN" sz="2400" dirty="0"/>
              <a:t>In a pure data flow system, there is no other interaction between processes</a:t>
            </a:r>
            <a:br>
              <a:rPr lang="en-US" altLang="zh-CN" sz="2400" dirty="0"/>
            </a:br>
            <a:r>
              <a:rPr lang="zh-CN" altLang="en-US" sz="2400" dirty="0"/>
              <a:t>在纯数据流系统中，处理之间除了数据交换，没有任何其他的交互</a:t>
            </a:r>
          </a:p>
        </p:txBody>
      </p:sp>
      <p:sp>
        <p:nvSpPr>
          <p:cNvPr id="13313" name="灯片编号占位符 3">
            <a:extLst>
              <a:ext uri="{FF2B5EF4-FFF2-40B4-BE49-F238E27FC236}">
                <a16:creationId xmlns:a16="http://schemas.microsoft.com/office/drawing/2014/main" id="{BA456156-F894-4B9F-B4B5-202644CF4935}"/>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2FE0D62-E3FB-43D9-A8F3-1E5D3A30CECC}" type="slidenum">
              <a:rPr lang="en-US" altLang="zh-CN">
                <a:latin typeface="Arial Black" panose="020B0A04020102020204" pitchFamily="34" charset="0"/>
              </a:rPr>
              <a:pPr eaLnBrk="1" hangingPunct="1">
                <a:buFont typeface="Arial" panose="020B0604020202020204" pitchFamily="34" charset="0"/>
                <a:buNone/>
              </a:pPr>
              <a:t>11</a:t>
            </a:fld>
            <a:endParaRPr lang="en-US" altLang="zh-CN">
              <a:latin typeface="Arial Black" panose="020B0A04020102020204" pitchFamily="34" charset="0"/>
            </a:endParaRPr>
          </a:p>
        </p:txBody>
      </p:sp>
      <p:sp>
        <p:nvSpPr>
          <p:cNvPr id="13314" name="日期占位符 4">
            <a:extLst>
              <a:ext uri="{FF2B5EF4-FFF2-40B4-BE49-F238E27FC236}">
                <a16:creationId xmlns:a16="http://schemas.microsoft.com/office/drawing/2014/main" id="{90B41F33-A9FB-48E4-96B7-6FDB013781B7}"/>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DBF860C-0055-4B4B-AA99-5EA18626EDE1}"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A7F8F62E-CF4B-4C43-A01C-2A401F1AE87D}"/>
              </a:ext>
            </a:extLst>
          </p:cNvPr>
          <p:cNvSpPr>
            <a:spLocks noGrp="1" noChangeArrowheads="1"/>
          </p:cNvSpPr>
          <p:nvPr>
            <p:ph type="title"/>
          </p:nvPr>
        </p:nvSpPr>
        <p:spPr/>
        <p:txBody>
          <a:bodyPr/>
          <a:lstStyle/>
          <a:p>
            <a:r>
              <a:rPr lang="en-US" altLang="zh-CN"/>
              <a:t>The Data Flow Style</a:t>
            </a:r>
          </a:p>
        </p:txBody>
      </p:sp>
      <p:sp>
        <p:nvSpPr>
          <p:cNvPr id="15364" name="Rectangle 3">
            <a:extLst>
              <a:ext uri="{FF2B5EF4-FFF2-40B4-BE49-F238E27FC236}">
                <a16:creationId xmlns:a16="http://schemas.microsoft.com/office/drawing/2014/main" id="{56507E79-E9F2-40F7-BC8F-C8AAA6372AA5}"/>
              </a:ext>
            </a:extLst>
          </p:cNvPr>
          <p:cNvSpPr>
            <a:spLocks noGrp="1" noChangeArrowheads="1"/>
          </p:cNvSpPr>
          <p:nvPr>
            <p:ph idx="1"/>
          </p:nvPr>
        </p:nvSpPr>
        <p:spPr/>
        <p:txBody>
          <a:bodyPr/>
          <a:lstStyle/>
          <a:p>
            <a:r>
              <a:rPr lang="en-US" altLang="zh-CN" dirty="0"/>
              <a:t>There are variety of variations on this genera theme:</a:t>
            </a:r>
          </a:p>
          <a:p>
            <a:pPr lvl="1"/>
            <a:r>
              <a:rPr lang="en-US" altLang="zh-CN" dirty="0"/>
              <a:t>how control is exerted (e.g., </a:t>
            </a:r>
            <a:r>
              <a:rPr lang="en-US" altLang="zh-CN" i="1" dirty="0"/>
              <a:t>push </a:t>
            </a:r>
            <a:r>
              <a:rPr lang="en-US" altLang="zh-CN" dirty="0"/>
              <a:t>versus </a:t>
            </a:r>
            <a:r>
              <a:rPr lang="en-US" altLang="zh-CN" i="1" dirty="0"/>
              <a:t>pull</a:t>
            </a:r>
            <a:r>
              <a:rPr lang="en-US" altLang="zh-CN" dirty="0"/>
              <a:t>)</a:t>
            </a:r>
            <a:br>
              <a:rPr lang="en-US" altLang="zh-CN" dirty="0"/>
            </a:br>
            <a:r>
              <a:rPr lang="zh-CN" altLang="en-US" dirty="0"/>
              <a:t>如何施加控制（比如：推还是拉）</a:t>
            </a:r>
          </a:p>
          <a:p>
            <a:pPr lvl="1"/>
            <a:r>
              <a:rPr lang="en-US" altLang="zh-CN" dirty="0"/>
              <a:t>degree of concurrency between processes</a:t>
            </a:r>
            <a:br>
              <a:rPr lang="en-US" altLang="zh-CN" dirty="0"/>
            </a:br>
            <a:r>
              <a:rPr lang="zh-CN" altLang="en-US" dirty="0"/>
              <a:t>并行的程度</a:t>
            </a:r>
          </a:p>
          <a:p>
            <a:pPr lvl="1"/>
            <a:r>
              <a:rPr lang="en-US" altLang="zh-CN" dirty="0"/>
              <a:t>topology</a:t>
            </a:r>
          </a:p>
        </p:txBody>
      </p:sp>
      <p:sp>
        <p:nvSpPr>
          <p:cNvPr id="15361" name="灯片编号占位符 3">
            <a:extLst>
              <a:ext uri="{FF2B5EF4-FFF2-40B4-BE49-F238E27FC236}">
                <a16:creationId xmlns:a16="http://schemas.microsoft.com/office/drawing/2014/main" id="{2D9413A8-D623-45D9-83E1-B9DA50D09A7C}"/>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F4B45FA-5CA1-46EF-95BA-A78EA0118ACB}" type="slidenum">
              <a:rPr lang="en-US" altLang="zh-CN">
                <a:latin typeface="Arial Black" panose="020B0A04020102020204" pitchFamily="34" charset="0"/>
              </a:rPr>
              <a:pPr eaLnBrk="1" hangingPunct="1">
                <a:buFont typeface="Arial" panose="020B0604020202020204" pitchFamily="34" charset="0"/>
                <a:buNone/>
              </a:pPr>
              <a:t>12</a:t>
            </a:fld>
            <a:endParaRPr lang="en-US" altLang="zh-CN">
              <a:latin typeface="Arial Black" panose="020B0A04020102020204" pitchFamily="34" charset="0"/>
            </a:endParaRPr>
          </a:p>
        </p:txBody>
      </p:sp>
      <p:sp>
        <p:nvSpPr>
          <p:cNvPr id="15362" name="日期占位符 4">
            <a:extLst>
              <a:ext uri="{FF2B5EF4-FFF2-40B4-BE49-F238E27FC236}">
                <a16:creationId xmlns:a16="http://schemas.microsoft.com/office/drawing/2014/main" id="{04654B54-7CDE-46FD-957A-5E5ED693EDC3}"/>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E157780-DE8D-42E2-9553-DAF238E61347}"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31684AE5-E24B-4CE0-8C5D-4A1A737B174D}"/>
              </a:ext>
            </a:extLst>
          </p:cNvPr>
          <p:cNvSpPr>
            <a:spLocks noGrp="1" noChangeArrowheads="1"/>
          </p:cNvSpPr>
          <p:nvPr>
            <p:ph type="title"/>
          </p:nvPr>
        </p:nvSpPr>
        <p:spPr/>
        <p:txBody>
          <a:bodyPr/>
          <a:lstStyle/>
          <a:p>
            <a:r>
              <a:rPr lang="en-US" altLang="zh-CN"/>
              <a:t>Data Flow Styles</a:t>
            </a:r>
          </a:p>
        </p:txBody>
      </p:sp>
      <p:sp>
        <p:nvSpPr>
          <p:cNvPr id="16388" name="Rectangle 3">
            <a:extLst>
              <a:ext uri="{FF2B5EF4-FFF2-40B4-BE49-F238E27FC236}">
                <a16:creationId xmlns:a16="http://schemas.microsoft.com/office/drawing/2014/main" id="{DA64E4D2-45FC-4EB1-A7F0-6F71B7DFD2E8}"/>
              </a:ext>
            </a:extLst>
          </p:cNvPr>
          <p:cNvSpPr>
            <a:spLocks noGrp="1" noChangeArrowheads="1"/>
          </p:cNvSpPr>
          <p:nvPr>
            <p:ph idx="1"/>
          </p:nvPr>
        </p:nvSpPr>
        <p:spPr/>
        <p:txBody>
          <a:bodyPr/>
          <a:lstStyle/>
          <a:p>
            <a:pPr>
              <a:lnSpc>
                <a:spcPct val="90000"/>
              </a:lnSpc>
            </a:pPr>
            <a:r>
              <a:rPr lang="en-US" altLang="zh-CN"/>
              <a:t>Components: Data Flow Components</a:t>
            </a:r>
          </a:p>
          <a:p>
            <a:pPr lvl="1">
              <a:lnSpc>
                <a:spcPct val="90000"/>
              </a:lnSpc>
            </a:pPr>
            <a:r>
              <a:rPr lang="en-US" altLang="zh-CN"/>
              <a:t>Interfaces are input ports and output ports</a:t>
            </a:r>
            <a:br>
              <a:rPr lang="en-US" altLang="zh-CN"/>
            </a:br>
            <a:r>
              <a:rPr lang="zh-CN" altLang="en-US"/>
              <a:t>组件接口是输入端口和输出端口</a:t>
            </a:r>
          </a:p>
          <a:p>
            <a:pPr lvl="1">
              <a:lnSpc>
                <a:spcPct val="90000"/>
              </a:lnSpc>
            </a:pPr>
            <a:r>
              <a:rPr lang="en-US" altLang="zh-CN"/>
              <a:t>Input ports read data; output ports write data</a:t>
            </a:r>
            <a:br>
              <a:rPr lang="en-US" altLang="zh-CN"/>
            </a:br>
            <a:r>
              <a:rPr lang="zh-CN" altLang="en-US"/>
              <a:t>从输入端口读数据，向输出端口写数据</a:t>
            </a:r>
          </a:p>
          <a:p>
            <a:pPr lvl="1">
              <a:lnSpc>
                <a:spcPct val="90000"/>
              </a:lnSpc>
            </a:pPr>
            <a:r>
              <a:rPr lang="en-US" altLang="zh-CN"/>
              <a:t>Computational model: read data from input ports, compute, write data to output ports</a:t>
            </a:r>
            <a:br>
              <a:rPr lang="en-US" altLang="zh-CN"/>
            </a:br>
            <a:r>
              <a:rPr lang="zh-CN" altLang="en-US"/>
              <a:t>计算模型：从入口读数，计算，然后写到出口</a:t>
            </a:r>
          </a:p>
        </p:txBody>
      </p:sp>
      <p:sp>
        <p:nvSpPr>
          <p:cNvPr id="16385" name="灯片编号占位符 3">
            <a:extLst>
              <a:ext uri="{FF2B5EF4-FFF2-40B4-BE49-F238E27FC236}">
                <a16:creationId xmlns:a16="http://schemas.microsoft.com/office/drawing/2014/main" id="{74A99E18-D54F-4D2F-9825-2CAD73AC8A1E}"/>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42EBBAC-B704-45F4-A002-1403768FE865}" type="slidenum">
              <a:rPr lang="en-US" altLang="zh-CN">
                <a:latin typeface="Arial Black" panose="020B0A04020102020204" pitchFamily="34" charset="0"/>
              </a:rPr>
              <a:pPr eaLnBrk="1" hangingPunct="1">
                <a:buFont typeface="Arial" panose="020B0604020202020204" pitchFamily="34" charset="0"/>
                <a:buNone/>
              </a:pPr>
              <a:t>13</a:t>
            </a:fld>
            <a:endParaRPr lang="en-US" altLang="zh-CN">
              <a:latin typeface="Arial Black" panose="020B0A04020102020204" pitchFamily="34" charset="0"/>
            </a:endParaRPr>
          </a:p>
        </p:txBody>
      </p:sp>
      <p:sp>
        <p:nvSpPr>
          <p:cNvPr id="16386" name="日期占位符 4">
            <a:extLst>
              <a:ext uri="{FF2B5EF4-FFF2-40B4-BE49-F238E27FC236}">
                <a16:creationId xmlns:a16="http://schemas.microsoft.com/office/drawing/2014/main" id="{20C935A2-FE3F-48BD-8E74-1EB64CB5DAFC}"/>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A92C3510-63A2-423D-A7C4-349FB2DCE8A5}"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B46FE8C9-75C7-433A-8C02-462868F156C7}"/>
              </a:ext>
            </a:extLst>
          </p:cNvPr>
          <p:cNvSpPr>
            <a:spLocks noGrp="1" noChangeArrowheads="1"/>
          </p:cNvSpPr>
          <p:nvPr>
            <p:ph type="title"/>
          </p:nvPr>
        </p:nvSpPr>
        <p:spPr/>
        <p:txBody>
          <a:bodyPr/>
          <a:lstStyle/>
          <a:p>
            <a:r>
              <a:rPr lang="en-US" altLang="zh-CN"/>
              <a:t>Data Flow Styles</a:t>
            </a:r>
          </a:p>
        </p:txBody>
      </p:sp>
      <p:sp>
        <p:nvSpPr>
          <p:cNvPr id="17412" name="Rectangle 3">
            <a:extLst>
              <a:ext uri="{FF2B5EF4-FFF2-40B4-BE49-F238E27FC236}">
                <a16:creationId xmlns:a16="http://schemas.microsoft.com/office/drawing/2014/main" id="{8710381E-8E8E-4738-90BE-51FBAF382D7C}"/>
              </a:ext>
            </a:extLst>
          </p:cNvPr>
          <p:cNvSpPr>
            <a:spLocks noGrp="1" noChangeArrowheads="1"/>
          </p:cNvSpPr>
          <p:nvPr>
            <p:ph idx="1"/>
          </p:nvPr>
        </p:nvSpPr>
        <p:spPr/>
        <p:txBody>
          <a:bodyPr/>
          <a:lstStyle/>
          <a:p>
            <a:pPr>
              <a:lnSpc>
                <a:spcPct val="80000"/>
              </a:lnSpc>
            </a:pPr>
            <a:r>
              <a:rPr lang="en-US" altLang="zh-CN" sz="2800"/>
              <a:t>Connectors: Data Streams</a:t>
            </a:r>
          </a:p>
          <a:p>
            <a:pPr lvl="1">
              <a:lnSpc>
                <a:spcPct val="80000"/>
              </a:lnSpc>
            </a:pPr>
            <a:r>
              <a:rPr lang="en-US" altLang="zh-CN" sz="2400"/>
              <a:t>Uni-directional</a:t>
            </a:r>
            <a:r>
              <a:rPr lang="zh-CN" altLang="en-US" sz="2400"/>
              <a:t>（单向）</a:t>
            </a:r>
          </a:p>
          <a:p>
            <a:pPr lvl="2">
              <a:lnSpc>
                <a:spcPct val="80000"/>
              </a:lnSpc>
            </a:pPr>
            <a:r>
              <a:rPr lang="en-US" altLang="zh-CN" sz="2000"/>
              <a:t>usually asynchronous, buffered </a:t>
            </a:r>
            <a:r>
              <a:rPr lang="zh-CN" altLang="en-US" sz="2000"/>
              <a:t>（通常是异步的，有缓冲）</a:t>
            </a:r>
          </a:p>
          <a:p>
            <a:pPr lvl="1">
              <a:lnSpc>
                <a:spcPct val="80000"/>
              </a:lnSpc>
            </a:pPr>
            <a:r>
              <a:rPr lang="en-US" altLang="zh-CN" sz="2400"/>
              <a:t>Interfaces are reader and writer roles</a:t>
            </a:r>
            <a:br>
              <a:rPr lang="en-US" altLang="zh-CN" sz="2400"/>
            </a:br>
            <a:r>
              <a:rPr lang="zh-CN" altLang="en-US" sz="2400"/>
              <a:t>接口是</a:t>
            </a:r>
            <a:r>
              <a:rPr lang="en-US" altLang="zh-CN" sz="2400"/>
              <a:t>reader</a:t>
            </a:r>
            <a:r>
              <a:rPr lang="zh-CN" altLang="en-US" sz="2400"/>
              <a:t>和</a:t>
            </a:r>
            <a:r>
              <a:rPr lang="en-US" altLang="zh-CN" sz="2400"/>
              <a:t>writer</a:t>
            </a:r>
          </a:p>
          <a:p>
            <a:pPr lvl="1">
              <a:lnSpc>
                <a:spcPct val="80000"/>
              </a:lnSpc>
            </a:pPr>
            <a:r>
              <a:rPr lang="zh-CN" altLang="en-US" sz="2400"/>
              <a:t>计算模型</a:t>
            </a:r>
            <a:r>
              <a:rPr lang="en-US" altLang="zh-CN" sz="2400"/>
              <a:t>: </a:t>
            </a:r>
            <a:r>
              <a:rPr lang="zh-CN" altLang="en-US" sz="2400"/>
              <a:t>把数据从</a:t>
            </a:r>
            <a:r>
              <a:rPr lang="en-US" altLang="zh-CN" sz="2400"/>
              <a:t>writer</a:t>
            </a:r>
            <a:r>
              <a:rPr lang="zh-CN" altLang="en-US" sz="2400"/>
              <a:t>转向</a:t>
            </a:r>
            <a:r>
              <a:rPr lang="en-US" altLang="zh-CN" sz="2400"/>
              <a:t>reader</a:t>
            </a:r>
          </a:p>
          <a:p>
            <a:pPr>
              <a:lnSpc>
                <a:spcPct val="80000"/>
              </a:lnSpc>
            </a:pPr>
            <a:r>
              <a:rPr lang="en-US" altLang="zh-CN" sz="2800"/>
              <a:t>Systems</a:t>
            </a:r>
          </a:p>
          <a:p>
            <a:pPr lvl="1">
              <a:lnSpc>
                <a:spcPct val="80000"/>
              </a:lnSpc>
            </a:pPr>
            <a:r>
              <a:rPr lang="en-US" altLang="zh-CN" sz="2400"/>
              <a:t>Arbitrary graphs</a:t>
            </a:r>
            <a:r>
              <a:rPr lang="zh-CN" altLang="en-US" sz="2400"/>
              <a:t>（任意拓扑结构）</a:t>
            </a:r>
          </a:p>
          <a:p>
            <a:pPr lvl="1">
              <a:lnSpc>
                <a:spcPct val="80000"/>
              </a:lnSpc>
            </a:pPr>
            <a:r>
              <a:rPr lang="en-US" altLang="zh-CN" sz="2400"/>
              <a:t>Computational model: functional composition</a:t>
            </a:r>
            <a:r>
              <a:rPr lang="zh-CN" altLang="en-US" sz="2400"/>
              <a:t>（计算模型</a:t>
            </a:r>
            <a:r>
              <a:rPr lang="en-US" altLang="zh-CN" sz="2400"/>
              <a:t>: </a:t>
            </a:r>
            <a:r>
              <a:rPr lang="zh-CN" altLang="en-US" sz="2400"/>
              <a:t>功能组合）</a:t>
            </a:r>
          </a:p>
        </p:txBody>
      </p:sp>
      <p:sp>
        <p:nvSpPr>
          <p:cNvPr id="17409" name="灯片编号占位符 3">
            <a:extLst>
              <a:ext uri="{FF2B5EF4-FFF2-40B4-BE49-F238E27FC236}">
                <a16:creationId xmlns:a16="http://schemas.microsoft.com/office/drawing/2014/main" id="{FA8BB3CC-7BFF-4A87-8A00-C083EA9C3C21}"/>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0D9668AD-992D-4BC7-929D-005846F08A8C}" type="slidenum">
              <a:rPr lang="en-US" altLang="zh-CN">
                <a:latin typeface="Arial Black" panose="020B0A04020102020204" pitchFamily="34" charset="0"/>
              </a:rPr>
              <a:pPr eaLnBrk="1" hangingPunct="1">
                <a:buFont typeface="Arial" panose="020B0604020202020204" pitchFamily="34" charset="0"/>
                <a:buNone/>
              </a:pPr>
              <a:t>14</a:t>
            </a:fld>
            <a:endParaRPr lang="en-US" altLang="zh-CN">
              <a:latin typeface="Arial Black" panose="020B0A04020102020204" pitchFamily="34" charset="0"/>
            </a:endParaRPr>
          </a:p>
        </p:txBody>
      </p:sp>
      <p:sp>
        <p:nvSpPr>
          <p:cNvPr id="17410" name="日期占位符 4">
            <a:extLst>
              <a:ext uri="{FF2B5EF4-FFF2-40B4-BE49-F238E27FC236}">
                <a16:creationId xmlns:a16="http://schemas.microsoft.com/office/drawing/2014/main" id="{156AF2FF-9F5F-4FBB-A6E0-82500A97C4C4}"/>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EC89CBA-D45F-4B35-82F0-B9BBF16DDB29}"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405A437F-1232-4751-85A6-0E6ED5F2C5F3}"/>
              </a:ext>
            </a:extLst>
          </p:cNvPr>
          <p:cNvSpPr>
            <a:spLocks noGrp="1" noChangeArrowheads="1"/>
          </p:cNvSpPr>
          <p:nvPr>
            <p:ph type="title"/>
          </p:nvPr>
        </p:nvSpPr>
        <p:spPr/>
        <p:txBody>
          <a:bodyPr/>
          <a:lstStyle/>
          <a:p>
            <a:r>
              <a:rPr lang="en-US" altLang="zh-CN" sz="4000"/>
              <a:t>Patterns of Data Flow in Systems</a:t>
            </a:r>
            <a:endParaRPr lang="en-US" altLang="zh-CN" sz="4000" b="0"/>
          </a:p>
        </p:txBody>
      </p:sp>
      <p:pic>
        <p:nvPicPr>
          <p:cNvPr id="18436" name="Picture 25">
            <a:extLst>
              <a:ext uri="{FF2B5EF4-FFF2-40B4-BE49-F238E27FC236}">
                <a16:creationId xmlns:a16="http://schemas.microsoft.com/office/drawing/2014/main" id="{32B2B73A-B5A3-42DF-BDE7-8A0E37DD1028}"/>
              </a:ext>
            </a:extLst>
          </p:cNvPr>
          <p:cNvPicPr>
            <a:picLocks noGrp="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533400" y="1773238"/>
            <a:ext cx="3462338" cy="1817687"/>
          </a:xfrm>
        </p:spPr>
      </p:pic>
      <p:graphicFrame>
        <p:nvGraphicFramePr>
          <p:cNvPr id="110670" name="Group 78">
            <a:extLst>
              <a:ext uri="{FF2B5EF4-FFF2-40B4-BE49-F238E27FC236}">
                <a16:creationId xmlns:a16="http://schemas.microsoft.com/office/drawing/2014/main" id="{E94B517A-D34E-4F6C-BB5F-667F027A7A3B}"/>
              </a:ext>
            </a:extLst>
          </p:cNvPr>
          <p:cNvGraphicFramePr>
            <a:graphicFrameLocks noGrp="1"/>
          </p:cNvGraphicFramePr>
          <p:nvPr>
            <p:ph sz="half" idx="2"/>
          </p:nvPr>
        </p:nvGraphicFramePr>
        <p:xfrm>
          <a:off x="4648200" y="1981200"/>
          <a:ext cx="4038600" cy="4486275"/>
        </p:xfrm>
        <a:graphic>
          <a:graphicData uri="http://schemas.openxmlformats.org/drawingml/2006/table">
            <a:tbl>
              <a:tblPr/>
              <a:tblGrid>
                <a:gridCol w="4038600">
                  <a:extLst>
                    <a:ext uri="{9D8B030D-6E8A-4147-A177-3AD203B41FA5}">
                      <a16:colId xmlns:a16="http://schemas.microsoft.com/office/drawing/2014/main" val="20000"/>
                    </a:ext>
                  </a:extLst>
                </a:gridCol>
              </a:tblGrid>
              <a:tr h="1303578">
                <a:tc>
                  <a:txBody>
                    <a:bodyPr/>
                    <a:lstStyle>
                      <a:lvl1pPr>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In general, data can flow in arbitrary patterns</a:t>
                      </a:r>
                      <a:r>
                        <a:rPr kumimoji="0" lang="zh-CN" altLang="en-US"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（一般情况，数据的流向无序）</a:t>
                      </a:r>
                    </a:p>
                  </a:txBody>
                  <a:tcPr marT="45728" marB="45728"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1627931">
                <a:tc>
                  <a:txBody>
                    <a:bodyPr/>
                    <a:lstStyle>
                      <a:lvl1pPr>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Often we are primarily</a:t>
                      </a: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interested in nearly linear data flow systems</a:t>
                      </a:r>
                      <a:r>
                        <a:rPr kumimoji="0" lang="zh-CN" altLang="en-US"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（我们主要研究近似线性数据流）</a:t>
                      </a:r>
                    </a:p>
                  </a:txBody>
                  <a:tcPr marT="45728" marB="45728"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r h="1554766">
                <a:tc>
                  <a:txBody>
                    <a:bodyPr/>
                    <a:lstStyle>
                      <a:lvl1pPr>
                        <a:spcBef>
                          <a:spcPct val="20000"/>
                        </a:spcBef>
                        <a:buClr>
                          <a:schemeClr val="bg2"/>
                        </a:buClr>
                        <a:buSzPct val="75000"/>
                        <a:buFont typeface="Wingdings" panose="05000000000000000000" pitchFamily="2" charset="2"/>
                        <a:defRPr sz="2800" b="1">
                          <a:solidFill>
                            <a:srgbClr val="3333FF"/>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b="1">
                          <a:solidFill>
                            <a:srgbClr val="FF3399"/>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or in very simple, highly constrained cyclic structures</a:t>
                      </a:r>
                      <a:r>
                        <a:rPr kumimoji="0" lang="zh-CN" altLang="en-US" sz="2400" b="1" i="0" u="none" strike="noStrike" cap="none" normalizeH="0" baseline="0">
                          <a:ln>
                            <a:noFill/>
                          </a:ln>
                          <a:solidFill>
                            <a:srgbClr val="3333FF"/>
                          </a:solidFill>
                          <a:effectLst/>
                          <a:latin typeface="Arial" panose="020B0604020202020204" pitchFamily="34" charset="0"/>
                          <a:ea typeface="宋体" panose="02010600030101010101" pitchFamily="2" charset="-122"/>
                        </a:rPr>
                        <a:t>（或者是在限度内的循环数据流）</a:t>
                      </a:r>
                    </a:p>
                  </a:txBody>
                  <a:tcPr marT="45728" marB="45728"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8434" name="日期占位符 5">
            <a:extLst>
              <a:ext uri="{FF2B5EF4-FFF2-40B4-BE49-F238E27FC236}">
                <a16:creationId xmlns:a16="http://schemas.microsoft.com/office/drawing/2014/main" id="{A8BE9271-45BC-41EF-905A-4E123F6E6DCD}"/>
              </a:ext>
            </a:extLst>
          </p:cNvPr>
          <p:cNvSpPr>
            <a:spLocks noGrp="1" noChangeArrowheads="1"/>
          </p:cNvSpPr>
          <p:nvPr>
            <p:ph type="dt" sz="half"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F3F95BC-29AD-4FD2-B182-62AA9BA229AC}" type="datetime1">
              <a:rPr lang="zh-CN" altLang="en-US"/>
              <a:pPr eaLnBrk="1" hangingPunct="1">
                <a:buFont typeface="Arial" panose="020B0604020202020204" pitchFamily="34" charset="0"/>
                <a:buNone/>
              </a:pPr>
              <a:t>2021/5/13</a:t>
            </a:fld>
            <a:endParaRPr lang="zh-CN" altLang="en-US"/>
          </a:p>
        </p:txBody>
      </p:sp>
      <p:sp>
        <p:nvSpPr>
          <p:cNvPr id="18433" name="灯片编号占位符 4">
            <a:extLst>
              <a:ext uri="{FF2B5EF4-FFF2-40B4-BE49-F238E27FC236}">
                <a16:creationId xmlns:a16="http://schemas.microsoft.com/office/drawing/2014/main" id="{2671B7C6-0BA0-448C-8E63-8B4E03AF5E6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F7793D9-7775-4A13-A147-37FE88F517EE}" type="slidenum">
              <a:rPr lang="en-US" altLang="zh-CN">
                <a:latin typeface="Arial Black" panose="020B0A04020102020204" pitchFamily="34" charset="0"/>
              </a:rPr>
              <a:pPr eaLnBrk="1" hangingPunct="1">
                <a:buFont typeface="Arial" panose="020B0604020202020204" pitchFamily="34" charset="0"/>
                <a:buNone/>
              </a:pPr>
              <a:t>15</a:t>
            </a:fld>
            <a:endParaRPr lang="en-US" altLang="zh-CN">
              <a:latin typeface="Arial Black" panose="020B0A04020102020204" pitchFamily="34" charset="0"/>
            </a:endParaRPr>
          </a:p>
        </p:txBody>
      </p:sp>
      <p:pic>
        <p:nvPicPr>
          <p:cNvPr id="18437" name="Picture 28">
            <a:extLst>
              <a:ext uri="{FF2B5EF4-FFF2-40B4-BE49-F238E27FC236}">
                <a16:creationId xmlns:a16="http://schemas.microsoft.com/office/drawing/2014/main" id="{1B9E04BD-F4C3-4864-B2D2-70E93F4080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429000"/>
            <a:ext cx="3463925"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438" name="Picture 31">
            <a:extLst>
              <a:ext uri="{FF2B5EF4-FFF2-40B4-BE49-F238E27FC236}">
                <a16:creationId xmlns:a16="http://schemas.microsoft.com/office/drawing/2014/main" id="{1280AAA8-81DC-4853-B89B-2D1C2DDBBF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4922838"/>
            <a:ext cx="2943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CED0B2EB-E797-446C-9392-CA061AA53285}"/>
              </a:ext>
            </a:extLst>
          </p:cNvPr>
          <p:cNvSpPr>
            <a:spLocks noGrp="1" noChangeArrowheads="1"/>
          </p:cNvSpPr>
          <p:nvPr>
            <p:ph type="title"/>
          </p:nvPr>
        </p:nvSpPr>
        <p:spPr/>
        <p:txBody>
          <a:bodyPr/>
          <a:lstStyle/>
          <a:p>
            <a:r>
              <a:rPr lang="en-US" altLang="zh-CN"/>
              <a:t>Control Flow vs. Data Flow</a:t>
            </a:r>
          </a:p>
        </p:txBody>
      </p:sp>
      <p:sp>
        <p:nvSpPr>
          <p:cNvPr id="20484" name="Rectangle 3">
            <a:extLst>
              <a:ext uri="{FF2B5EF4-FFF2-40B4-BE49-F238E27FC236}">
                <a16:creationId xmlns:a16="http://schemas.microsoft.com/office/drawing/2014/main" id="{EDD8B82B-35D0-4F83-B08E-2E1028B947EA}"/>
              </a:ext>
            </a:extLst>
          </p:cNvPr>
          <p:cNvSpPr>
            <a:spLocks noGrp="1" noChangeArrowheads="1"/>
          </p:cNvSpPr>
          <p:nvPr>
            <p:ph idx="1"/>
          </p:nvPr>
        </p:nvSpPr>
        <p:spPr/>
        <p:txBody>
          <a:bodyPr/>
          <a:lstStyle/>
          <a:p>
            <a:pPr>
              <a:lnSpc>
                <a:spcPct val="80000"/>
              </a:lnSpc>
            </a:pPr>
            <a:r>
              <a:rPr lang="en-US" altLang="zh-CN" sz="2800"/>
              <a:t>Control Flow (typical case in procedural systems)</a:t>
            </a:r>
          </a:p>
          <a:p>
            <a:pPr lvl="1">
              <a:lnSpc>
                <a:spcPct val="80000"/>
              </a:lnSpc>
            </a:pPr>
            <a:r>
              <a:rPr lang="en-US" altLang="zh-CN" sz="2400"/>
              <a:t>Dominant question is how locus of control moves through the program</a:t>
            </a:r>
            <a:br>
              <a:rPr lang="en-US" altLang="zh-CN" sz="2400"/>
            </a:br>
            <a:r>
              <a:rPr lang="zh-CN" altLang="en-US" sz="2400"/>
              <a:t>主要问题是控制点怎样在程序或系统之间移动</a:t>
            </a:r>
          </a:p>
          <a:p>
            <a:pPr lvl="1">
              <a:lnSpc>
                <a:spcPct val="80000"/>
              </a:lnSpc>
            </a:pPr>
            <a:r>
              <a:rPr lang="en-US" altLang="zh-CN" sz="2400"/>
              <a:t>Data may accompany the control but is not the driving force</a:t>
            </a:r>
            <a:br>
              <a:rPr lang="en-US" altLang="zh-CN" sz="2400"/>
            </a:br>
            <a:r>
              <a:rPr lang="zh-CN" altLang="en-US" sz="2400"/>
              <a:t>数据可能跟着控制走，但是并不起推动系统运转的作用</a:t>
            </a:r>
          </a:p>
          <a:p>
            <a:pPr lvl="1">
              <a:lnSpc>
                <a:spcPct val="80000"/>
              </a:lnSpc>
            </a:pPr>
            <a:r>
              <a:rPr lang="en-US" altLang="zh-CN" sz="2400"/>
              <a:t>Primary reasoning is about order of computation</a:t>
            </a:r>
            <a:br>
              <a:rPr lang="en-US" altLang="zh-CN" sz="2400"/>
            </a:br>
            <a:r>
              <a:rPr lang="zh-CN" altLang="en-US" sz="2400"/>
              <a:t>关注的核心是计算顺序</a:t>
            </a:r>
          </a:p>
        </p:txBody>
      </p:sp>
      <p:sp>
        <p:nvSpPr>
          <p:cNvPr id="20481" name="灯片编号占位符 3">
            <a:extLst>
              <a:ext uri="{FF2B5EF4-FFF2-40B4-BE49-F238E27FC236}">
                <a16:creationId xmlns:a16="http://schemas.microsoft.com/office/drawing/2014/main" id="{264AAD0A-DCAD-4CBE-A04D-992C39C75BCE}"/>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6A5A2E9-3F97-4703-AB47-B1126D517D44}" type="slidenum">
              <a:rPr lang="en-US" altLang="zh-CN">
                <a:latin typeface="Arial Black" panose="020B0A04020102020204" pitchFamily="34" charset="0"/>
              </a:rPr>
              <a:pPr eaLnBrk="1" hangingPunct="1">
                <a:buFont typeface="Arial" panose="020B0604020202020204" pitchFamily="34" charset="0"/>
                <a:buNone/>
              </a:pPr>
              <a:t>16</a:t>
            </a:fld>
            <a:endParaRPr lang="en-US" altLang="zh-CN">
              <a:latin typeface="Arial Black" panose="020B0A04020102020204" pitchFamily="34" charset="0"/>
            </a:endParaRPr>
          </a:p>
        </p:txBody>
      </p:sp>
      <p:sp>
        <p:nvSpPr>
          <p:cNvPr id="20482" name="日期占位符 4">
            <a:extLst>
              <a:ext uri="{FF2B5EF4-FFF2-40B4-BE49-F238E27FC236}">
                <a16:creationId xmlns:a16="http://schemas.microsoft.com/office/drawing/2014/main" id="{37CFCAA5-DE05-4B1C-BD81-A29EDF93E57E}"/>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BAD32AE-3ED7-4DD5-850F-F5FB8D4923D0}"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a16="http://schemas.microsoft.com/office/drawing/2014/main" id="{4C71B077-AC4E-49B6-A82B-A871C575962A}"/>
              </a:ext>
            </a:extLst>
          </p:cNvPr>
          <p:cNvSpPr>
            <a:spLocks noGrp="1" noChangeArrowheads="1"/>
          </p:cNvSpPr>
          <p:nvPr>
            <p:ph type="title"/>
          </p:nvPr>
        </p:nvSpPr>
        <p:spPr/>
        <p:txBody>
          <a:bodyPr/>
          <a:lstStyle/>
          <a:p>
            <a:r>
              <a:rPr lang="en-US" altLang="zh-CN"/>
              <a:t>Control Flow vs. Data Flow</a:t>
            </a:r>
          </a:p>
        </p:txBody>
      </p:sp>
      <p:sp>
        <p:nvSpPr>
          <p:cNvPr id="22532" name="Rectangle 3">
            <a:extLst>
              <a:ext uri="{FF2B5EF4-FFF2-40B4-BE49-F238E27FC236}">
                <a16:creationId xmlns:a16="http://schemas.microsoft.com/office/drawing/2014/main" id="{7C7228AA-9FC4-444E-928F-D6DC9251EEAB}"/>
              </a:ext>
            </a:extLst>
          </p:cNvPr>
          <p:cNvSpPr>
            <a:spLocks noGrp="1" noChangeArrowheads="1"/>
          </p:cNvSpPr>
          <p:nvPr>
            <p:ph idx="1"/>
          </p:nvPr>
        </p:nvSpPr>
        <p:spPr/>
        <p:txBody>
          <a:bodyPr/>
          <a:lstStyle/>
          <a:p>
            <a:r>
              <a:rPr lang="en-US" altLang="zh-CN" sz="2800" dirty="0"/>
              <a:t>Data Flow</a:t>
            </a:r>
            <a:endParaRPr lang="en-US" altLang="zh-CN" sz="2800" b="0" dirty="0"/>
          </a:p>
          <a:p>
            <a:pPr lvl="1"/>
            <a:r>
              <a:rPr lang="en-US" altLang="zh-CN" sz="2400" dirty="0"/>
              <a:t>Dominant question is how data moves through a collection of (atomic) computations</a:t>
            </a:r>
            <a:br>
              <a:rPr lang="en-US" altLang="zh-CN" sz="2400" dirty="0"/>
            </a:br>
            <a:r>
              <a:rPr lang="zh-CN" altLang="en-US" sz="2400" dirty="0"/>
              <a:t>主要问题是数据怎样在运算单元之间流动</a:t>
            </a:r>
          </a:p>
          <a:p>
            <a:pPr lvl="1"/>
            <a:r>
              <a:rPr lang="en-US" altLang="zh-CN" sz="2400" dirty="0"/>
              <a:t>As data moves, control is “activated”</a:t>
            </a:r>
            <a:br>
              <a:rPr lang="en-US" altLang="zh-CN" sz="2400" dirty="0"/>
            </a:br>
            <a:r>
              <a:rPr lang="zh-CN" altLang="en-US" sz="2400" dirty="0"/>
              <a:t>数据到了，控制（计算）单元便开始工作</a:t>
            </a:r>
          </a:p>
          <a:p>
            <a:pPr lvl="1"/>
            <a:r>
              <a:rPr lang="en-US" altLang="zh-CN" sz="2400" dirty="0"/>
              <a:t>We reason about data availability, transformations, latency,…</a:t>
            </a:r>
            <a:br>
              <a:rPr lang="en-US" altLang="zh-CN" sz="2400" dirty="0"/>
            </a:br>
            <a:r>
              <a:rPr lang="zh-CN" altLang="en-US" sz="2400" dirty="0"/>
              <a:t>我们关心数据是否可用，转换，延迟</a:t>
            </a:r>
            <a:r>
              <a:rPr lang="en-US" altLang="zh-CN" sz="2400" dirty="0"/>
              <a:t>……</a:t>
            </a:r>
          </a:p>
        </p:txBody>
      </p:sp>
      <p:sp>
        <p:nvSpPr>
          <p:cNvPr id="22529" name="灯片编号占位符 3">
            <a:extLst>
              <a:ext uri="{FF2B5EF4-FFF2-40B4-BE49-F238E27FC236}">
                <a16:creationId xmlns:a16="http://schemas.microsoft.com/office/drawing/2014/main" id="{64A0DB15-08AC-4052-9DAF-834438D7B4ED}"/>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A06996A-8FAD-4F67-A905-3F6805F32F74}" type="slidenum">
              <a:rPr lang="en-US" altLang="zh-CN">
                <a:latin typeface="Arial Black" panose="020B0A04020102020204" pitchFamily="34" charset="0"/>
              </a:rPr>
              <a:pPr eaLnBrk="1" hangingPunct="1">
                <a:buFont typeface="Arial" panose="020B0604020202020204" pitchFamily="34" charset="0"/>
                <a:buNone/>
              </a:pPr>
              <a:t>17</a:t>
            </a:fld>
            <a:endParaRPr lang="en-US" altLang="zh-CN">
              <a:latin typeface="Arial Black" panose="020B0A04020102020204" pitchFamily="34" charset="0"/>
            </a:endParaRPr>
          </a:p>
        </p:txBody>
      </p:sp>
      <p:sp>
        <p:nvSpPr>
          <p:cNvPr id="22530" name="日期占位符 4">
            <a:extLst>
              <a:ext uri="{FF2B5EF4-FFF2-40B4-BE49-F238E27FC236}">
                <a16:creationId xmlns:a16="http://schemas.microsoft.com/office/drawing/2014/main" id="{C4D49241-3DA1-4ADE-BC48-D23521E2B5D0}"/>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304C093-E80E-4324-9A1F-66FF0839BCCF}"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572F02-55E6-47B9-9A17-C92FF31EAE25}"/>
              </a:ext>
            </a:extLst>
          </p:cNvPr>
          <p:cNvSpPr>
            <a:spLocks noGrp="1"/>
          </p:cNvSpPr>
          <p:nvPr>
            <p:ph type="title"/>
          </p:nvPr>
        </p:nvSpPr>
        <p:spPr/>
        <p:txBody>
          <a:bodyPr/>
          <a:lstStyle/>
          <a:p>
            <a:r>
              <a:rPr lang="zh-CN" altLang="en-US" dirty="0"/>
              <a:t>数据流风格</a:t>
            </a:r>
          </a:p>
        </p:txBody>
      </p:sp>
      <p:sp>
        <p:nvSpPr>
          <p:cNvPr id="3" name="内容占位符 2">
            <a:extLst>
              <a:ext uri="{FF2B5EF4-FFF2-40B4-BE49-F238E27FC236}">
                <a16:creationId xmlns:a16="http://schemas.microsoft.com/office/drawing/2014/main" id="{8D04FD21-6609-4789-A663-B96678378AAB}"/>
              </a:ext>
            </a:extLst>
          </p:cNvPr>
          <p:cNvSpPr>
            <a:spLocks noGrp="1"/>
          </p:cNvSpPr>
          <p:nvPr>
            <p:ph idx="1"/>
          </p:nvPr>
        </p:nvSpPr>
        <p:spPr/>
        <p:txBody>
          <a:bodyPr/>
          <a:lstStyle/>
          <a:p>
            <a:r>
              <a:rPr lang="zh-CN" altLang="en-US" dirty="0"/>
              <a:t>数据流风格软件系统被看作</a:t>
            </a:r>
            <a:endParaRPr lang="en-US" altLang="zh-CN" dirty="0"/>
          </a:p>
          <a:p>
            <a:pPr lvl="1"/>
            <a:r>
              <a:rPr lang="zh-CN" altLang="en-US" dirty="0"/>
              <a:t>由一些系列作用于数据集合上的“变换”组件组成</a:t>
            </a:r>
            <a:endParaRPr lang="en-US" altLang="zh-CN" dirty="0"/>
          </a:p>
          <a:p>
            <a:pPr lvl="1"/>
            <a:r>
              <a:rPr lang="zh-CN" altLang="en-US" dirty="0"/>
              <a:t>这些组件相互独立，可重复使用，可并发执行</a:t>
            </a:r>
            <a:endParaRPr lang="en-US" altLang="zh-CN" dirty="0"/>
          </a:p>
          <a:p>
            <a:pPr lvl="1"/>
            <a:r>
              <a:rPr lang="zh-CN" altLang="en-US" dirty="0"/>
              <a:t>不存在全局控制组件的行为</a:t>
            </a:r>
            <a:endParaRPr lang="en-US" altLang="zh-CN" dirty="0"/>
          </a:p>
          <a:p>
            <a:r>
              <a:rPr lang="zh-CN" altLang="en-US" dirty="0"/>
              <a:t>软件工程师关注点</a:t>
            </a:r>
            <a:endParaRPr lang="en-US" altLang="zh-CN" dirty="0"/>
          </a:p>
          <a:p>
            <a:pPr lvl="1"/>
            <a:r>
              <a:rPr lang="zh-CN" altLang="en-US" dirty="0"/>
              <a:t>数据如何流动</a:t>
            </a:r>
            <a:endParaRPr lang="en-US" altLang="zh-CN" dirty="0"/>
          </a:p>
          <a:p>
            <a:pPr lvl="1"/>
            <a:r>
              <a:rPr lang="zh-CN" altLang="en-US"/>
              <a:t>数据的可用性、变换和延迟</a:t>
            </a:r>
            <a:endParaRPr lang="zh-CN" altLang="en-US" dirty="0"/>
          </a:p>
        </p:txBody>
      </p:sp>
    </p:spTree>
    <p:extLst>
      <p:ext uri="{BB962C8B-B14F-4D97-AF65-F5344CB8AC3E}">
        <p14:creationId xmlns:p14="http://schemas.microsoft.com/office/powerpoint/2010/main" val="3920406683"/>
      </p:ext>
    </p:extLst>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a:extLst>
              <a:ext uri="{FF2B5EF4-FFF2-40B4-BE49-F238E27FC236}">
                <a16:creationId xmlns:a16="http://schemas.microsoft.com/office/drawing/2014/main" id="{68AAE6C1-CCEE-4E73-8322-7D38F6F6514D}"/>
              </a:ext>
            </a:extLst>
          </p:cNvPr>
          <p:cNvSpPr>
            <a:spLocks noGrp="1" noChangeArrowheads="1"/>
          </p:cNvSpPr>
          <p:nvPr>
            <p:ph type="title"/>
          </p:nvPr>
        </p:nvSpPr>
        <p:spPr/>
        <p:txBody>
          <a:bodyPr/>
          <a:lstStyle/>
          <a:p>
            <a:r>
              <a:rPr lang="en-US" altLang="zh-CN"/>
              <a:t>Three Examples of Data Flow</a:t>
            </a:r>
            <a:endParaRPr lang="en-US" altLang="zh-CN" b="0"/>
          </a:p>
        </p:txBody>
      </p:sp>
      <p:sp>
        <p:nvSpPr>
          <p:cNvPr id="24580" name="Rectangle 3">
            <a:extLst>
              <a:ext uri="{FF2B5EF4-FFF2-40B4-BE49-F238E27FC236}">
                <a16:creationId xmlns:a16="http://schemas.microsoft.com/office/drawing/2014/main" id="{CF4267B7-468F-44C8-AE06-0359728D999C}"/>
              </a:ext>
            </a:extLst>
          </p:cNvPr>
          <p:cNvSpPr>
            <a:spLocks noGrp="1" noChangeArrowheads="1"/>
          </p:cNvSpPr>
          <p:nvPr>
            <p:ph idx="1"/>
          </p:nvPr>
        </p:nvSpPr>
        <p:spPr/>
        <p:txBody>
          <a:bodyPr/>
          <a:lstStyle/>
          <a:p>
            <a:r>
              <a:rPr lang="en-US" altLang="zh-CN" i="1" dirty="0">
                <a:solidFill>
                  <a:srgbClr val="FF3399"/>
                </a:solidFill>
              </a:rPr>
              <a:t>Batch Sequential</a:t>
            </a:r>
            <a:r>
              <a:rPr lang="zh-CN" altLang="en-US" i="1" dirty="0">
                <a:solidFill>
                  <a:srgbClr val="FF3399"/>
                </a:solidFill>
              </a:rPr>
              <a:t>（顺序批处理）</a:t>
            </a:r>
          </a:p>
          <a:p>
            <a:r>
              <a:rPr lang="en-US" altLang="zh-CN" dirty="0"/>
              <a:t>Pipe-and-Filter</a:t>
            </a:r>
            <a:r>
              <a:rPr lang="zh-CN" altLang="en-US" dirty="0"/>
              <a:t>（管道过滤器）</a:t>
            </a:r>
          </a:p>
          <a:p>
            <a:r>
              <a:rPr lang="en-US" altLang="zh-CN" dirty="0"/>
              <a:t>Process Control</a:t>
            </a:r>
            <a:r>
              <a:rPr lang="zh-CN" altLang="en-US" dirty="0"/>
              <a:t>（控制）</a:t>
            </a:r>
          </a:p>
        </p:txBody>
      </p:sp>
      <p:sp>
        <p:nvSpPr>
          <p:cNvPr id="24577" name="灯片编号占位符 3">
            <a:extLst>
              <a:ext uri="{FF2B5EF4-FFF2-40B4-BE49-F238E27FC236}">
                <a16:creationId xmlns:a16="http://schemas.microsoft.com/office/drawing/2014/main" id="{333FF2F0-2F58-4E06-B092-00D75985552B}"/>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42B00FD-D287-43C0-B934-47403B69B5C2}" type="slidenum">
              <a:rPr lang="en-US" altLang="zh-CN">
                <a:latin typeface="Arial Black" panose="020B0A04020102020204" pitchFamily="34" charset="0"/>
              </a:rPr>
              <a:pPr eaLnBrk="1" hangingPunct="1">
                <a:buFont typeface="Arial" panose="020B0604020202020204" pitchFamily="34" charset="0"/>
                <a:buNone/>
              </a:pPr>
              <a:t>19</a:t>
            </a:fld>
            <a:endParaRPr lang="en-US" altLang="zh-CN">
              <a:latin typeface="Arial Black" panose="020B0A04020102020204" pitchFamily="34" charset="0"/>
            </a:endParaRPr>
          </a:p>
        </p:txBody>
      </p:sp>
      <p:sp>
        <p:nvSpPr>
          <p:cNvPr id="24578" name="日期占位符 4">
            <a:extLst>
              <a:ext uri="{FF2B5EF4-FFF2-40B4-BE49-F238E27FC236}">
                <a16:creationId xmlns:a16="http://schemas.microsoft.com/office/drawing/2014/main" id="{55123F7E-06F8-457E-A2FE-5229B4CD46FF}"/>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8B74B8A-06B3-4A19-87DD-DE97DF467497}"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853A94-6651-4EB3-B650-FB09944535A2}"/>
              </a:ext>
            </a:extLst>
          </p:cNvPr>
          <p:cNvSpPr>
            <a:spLocks noGrp="1"/>
          </p:cNvSpPr>
          <p:nvPr>
            <p:ph type="title"/>
          </p:nvPr>
        </p:nvSpPr>
        <p:spPr/>
        <p:txBody>
          <a:bodyPr/>
          <a:lstStyle/>
          <a:p>
            <a:r>
              <a:rPr lang="zh-CN" altLang="en-US" dirty="0"/>
              <a:t>顺序批处理</a:t>
            </a:r>
          </a:p>
        </p:txBody>
      </p:sp>
      <p:pic>
        <p:nvPicPr>
          <p:cNvPr id="4" name="图片 3">
            <a:extLst>
              <a:ext uri="{FF2B5EF4-FFF2-40B4-BE49-F238E27FC236}">
                <a16:creationId xmlns:a16="http://schemas.microsoft.com/office/drawing/2014/main" id="{895C39F7-6ECB-4583-9FBE-B8476A816583}"/>
              </a:ext>
            </a:extLst>
          </p:cNvPr>
          <p:cNvPicPr>
            <a:picLocks noChangeAspect="1"/>
          </p:cNvPicPr>
          <p:nvPr/>
        </p:nvPicPr>
        <p:blipFill>
          <a:blip r:embed="rId2"/>
          <a:stretch>
            <a:fillRect/>
          </a:stretch>
        </p:blipFill>
        <p:spPr>
          <a:xfrm>
            <a:off x="0" y="1405173"/>
            <a:ext cx="9144000" cy="3026352"/>
          </a:xfrm>
          <a:prstGeom prst="rect">
            <a:avLst/>
          </a:prstGeom>
        </p:spPr>
      </p:pic>
      <p:pic>
        <p:nvPicPr>
          <p:cNvPr id="5" name="图片 4">
            <a:extLst>
              <a:ext uri="{FF2B5EF4-FFF2-40B4-BE49-F238E27FC236}">
                <a16:creationId xmlns:a16="http://schemas.microsoft.com/office/drawing/2014/main" id="{3385E19A-A15E-43CB-9750-FC9748E155CD}"/>
              </a:ext>
            </a:extLst>
          </p:cNvPr>
          <p:cNvPicPr>
            <a:picLocks noChangeAspect="1"/>
          </p:cNvPicPr>
          <p:nvPr/>
        </p:nvPicPr>
        <p:blipFill>
          <a:blip r:embed="rId3"/>
          <a:stretch>
            <a:fillRect/>
          </a:stretch>
        </p:blipFill>
        <p:spPr>
          <a:xfrm>
            <a:off x="0" y="4511136"/>
            <a:ext cx="9144000" cy="2115160"/>
          </a:xfrm>
          <a:prstGeom prst="rect">
            <a:avLst/>
          </a:prstGeom>
        </p:spPr>
      </p:pic>
      <p:pic>
        <p:nvPicPr>
          <p:cNvPr id="7" name="内容占位符 6">
            <a:extLst>
              <a:ext uri="{FF2B5EF4-FFF2-40B4-BE49-F238E27FC236}">
                <a16:creationId xmlns:a16="http://schemas.microsoft.com/office/drawing/2014/main" id="{BA7F89E5-AE36-48CD-9CA3-3E11F66EB493}"/>
              </a:ext>
            </a:extLst>
          </p:cNvPr>
          <p:cNvPicPr>
            <a:picLocks noGrp="1" noChangeAspect="1"/>
          </p:cNvPicPr>
          <p:nvPr>
            <p:ph idx="1"/>
          </p:nvPr>
        </p:nvPicPr>
        <p:blipFill>
          <a:blip r:embed="rId4">
            <a:extLst>
              <a:ext uri="{28A0092B-C50C-407E-A947-70E740481C1C}">
                <a14:useLocalDpi xmlns:a14="http://schemas.microsoft.com/office/drawing/2010/main"/>
              </a:ext>
            </a:extLst>
          </a:blip>
          <a:stretch>
            <a:fillRect/>
          </a:stretch>
        </p:blipFill>
        <p:spPr>
          <a:xfrm>
            <a:off x="4982219" y="80187"/>
            <a:ext cx="4134337" cy="3348813"/>
          </a:xfrm>
        </p:spPr>
      </p:pic>
      <p:pic>
        <p:nvPicPr>
          <p:cNvPr id="38914" name="Picture 2" descr="http://www.columbia.edu/cu/computinghistory/cu7094.jpg">
            <a:extLst>
              <a:ext uri="{FF2B5EF4-FFF2-40B4-BE49-F238E27FC236}">
                <a16:creationId xmlns:a16="http://schemas.microsoft.com/office/drawing/2014/main" id="{59B444CB-D2AC-4FF0-BB12-A22107939DB0}"/>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688572" y="3861048"/>
            <a:ext cx="4427984" cy="2341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501690"/>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38914"/>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7FDA6D-84BC-4AF9-832E-39565C551166}"/>
              </a:ext>
            </a:extLst>
          </p:cNvPr>
          <p:cNvSpPr>
            <a:spLocks noGrp="1"/>
          </p:cNvSpPr>
          <p:nvPr>
            <p:ph type="title"/>
          </p:nvPr>
        </p:nvSpPr>
        <p:spPr/>
        <p:txBody>
          <a:bodyPr/>
          <a:lstStyle/>
          <a:p>
            <a:r>
              <a:rPr lang="zh-CN" altLang="en-US" dirty="0"/>
              <a:t>顺序批处理定义</a:t>
            </a:r>
          </a:p>
        </p:txBody>
      </p:sp>
      <p:sp>
        <p:nvSpPr>
          <p:cNvPr id="3" name="内容占位符 2">
            <a:extLst>
              <a:ext uri="{FF2B5EF4-FFF2-40B4-BE49-F238E27FC236}">
                <a16:creationId xmlns:a16="http://schemas.microsoft.com/office/drawing/2014/main" id="{95315653-8F82-4746-A38F-85EA023D0875}"/>
              </a:ext>
            </a:extLst>
          </p:cNvPr>
          <p:cNvSpPr>
            <a:spLocks noGrp="1"/>
          </p:cNvSpPr>
          <p:nvPr>
            <p:ph idx="1"/>
          </p:nvPr>
        </p:nvSpPr>
        <p:spPr/>
        <p:txBody>
          <a:bodyPr/>
          <a:lstStyle/>
          <a:p>
            <a:r>
              <a:rPr lang="zh-CN" altLang="en-US" dirty="0"/>
              <a:t>顺序批处理过程由一些有序的处理步骤组成，这些步骤之间通过存储设备（如磁带、磁盘）衔接在一起</a:t>
            </a:r>
            <a:endParaRPr lang="en-US" altLang="zh-CN" dirty="0"/>
          </a:p>
          <a:p>
            <a:r>
              <a:rPr lang="zh-CN" altLang="en-US" dirty="0"/>
              <a:t>每个处理步骤对于输入存储设备上的数据进行一定的处理（可能是获取有用信息或者对数据内容进行修改），并将处理结果写到下游存储设备</a:t>
            </a:r>
            <a:endParaRPr lang="en-US" altLang="zh-CN" dirty="0"/>
          </a:p>
          <a:p>
            <a:endParaRPr lang="zh-CN" altLang="en-US" dirty="0"/>
          </a:p>
        </p:txBody>
      </p:sp>
    </p:spTree>
    <p:extLst>
      <p:ext uri="{BB962C8B-B14F-4D97-AF65-F5344CB8AC3E}">
        <p14:creationId xmlns:p14="http://schemas.microsoft.com/office/powerpoint/2010/main" val="846925606"/>
      </p:ext>
    </p:extLst>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492012FB-0B01-42E4-BBF1-48523F61A04C}"/>
              </a:ext>
            </a:extLst>
          </p:cNvPr>
          <p:cNvSpPr>
            <a:spLocks noGrp="1" noChangeArrowheads="1"/>
          </p:cNvSpPr>
          <p:nvPr>
            <p:ph type="title"/>
          </p:nvPr>
        </p:nvSpPr>
        <p:spPr/>
        <p:txBody>
          <a:bodyPr/>
          <a:lstStyle/>
          <a:p>
            <a:r>
              <a:rPr lang="zh-CN" altLang="en-US" sz="4000" dirty="0"/>
              <a:t>顺序批处理特征</a:t>
            </a:r>
            <a:endParaRPr lang="en-US" altLang="zh-CN" sz="4000" dirty="0"/>
          </a:p>
        </p:txBody>
      </p:sp>
      <p:sp>
        <p:nvSpPr>
          <p:cNvPr id="26628" name="Rectangle 3">
            <a:extLst>
              <a:ext uri="{FF2B5EF4-FFF2-40B4-BE49-F238E27FC236}">
                <a16:creationId xmlns:a16="http://schemas.microsoft.com/office/drawing/2014/main" id="{DBAE2FD8-8D9E-437C-9EF8-C8B470F85609}"/>
              </a:ext>
            </a:extLst>
          </p:cNvPr>
          <p:cNvSpPr>
            <a:spLocks noGrp="1" noChangeArrowheads="1"/>
          </p:cNvSpPr>
          <p:nvPr>
            <p:ph idx="1"/>
          </p:nvPr>
        </p:nvSpPr>
        <p:spPr>
          <a:xfrm>
            <a:off x="4724400" y="1981200"/>
            <a:ext cx="4240088" cy="3968080"/>
          </a:xfrm>
        </p:spPr>
        <p:txBody>
          <a:bodyPr/>
          <a:lstStyle/>
          <a:p>
            <a:pPr>
              <a:lnSpc>
                <a:spcPct val="90000"/>
              </a:lnSpc>
            </a:pPr>
            <a:r>
              <a:rPr lang="zh-CN" altLang="en-US" sz="2000" dirty="0"/>
              <a:t>每个处理步骤是一个独立的程序</a:t>
            </a:r>
          </a:p>
          <a:p>
            <a:pPr>
              <a:lnSpc>
                <a:spcPct val="90000"/>
              </a:lnSpc>
            </a:pPr>
            <a:r>
              <a:rPr lang="zh-CN" altLang="en-US" sz="2000" dirty="0"/>
              <a:t>每一步必须在前一步结束后才能开始</a:t>
            </a:r>
          </a:p>
          <a:p>
            <a:pPr>
              <a:lnSpc>
                <a:spcPct val="90000"/>
              </a:lnSpc>
            </a:pPr>
            <a:r>
              <a:rPr lang="zh-CN" altLang="en-US" sz="2000" dirty="0"/>
              <a:t>数据必须是完整的，以整体的方式传递</a:t>
            </a:r>
            <a:endParaRPr lang="en-US" altLang="zh-CN" sz="2000" dirty="0"/>
          </a:p>
          <a:p>
            <a:pPr>
              <a:lnSpc>
                <a:spcPct val="90000"/>
              </a:lnSpc>
            </a:pPr>
            <a:r>
              <a:rPr lang="zh-CN" altLang="en-US" sz="2000" dirty="0"/>
              <a:t>由于组件顺序执行，不必对组件进行额外的同步处理</a:t>
            </a:r>
            <a:endParaRPr lang="en-US" altLang="zh-CN" sz="2000" dirty="0"/>
          </a:p>
          <a:p>
            <a:pPr>
              <a:lnSpc>
                <a:spcPct val="90000"/>
              </a:lnSpc>
            </a:pPr>
            <a:r>
              <a:rPr lang="zh-CN" altLang="en-US" sz="2000" dirty="0"/>
              <a:t>性能较差</a:t>
            </a:r>
            <a:endParaRPr lang="en-US" altLang="zh-CN" sz="2000" dirty="0"/>
          </a:p>
          <a:p>
            <a:pPr>
              <a:lnSpc>
                <a:spcPct val="90000"/>
              </a:lnSpc>
            </a:pPr>
            <a:r>
              <a:rPr lang="zh-CN" altLang="en-US" sz="2000" dirty="0"/>
              <a:t>不适用于要求对数据进行实时处理的系统</a:t>
            </a:r>
          </a:p>
        </p:txBody>
      </p:sp>
      <p:sp>
        <p:nvSpPr>
          <p:cNvPr id="26625" name="灯片编号占位符 3">
            <a:extLst>
              <a:ext uri="{FF2B5EF4-FFF2-40B4-BE49-F238E27FC236}">
                <a16:creationId xmlns:a16="http://schemas.microsoft.com/office/drawing/2014/main" id="{E99ED4D6-609A-4CE6-A4F5-7DBDB00259FF}"/>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32DDA5F-CCB4-430E-9E29-34D3DE4F1ADE}" type="slidenum">
              <a:rPr lang="en-US" altLang="zh-CN">
                <a:latin typeface="Arial Black" panose="020B0A04020102020204" pitchFamily="34" charset="0"/>
              </a:rPr>
              <a:pPr eaLnBrk="1" hangingPunct="1">
                <a:buFont typeface="Arial" panose="020B0604020202020204" pitchFamily="34" charset="0"/>
                <a:buNone/>
              </a:pPr>
              <a:t>22</a:t>
            </a:fld>
            <a:endParaRPr lang="en-US" altLang="zh-CN">
              <a:latin typeface="Arial Black" panose="020B0A04020102020204" pitchFamily="34" charset="0"/>
            </a:endParaRPr>
          </a:p>
        </p:txBody>
      </p:sp>
      <p:sp>
        <p:nvSpPr>
          <p:cNvPr id="26626" name="日期占位符 4">
            <a:extLst>
              <a:ext uri="{FF2B5EF4-FFF2-40B4-BE49-F238E27FC236}">
                <a16:creationId xmlns:a16="http://schemas.microsoft.com/office/drawing/2014/main" id="{67155A47-DA72-48A7-989C-5DEB0C867F5A}"/>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720427C0-005F-4EB0-B2FC-90B438BB1674}" type="datetime1">
              <a:rPr lang="zh-CN" altLang="en-US"/>
              <a:pPr eaLnBrk="1" hangingPunct="1">
                <a:buFont typeface="Arial" panose="020B0604020202020204" pitchFamily="34" charset="0"/>
                <a:buNone/>
              </a:pPr>
              <a:t>2021/5/13</a:t>
            </a:fld>
            <a:endParaRPr lang="zh-CN" altLang="en-US"/>
          </a:p>
        </p:txBody>
      </p:sp>
      <p:pic>
        <p:nvPicPr>
          <p:cNvPr id="26629" name="Picture 4">
            <a:extLst>
              <a:ext uri="{FF2B5EF4-FFF2-40B4-BE49-F238E27FC236}">
                <a16:creationId xmlns:a16="http://schemas.microsoft.com/office/drawing/2014/main" id="{26C1FB53-13EB-490D-8448-0064819637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81200"/>
            <a:ext cx="472440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89DFA-85DA-49E8-B379-BE51DBB124AF}"/>
              </a:ext>
            </a:extLst>
          </p:cNvPr>
          <p:cNvSpPr>
            <a:spLocks noGrp="1"/>
          </p:cNvSpPr>
          <p:nvPr>
            <p:ph type="title"/>
          </p:nvPr>
        </p:nvSpPr>
        <p:spPr/>
        <p:txBody>
          <a:bodyPr/>
          <a:lstStyle/>
          <a:p>
            <a:r>
              <a:rPr lang="zh-CN" altLang="en-US" dirty="0"/>
              <a:t>顺序批处理实例</a:t>
            </a:r>
          </a:p>
        </p:txBody>
      </p:sp>
      <p:sp>
        <p:nvSpPr>
          <p:cNvPr id="3" name="内容占位符 2">
            <a:extLst>
              <a:ext uri="{FF2B5EF4-FFF2-40B4-BE49-F238E27FC236}">
                <a16:creationId xmlns:a16="http://schemas.microsoft.com/office/drawing/2014/main" id="{94319C07-343B-418D-A96B-CCEDCE3E8F1E}"/>
              </a:ext>
            </a:extLst>
          </p:cNvPr>
          <p:cNvSpPr>
            <a:spLocks noGrp="1"/>
          </p:cNvSpPr>
          <p:nvPr>
            <p:ph idx="1"/>
          </p:nvPr>
        </p:nvSpPr>
        <p:spPr>
          <a:xfrm>
            <a:off x="628650" y="1412777"/>
            <a:ext cx="7886700" cy="4764186"/>
          </a:xfrm>
        </p:spPr>
        <p:txBody>
          <a:bodyPr/>
          <a:lstStyle/>
          <a:p>
            <a:r>
              <a:rPr lang="zh-CN" altLang="en-US" b="1" dirty="0"/>
              <a:t>更新商店数据库的批处理系统</a:t>
            </a:r>
          </a:p>
        </p:txBody>
      </p:sp>
      <p:pic>
        <p:nvPicPr>
          <p:cNvPr id="4" name="图片 3">
            <a:extLst>
              <a:ext uri="{FF2B5EF4-FFF2-40B4-BE49-F238E27FC236}">
                <a16:creationId xmlns:a16="http://schemas.microsoft.com/office/drawing/2014/main" id="{0619F121-E46C-4704-BC85-624D9855AEAC}"/>
              </a:ext>
            </a:extLst>
          </p:cNvPr>
          <p:cNvPicPr>
            <a:picLocks noChangeAspect="1"/>
          </p:cNvPicPr>
          <p:nvPr/>
        </p:nvPicPr>
        <p:blipFill>
          <a:blip r:embed="rId2"/>
          <a:stretch>
            <a:fillRect/>
          </a:stretch>
        </p:blipFill>
        <p:spPr>
          <a:xfrm>
            <a:off x="1187624" y="1844824"/>
            <a:ext cx="6192688" cy="946105"/>
          </a:xfrm>
          <a:prstGeom prst="rect">
            <a:avLst/>
          </a:prstGeom>
        </p:spPr>
      </p:pic>
      <p:pic>
        <p:nvPicPr>
          <p:cNvPr id="5" name="图片 4">
            <a:extLst>
              <a:ext uri="{FF2B5EF4-FFF2-40B4-BE49-F238E27FC236}">
                <a16:creationId xmlns:a16="http://schemas.microsoft.com/office/drawing/2014/main" id="{76185B05-4BC9-43FA-A4E8-09D3D3B7908F}"/>
              </a:ext>
            </a:extLst>
          </p:cNvPr>
          <p:cNvPicPr>
            <a:picLocks noChangeAspect="1"/>
          </p:cNvPicPr>
          <p:nvPr/>
        </p:nvPicPr>
        <p:blipFill>
          <a:blip r:embed="rId3"/>
          <a:stretch>
            <a:fillRect/>
          </a:stretch>
        </p:blipFill>
        <p:spPr>
          <a:xfrm>
            <a:off x="1259632" y="2778086"/>
            <a:ext cx="6137001" cy="1154970"/>
          </a:xfrm>
          <a:prstGeom prst="rect">
            <a:avLst/>
          </a:prstGeom>
        </p:spPr>
      </p:pic>
      <p:pic>
        <p:nvPicPr>
          <p:cNvPr id="6" name="图片 5">
            <a:extLst>
              <a:ext uri="{FF2B5EF4-FFF2-40B4-BE49-F238E27FC236}">
                <a16:creationId xmlns:a16="http://schemas.microsoft.com/office/drawing/2014/main" id="{6B0B07DB-EA35-404A-8CF6-B4C3B9762A63}"/>
              </a:ext>
            </a:extLst>
          </p:cNvPr>
          <p:cNvPicPr>
            <a:picLocks noChangeAspect="1"/>
          </p:cNvPicPr>
          <p:nvPr/>
        </p:nvPicPr>
        <p:blipFill>
          <a:blip r:embed="rId4"/>
          <a:stretch>
            <a:fillRect/>
          </a:stretch>
        </p:blipFill>
        <p:spPr>
          <a:xfrm>
            <a:off x="0" y="4653136"/>
            <a:ext cx="9144000" cy="1649658"/>
          </a:xfrm>
          <a:prstGeom prst="rect">
            <a:avLst/>
          </a:prstGeom>
        </p:spPr>
      </p:pic>
    </p:spTree>
    <p:extLst>
      <p:ext uri="{BB962C8B-B14F-4D97-AF65-F5344CB8AC3E}">
        <p14:creationId xmlns:p14="http://schemas.microsoft.com/office/powerpoint/2010/main" val="2335505033"/>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0F06D-20D4-4199-8556-F80AA749F29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F8F8578-FB34-4803-848F-F12D45F070DE}"/>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C567BE6A-31CE-40B8-8E9E-B2F0F6F41881}"/>
              </a:ext>
            </a:extLst>
          </p:cNvPr>
          <p:cNvPicPr>
            <a:picLocks noChangeAspect="1"/>
          </p:cNvPicPr>
          <p:nvPr/>
        </p:nvPicPr>
        <p:blipFill>
          <a:blip r:embed="rId2"/>
          <a:stretch>
            <a:fillRect/>
          </a:stretch>
        </p:blipFill>
        <p:spPr>
          <a:xfrm>
            <a:off x="0" y="998588"/>
            <a:ext cx="9144000" cy="4860823"/>
          </a:xfrm>
          <a:prstGeom prst="rect">
            <a:avLst/>
          </a:prstGeom>
        </p:spPr>
      </p:pic>
    </p:spTree>
    <p:extLst>
      <p:ext uri="{BB962C8B-B14F-4D97-AF65-F5344CB8AC3E}">
        <p14:creationId xmlns:p14="http://schemas.microsoft.com/office/powerpoint/2010/main" val="590192782"/>
      </p:ext>
    </p:extLst>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A5CEFD-1E33-4F37-B4DC-FFC136C1DAE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D9F617E-D7F1-47D7-B1E4-3DF8C2211B84}"/>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6BF9490A-5027-4035-848F-1358F033B437}"/>
              </a:ext>
            </a:extLst>
          </p:cNvPr>
          <p:cNvPicPr>
            <a:picLocks noChangeAspect="1"/>
          </p:cNvPicPr>
          <p:nvPr/>
        </p:nvPicPr>
        <p:blipFill>
          <a:blip r:embed="rId2"/>
          <a:stretch>
            <a:fillRect/>
          </a:stretch>
        </p:blipFill>
        <p:spPr>
          <a:xfrm>
            <a:off x="13278" y="681037"/>
            <a:ext cx="9144000" cy="6134582"/>
          </a:xfrm>
          <a:prstGeom prst="rect">
            <a:avLst/>
          </a:prstGeom>
        </p:spPr>
      </p:pic>
    </p:spTree>
    <p:extLst>
      <p:ext uri="{BB962C8B-B14F-4D97-AF65-F5344CB8AC3E}">
        <p14:creationId xmlns:p14="http://schemas.microsoft.com/office/powerpoint/2010/main" val="2537965061"/>
      </p:ext>
    </p:extLst>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61976F-71A1-47F8-918E-EB5E7D44E05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C4E2D6E-F60C-4B3C-9B29-7BE6AE9F472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F118F80A-ED9D-448E-BB70-6CA3A9123CE8}"/>
              </a:ext>
            </a:extLst>
          </p:cNvPr>
          <p:cNvPicPr>
            <a:picLocks noChangeAspect="1"/>
          </p:cNvPicPr>
          <p:nvPr/>
        </p:nvPicPr>
        <p:blipFill>
          <a:blip r:embed="rId2"/>
          <a:stretch>
            <a:fillRect/>
          </a:stretch>
        </p:blipFill>
        <p:spPr>
          <a:xfrm>
            <a:off x="0" y="836712"/>
            <a:ext cx="9144000" cy="5728607"/>
          </a:xfrm>
          <a:prstGeom prst="rect">
            <a:avLst/>
          </a:prstGeom>
        </p:spPr>
      </p:pic>
    </p:spTree>
    <p:extLst>
      <p:ext uri="{BB962C8B-B14F-4D97-AF65-F5344CB8AC3E}">
        <p14:creationId xmlns:p14="http://schemas.microsoft.com/office/powerpoint/2010/main" val="3301579109"/>
      </p:ext>
    </p:extLst>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7E2A94-66CB-4FAC-8B42-B4B58F7B5579}"/>
              </a:ext>
            </a:extLst>
          </p:cNvPr>
          <p:cNvSpPr>
            <a:spLocks noGrp="1"/>
          </p:cNvSpPr>
          <p:nvPr>
            <p:ph type="title"/>
          </p:nvPr>
        </p:nvSpPr>
        <p:spPr/>
        <p:txBody>
          <a:bodyPr/>
          <a:lstStyle/>
          <a:p>
            <a:r>
              <a:rPr lang="zh-CN" altLang="en-US" dirty="0"/>
              <a:t>顺序批处理面临的问题</a:t>
            </a:r>
          </a:p>
        </p:txBody>
      </p:sp>
      <p:sp>
        <p:nvSpPr>
          <p:cNvPr id="3" name="内容占位符 2">
            <a:extLst>
              <a:ext uri="{FF2B5EF4-FFF2-40B4-BE49-F238E27FC236}">
                <a16:creationId xmlns:a16="http://schemas.microsoft.com/office/drawing/2014/main" id="{58749562-AF49-43E8-B18A-14C412589E45}"/>
              </a:ext>
            </a:extLst>
          </p:cNvPr>
          <p:cNvSpPr>
            <a:spLocks noGrp="1"/>
          </p:cNvSpPr>
          <p:nvPr>
            <p:ph idx="1"/>
          </p:nvPr>
        </p:nvSpPr>
        <p:spPr/>
        <p:txBody>
          <a:bodyPr/>
          <a:lstStyle/>
          <a:p>
            <a:r>
              <a:rPr lang="zh-CN" altLang="en-US" dirty="0"/>
              <a:t>面临的技术压力：在线存取</a:t>
            </a:r>
            <a:endParaRPr lang="en-US" altLang="zh-CN" dirty="0"/>
          </a:p>
          <a:p>
            <a:r>
              <a:rPr lang="zh-CN" altLang="en-US" dirty="0"/>
              <a:t>在线存取的优势：</a:t>
            </a:r>
            <a:endParaRPr lang="en-US" altLang="zh-CN" dirty="0"/>
          </a:p>
          <a:p>
            <a:pPr lvl="1"/>
            <a:r>
              <a:rPr lang="zh-CN" altLang="en-US" dirty="0"/>
              <a:t>查询更为容易</a:t>
            </a:r>
            <a:endParaRPr lang="en-US" altLang="zh-CN" dirty="0"/>
          </a:p>
          <a:p>
            <a:pPr lvl="1"/>
            <a:r>
              <a:rPr lang="zh-CN" altLang="en-US" dirty="0"/>
              <a:t>实时事务处理</a:t>
            </a:r>
            <a:endParaRPr lang="en-US" altLang="zh-CN" dirty="0"/>
          </a:p>
          <a:p>
            <a:r>
              <a:rPr lang="zh-CN" altLang="en-US" dirty="0"/>
              <a:t>要实现在线存取、更新需要由批处理方式向交互式处理转换</a:t>
            </a:r>
          </a:p>
        </p:txBody>
      </p:sp>
    </p:spTree>
    <p:extLst>
      <p:ext uri="{BB962C8B-B14F-4D97-AF65-F5344CB8AC3E}">
        <p14:creationId xmlns:p14="http://schemas.microsoft.com/office/powerpoint/2010/main" val="2544496389"/>
      </p:ext>
    </p:extLst>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a:extLst>
              <a:ext uri="{FF2B5EF4-FFF2-40B4-BE49-F238E27FC236}">
                <a16:creationId xmlns:a16="http://schemas.microsoft.com/office/drawing/2014/main" id="{F27983A3-06F2-43B7-87ED-E9B276ADE345}"/>
              </a:ext>
            </a:extLst>
          </p:cNvPr>
          <p:cNvSpPr>
            <a:spLocks noGrp="1" noChangeArrowheads="1"/>
          </p:cNvSpPr>
          <p:nvPr>
            <p:ph type="title"/>
          </p:nvPr>
        </p:nvSpPr>
        <p:spPr/>
        <p:txBody>
          <a:bodyPr/>
          <a:lstStyle/>
          <a:p>
            <a:r>
              <a:rPr lang="en-US" altLang="zh-CN"/>
              <a:t>Three Examples of Data Flow</a:t>
            </a:r>
          </a:p>
        </p:txBody>
      </p:sp>
      <p:sp>
        <p:nvSpPr>
          <p:cNvPr id="27652" name="Rectangle 3">
            <a:extLst>
              <a:ext uri="{FF2B5EF4-FFF2-40B4-BE49-F238E27FC236}">
                <a16:creationId xmlns:a16="http://schemas.microsoft.com/office/drawing/2014/main" id="{8F086414-1EEA-40E2-A0FD-61F89B236A37}"/>
              </a:ext>
            </a:extLst>
          </p:cNvPr>
          <p:cNvSpPr>
            <a:spLocks noGrp="1" noChangeArrowheads="1"/>
          </p:cNvSpPr>
          <p:nvPr>
            <p:ph idx="1"/>
          </p:nvPr>
        </p:nvSpPr>
        <p:spPr/>
        <p:txBody>
          <a:bodyPr/>
          <a:lstStyle/>
          <a:p>
            <a:r>
              <a:rPr lang="en-US" altLang="zh-CN" dirty="0"/>
              <a:t>Batch Sequential</a:t>
            </a:r>
            <a:r>
              <a:rPr lang="zh-CN" altLang="en-US" dirty="0"/>
              <a:t>（顺序批处理）</a:t>
            </a:r>
          </a:p>
          <a:p>
            <a:r>
              <a:rPr lang="en-US" altLang="zh-CN" i="1" dirty="0">
                <a:solidFill>
                  <a:srgbClr val="FF3399"/>
                </a:solidFill>
              </a:rPr>
              <a:t>Pipe-and-Filter</a:t>
            </a:r>
            <a:r>
              <a:rPr lang="zh-CN" altLang="en-US" i="1" dirty="0">
                <a:solidFill>
                  <a:srgbClr val="FF3399"/>
                </a:solidFill>
              </a:rPr>
              <a:t>（管道过滤器）</a:t>
            </a:r>
          </a:p>
          <a:p>
            <a:r>
              <a:rPr lang="en-US" altLang="zh-CN" dirty="0"/>
              <a:t>Process Control</a:t>
            </a:r>
            <a:r>
              <a:rPr lang="zh-CN" altLang="en-US" dirty="0"/>
              <a:t>（控制）</a:t>
            </a:r>
          </a:p>
        </p:txBody>
      </p:sp>
      <p:sp>
        <p:nvSpPr>
          <p:cNvPr id="27649" name="灯片编号占位符 3">
            <a:extLst>
              <a:ext uri="{FF2B5EF4-FFF2-40B4-BE49-F238E27FC236}">
                <a16:creationId xmlns:a16="http://schemas.microsoft.com/office/drawing/2014/main" id="{C51871FF-C5D4-4109-B616-AEE96A4C678C}"/>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9E7AB27-FC66-4872-BAFC-CB8B379C0001}" type="slidenum">
              <a:rPr lang="en-US" altLang="zh-CN">
                <a:latin typeface="Arial Black" panose="020B0A04020102020204" pitchFamily="34" charset="0"/>
              </a:rPr>
              <a:pPr eaLnBrk="1" hangingPunct="1">
                <a:buFont typeface="Arial" panose="020B0604020202020204" pitchFamily="34" charset="0"/>
                <a:buNone/>
              </a:pPr>
              <a:t>28</a:t>
            </a:fld>
            <a:endParaRPr lang="en-US" altLang="zh-CN">
              <a:latin typeface="Arial Black" panose="020B0A04020102020204" pitchFamily="34" charset="0"/>
            </a:endParaRPr>
          </a:p>
        </p:txBody>
      </p:sp>
      <p:sp>
        <p:nvSpPr>
          <p:cNvPr id="27650" name="日期占位符 4">
            <a:extLst>
              <a:ext uri="{FF2B5EF4-FFF2-40B4-BE49-F238E27FC236}">
                <a16:creationId xmlns:a16="http://schemas.microsoft.com/office/drawing/2014/main" id="{74CDE166-E0F3-4913-A78A-B38F386FF2EB}"/>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6D7761B3-59DB-494C-96B8-A630B9036189}"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2DF3201D-165B-4C68-9CF8-6A17408DA5B2}"/>
              </a:ext>
            </a:extLst>
          </p:cNvPr>
          <p:cNvSpPr>
            <a:spLocks noGrp="1" noChangeArrowheads="1"/>
          </p:cNvSpPr>
          <p:nvPr>
            <p:ph type="title"/>
          </p:nvPr>
        </p:nvSpPr>
        <p:spPr/>
        <p:txBody>
          <a:bodyPr/>
          <a:lstStyle/>
          <a:p>
            <a:r>
              <a:rPr lang="zh-CN" altLang="en-US" dirty="0"/>
              <a:t>管道过滤器</a:t>
            </a:r>
            <a:endParaRPr lang="en-US" altLang="zh-CN" dirty="0"/>
          </a:p>
        </p:txBody>
      </p:sp>
      <p:pic>
        <p:nvPicPr>
          <p:cNvPr id="29700" name="Picture 3">
            <a:extLst>
              <a:ext uri="{FF2B5EF4-FFF2-40B4-BE49-F238E27FC236}">
                <a16:creationId xmlns:a16="http://schemas.microsoft.com/office/drawing/2014/main" id="{303817DB-0B66-4D73-9B5F-D2A8C665F388}"/>
              </a:ext>
            </a:extLst>
          </p:cNvPr>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2160" y="1628800"/>
            <a:ext cx="8579173" cy="2993901"/>
          </a:xfrm>
        </p:spPr>
      </p:pic>
      <p:sp>
        <p:nvSpPr>
          <p:cNvPr id="29697" name="灯片编号占位符 3">
            <a:extLst>
              <a:ext uri="{FF2B5EF4-FFF2-40B4-BE49-F238E27FC236}">
                <a16:creationId xmlns:a16="http://schemas.microsoft.com/office/drawing/2014/main" id="{155E672E-2A08-40D0-9F11-5C7BC5828E4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72E9417-77DD-4D50-907F-EDA544975495}" type="slidenum">
              <a:rPr lang="en-US" altLang="zh-CN">
                <a:latin typeface="Arial Black" panose="020B0A04020102020204" pitchFamily="34" charset="0"/>
              </a:rPr>
              <a:pPr eaLnBrk="1" hangingPunct="1">
                <a:buFont typeface="Arial" panose="020B0604020202020204" pitchFamily="34" charset="0"/>
                <a:buNone/>
              </a:pPr>
              <a:t>29</a:t>
            </a:fld>
            <a:endParaRPr lang="en-US" altLang="zh-CN">
              <a:latin typeface="Arial Black" panose="020B0A04020102020204" pitchFamily="34" charset="0"/>
            </a:endParaRPr>
          </a:p>
        </p:txBody>
      </p:sp>
      <p:sp>
        <p:nvSpPr>
          <p:cNvPr id="29698" name="日期占位符 4">
            <a:extLst>
              <a:ext uri="{FF2B5EF4-FFF2-40B4-BE49-F238E27FC236}">
                <a16:creationId xmlns:a16="http://schemas.microsoft.com/office/drawing/2014/main" id="{C03F9793-C7F6-49CA-938F-717DB9B7B32D}"/>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2FDA9055-018A-4354-8E46-406AC1600C49}" type="datetime1">
              <a:rPr lang="zh-CN" altLang="en-US"/>
              <a:pPr eaLnBrk="1" hangingPunct="1">
                <a:buFont typeface="Arial" panose="020B0604020202020204" pitchFamily="34" charset="0"/>
                <a:buNone/>
              </a:pPr>
              <a:t>2021/5/13</a:t>
            </a:fld>
            <a:endParaRPr lang="zh-CN" altLang="en-US"/>
          </a:p>
        </p:txBody>
      </p:sp>
      <p:sp>
        <p:nvSpPr>
          <p:cNvPr id="29701" name="Text Box 4">
            <a:extLst>
              <a:ext uri="{FF2B5EF4-FFF2-40B4-BE49-F238E27FC236}">
                <a16:creationId xmlns:a16="http://schemas.microsoft.com/office/drawing/2014/main" id="{755CE4CF-673B-4C63-8A28-7298A9B765ED}"/>
              </a:ext>
            </a:extLst>
          </p:cNvPr>
          <p:cNvSpPr txBox="1">
            <a:spLocks noChangeArrowheads="1"/>
          </p:cNvSpPr>
          <p:nvPr/>
        </p:nvSpPr>
        <p:spPr bwMode="auto">
          <a:xfrm>
            <a:off x="4499992" y="1204350"/>
            <a:ext cx="460851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latin typeface="Times New Roman" panose="02020603050405020304" pitchFamily="18" charset="0"/>
              </a:rPr>
              <a:t>管道过滤器风格最早在</a:t>
            </a:r>
            <a:r>
              <a:rPr lang="en-US" altLang="zh-CN" b="1" dirty="0">
                <a:latin typeface="Times New Roman" panose="02020603050405020304" pitchFamily="18" charset="0"/>
              </a:rPr>
              <a:t>Unix</a:t>
            </a:r>
            <a:r>
              <a:rPr lang="zh-CN" altLang="en-US" b="1" dirty="0">
                <a:latin typeface="Times New Roman" panose="02020603050405020304" pitchFamily="18" charset="0"/>
              </a:rPr>
              <a:t>中出现，已经有超过</a:t>
            </a:r>
            <a:r>
              <a:rPr lang="en-US" altLang="zh-CN" b="1" dirty="0">
                <a:latin typeface="Times New Roman" panose="02020603050405020304" pitchFamily="18" charset="0"/>
              </a:rPr>
              <a:t>20</a:t>
            </a:r>
            <a:r>
              <a:rPr lang="zh-CN" altLang="en-US" b="1" dirty="0">
                <a:latin typeface="Times New Roman" panose="02020603050405020304" pitchFamily="18" charset="0"/>
              </a:rPr>
              <a:t>年的历史。它适用于对有序数据进行一系列已经定义的独立计算的应用程序。如图所示，这种风格的特征包括如下几点。</a:t>
            </a:r>
            <a:r>
              <a:rPr lang="zh-CN" altLang="en-US" b="1" dirty="0"/>
              <a:t> </a:t>
            </a:r>
          </a:p>
        </p:txBody>
      </p:sp>
      <p:graphicFrame>
        <p:nvGraphicFramePr>
          <p:cNvPr id="7" name="Object 1">
            <a:extLst>
              <a:ext uri="{FF2B5EF4-FFF2-40B4-BE49-F238E27FC236}">
                <a16:creationId xmlns:a16="http://schemas.microsoft.com/office/drawing/2014/main" id="{CF8E9690-48E9-4645-9451-5B0615E9C126}"/>
              </a:ext>
            </a:extLst>
          </p:cNvPr>
          <p:cNvGraphicFramePr>
            <a:graphicFrameLocks noChangeAspect="1"/>
          </p:cNvGraphicFramePr>
          <p:nvPr>
            <p:extLst>
              <p:ext uri="{D42A27DB-BD31-4B8C-83A1-F6EECF244321}">
                <p14:modId xmlns:p14="http://schemas.microsoft.com/office/powerpoint/2010/main" val="1923137656"/>
              </p:ext>
            </p:extLst>
          </p:nvPr>
        </p:nvGraphicFramePr>
        <p:xfrm>
          <a:off x="189336" y="4510642"/>
          <a:ext cx="8511327" cy="2286016"/>
        </p:xfrm>
        <a:graphic>
          <a:graphicData uri="http://schemas.openxmlformats.org/presentationml/2006/ole">
            <mc:AlternateContent xmlns:mc="http://schemas.openxmlformats.org/markup-compatibility/2006">
              <mc:Choice xmlns:v="urn:schemas-microsoft-com:vml" Requires="v">
                <p:oleObj spid="_x0000_s35907" name="Visio" r:id="rId4" imgW="5290650" imgH="1420124" progId="Visio.Drawing.11">
                  <p:embed/>
                </p:oleObj>
              </mc:Choice>
              <mc:Fallback>
                <p:oleObj name="Visio" r:id="rId4" imgW="5290650" imgH="1420124" progId="Visio.Drawing.11">
                  <p:embed/>
                  <p:pic>
                    <p:nvPicPr>
                      <p:cNvPr id="435201"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336" y="4510642"/>
                        <a:ext cx="8511327" cy="22860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47852D-B67E-414D-9594-5A5D40325345}"/>
              </a:ext>
            </a:extLst>
          </p:cNvPr>
          <p:cNvSpPr>
            <a:spLocks noGrp="1"/>
          </p:cNvSpPr>
          <p:nvPr>
            <p:ph type="title"/>
          </p:nvPr>
        </p:nvSpPr>
        <p:spPr/>
        <p:txBody>
          <a:bodyPr/>
          <a:lstStyle/>
          <a:p>
            <a:r>
              <a:rPr lang="zh-CN" altLang="en-US" dirty="0"/>
              <a:t>管道过滤器</a:t>
            </a:r>
          </a:p>
        </p:txBody>
      </p:sp>
      <p:sp>
        <p:nvSpPr>
          <p:cNvPr id="3" name="内容占位符 2">
            <a:extLst>
              <a:ext uri="{FF2B5EF4-FFF2-40B4-BE49-F238E27FC236}">
                <a16:creationId xmlns:a16="http://schemas.microsoft.com/office/drawing/2014/main" id="{E0C30605-1CF0-4F8E-AB42-7975FC517BE4}"/>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5F04678E-2984-4F95-B069-05B56F753DDF}"/>
              </a:ext>
            </a:extLst>
          </p:cNvPr>
          <p:cNvPicPr>
            <a:picLocks noChangeAspect="1"/>
          </p:cNvPicPr>
          <p:nvPr/>
        </p:nvPicPr>
        <p:blipFill>
          <a:blip r:embed="rId2"/>
          <a:stretch>
            <a:fillRect/>
          </a:stretch>
        </p:blipFill>
        <p:spPr>
          <a:xfrm>
            <a:off x="712221" y="1700808"/>
            <a:ext cx="7668344" cy="2616401"/>
          </a:xfrm>
          <a:prstGeom prst="rect">
            <a:avLst/>
          </a:prstGeom>
        </p:spPr>
      </p:pic>
    </p:spTree>
    <p:extLst>
      <p:ext uri="{BB962C8B-B14F-4D97-AF65-F5344CB8AC3E}">
        <p14:creationId xmlns:p14="http://schemas.microsoft.com/office/powerpoint/2010/main" val="1025957732"/>
      </p:ext>
    </p:extLst>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a:extLst>
              <a:ext uri="{FF2B5EF4-FFF2-40B4-BE49-F238E27FC236}">
                <a16:creationId xmlns:a16="http://schemas.microsoft.com/office/drawing/2014/main" id="{A15CA7AD-F095-4841-ACFB-0EFF7A7D9523}"/>
              </a:ext>
            </a:extLst>
          </p:cNvPr>
          <p:cNvSpPr>
            <a:spLocks noGrp="1" noChangeArrowheads="1"/>
          </p:cNvSpPr>
          <p:nvPr>
            <p:ph type="title"/>
          </p:nvPr>
        </p:nvSpPr>
        <p:spPr/>
        <p:txBody>
          <a:bodyPr/>
          <a:lstStyle/>
          <a:p>
            <a:r>
              <a:rPr lang="zh-CN" altLang="en-US">
                <a:latin typeface="宋体" panose="02010600030101010101" pitchFamily="2" charset="-122"/>
              </a:rPr>
              <a:t>管道过滤器风格的</a:t>
            </a:r>
            <a:r>
              <a:rPr lang="zh-CN" altLang="en-US"/>
              <a:t>特征：</a:t>
            </a:r>
          </a:p>
        </p:txBody>
      </p:sp>
      <p:sp>
        <p:nvSpPr>
          <p:cNvPr id="30724" name="Rectangle 4">
            <a:extLst>
              <a:ext uri="{FF2B5EF4-FFF2-40B4-BE49-F238E27FC236}">
                <a16:creationId xmlns:a16="http://schemas.microsoft.com/office/drawing/2014/main" id="{6621C22B-990A-4BFC-8BDD-FBF0DA936462}"/>
              </a:ext>
            </a:extLst>
          </p:cNvPr>
          <p:cNvSpPr>
            <a:spLocks noGrp="1" noChangeArrowheads="1"/>
          </p:cNvSpPr>
          <p:nvPr>
            <p:ph idx="1"/>
          </p:nvPr>
        </p:nvSpPr>
        <p:spPr/>
        <p:txBody>
          <a:bodyPr/>
          <a:lstStyle/>
          <a:p>
            <a:pPr algn="just">
              <a:lnSpc>
                <a:spcPct val="90000"/>
              </a:lnSpc>
              <a:buFont typeface="Wingdings" panose="05000000000000000000" pitchFamily="2" charset="2"/>
              <a:buNone/>
            </a:pPr>
            <a:r>
              <a:rPr lang="en-US" altLang="zh-CN" sz="2000" dirty="0">
                <a:latin typeface="Times New Roman" panose="02020603050405020304" pitchFamily="18" charset="0"/>
              </a:rPr>
              <a:t>● </a:t>
            </a:r>
            <a:r>
              <a:rPr lang="zh-CN" altLang="en-US" sz="2000" dirty="0">
                <a:latin typeface="Times New Roman" panose="02020603050405020304" pitchFamily="18" charset="0"/>
              </a:rPr>
              <a:t>构件：在管道过滤器风格中，构件被称为过滤器</a:t>
            </a:r>
            <a:r>
              <a:rPr lang="en-US" altLang="zh-CN" sz="2000" dirty="0">
                <a:latin typeface="Times New Roman" panose="02020603050405020304" pitchFamily="18" charset="0"/>
              </a:rPr>
              <a:t>(filter)</a:t>
            </a:r>
            <a:r>
              <a:rPr lang="zh-CN" altLang="en-US" sz="2000" dirty="0">
                <a:latin typeface="Times New Roman" panose="02020603050405020304" pitchFamily="18" charset="0"/>
              </a:rPr>
              <a:t>。它对输入流进行处理、转换，处理后的结果在输出端流出。而且，这种计算常常是递进的，所以可能在全部的输入接收完之前就开始输出。可以并行地使用过滤器。</a:t>
            </a:r>
          </a:p>
          <a:p>
            <a:pPr algn="just">
              <a:lnSpc>
                <a:spcPct val="90000"/>
              </a:lnSpc>
              <a:buFont typeface="Wingdings" panose="05000000000000000000" pitchFamily="2" charset="2"/>
              <a:buNone/>
            </a:pPr>
            <a:r>
              <a:rPr lang="zh-CN" altLang="en-US" sz="2000" dirty="0">
                <a:latin typeface="Times New Roman" panose="02020603050405020304" pitchFamily="18" charset="0"/>
              </a:rPr>
              <a:t>● 连接件：连接件位于过滤器之间，起到信息流的导管的作用，被称为管道</a:t>
            </a:r>
            <a:r>
              <a:rPr lang="en-US" altLang="zh-CN" sz="2000" dirty="0">
                <a:latin typeface="Times New Roman" panose="02020603050405020304" pitchFamily="18" charset="0"/>
              </a:rPr>
              <a:t>(pipe)</a:t>
            </a:r>
            <a:r>
              <a:rPr lang="zh-CN" altLang="en-US" sz="2000" dirty="0">
                <a:latin typeface="Times New Roman" panose="02020603050405020304" pitchFamily="18" charset="0"/>
              </a:rPr>
              <a:t>。</a:t>
            </a:r>
          </a:p>
          <a:p>
            <a:pPr algn="just">
              <a:lnSpc>
                <a:spcPct val="90000"/>
              </a:lnSpc>
              <a:buFont typeface="Wingdings" panose="05000000000000000000" pitchFamily="2" charset="2"/>
              <a:buNone/>
            </a:pPr>
            <a:r>
              <a:rPr lang="zh-CN" altLang="en-US" sz="2000" dirty="0">
                <a:latin typeface="Times New Roman" panose="02020603050405020304" pitchFamily="18" charset="0"/>
              </a:rPr>
              <a:t>● 每个构件都有输入</a:t>
            </a:r>
            <a:r>
              <a:rPr lang="en-US" altLang="zh-CN" sz="2000" dirty="0">
                <a:latin typeface="Times New Roman" panose="02020603050405020304" pitchFamily="18" charset="0"/>
              </a:rPr>
              <a:t>/</a:t>
            </a:r>
            <a:r>
              <a:rPr lang="zh-CN" altLang="en-US" sz="2000" dirty="0">
                <a:latin typeface="Times New Roman" panose="02020603050405020304" pitchFamily="18" charset="0"/>
              </a:rPr>
              <a:t>输出集合，构件在输入处读取数据流，并在输出处生成数据流。</a:t>
            </a:r>
          </a:p>
          <a:p>
            <a:pPr>
              <a:lnSpc>
                <a:spcPct val="90000"/>
              </a:lnSpc>
              <a:buFont typeface="Wingdings" panose="05000000000000000000" pitchFamily="2" charset="2"/>
              <a:buNone/>
            </a:pPr>
            <a:r>
              <a:rPr lang="zh-CN" altLang="en-US" sz="2000" dirty="0">
                <a:latin typeface="Times New Roman" panose="02020603050405020304" pitchFamily="18" charset="0"/>
              </a:rPr>
              <a:t>●  过滤器必须是独立的实体，它们不了解信息流从哪个过滤器流出，也不需要知道信息将流入哪个过滤器。它们可以指定输入的格式，可以确保输出的结果，但是它们可能不知道在管道之后将会是什么样子。过滤器之间也不共享状态。</a:t>
            </a:r>
            <a:r>
              <a:rPr lang="zh-CN" altLang="en-US" sz="2000" dirty="0"/>
              <a:t> </a:t>
            </a:r>
          </a:p>
        </p:txBody>
      </p:sp>
      <p:sp>
        <p:nvSpPr>
          <p:cNvPr id="30721" name="灯片编号占位符 3">
            <a:extLst>
              <a:ext uri="{FF2B5EF4-FFF2-40B4-BE49-F238E27FC236}">
                <a16:creationId xmlns:a16="http://schemas.microsoft.com/office/drawing/2014/main" id="{8C554EE7-7111-4750-B780-40C42CBB70E0}"/>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8BC0FC56-552B-4D0B-ACDA-A1546203ECC1}" type="slidenum">
              <a:rPr lang="en-US" altLang="zh-CN">
                <a:latin typeface="Arial Black" panose="020B0A04020102020204" pitchFamily="34" charset="0"/>
              </a:rPr>
              <a:pPr eaLnBrk="1" hangingPunct="1">
                <a:buFont typeface="Arial" panose="020B0604020202020204" pitchFamily="34" charset="0"/>
                <a:buNone/>
              </a:pPr>
              <a:t>31</a:t>
            </a:fld>
            <a:endParaRPr lang="en-US" altLang="zh-CN">
              <a:latin typeface="Arial Black" panose="020B0A04020102020204" pitchFamily="34" charset="0"/>
            </a:endParaRPr>
          </a:p>
        </p:txBody>
      </p:sp>
      <p:sp>
        <p:nvSpPr>
          <p:cNvPr id="30722" name="日期占位符 4">
            <a:extLst>
              <a:ext uri="{FF2B5EF4-FFF2-40B4-BE49-F238E27FC236}">
                <a16:creationId xmlns:a16="http://schemas.microsoft.com/office/drawing/2014/main" id="{892EC10F-AB93-42E6-A56B-4544A71B2644}"/>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A17F094-D21E-44A7-8B99-6C167183E740}"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E36CEC-2C3C-444A-A7DB-C379B69BEDF0}"/>
              </a:ext>
            </a:extLst>
          </p:cNvPr>
          <p:cNvSpPr>
            <a:spLocks noGrp="1"/>
          </p:cNvSpPr>
          <p:nvPr>
            <p:ph type="title"/>
          </p:nvPr>
        </p:nvSpPr>
        <p:spPr/>
        <p:txBody>
          <a:bodyPr/>
          <a:lstStyle/>
          <a:p>
            <a:r>
              <a:rPr lang="zh-CN" altLang="en-US" dirty="0"/>
              <a:t>过滤器的功能</a:t>
            </a:r>
          </a:p>
        </p:txBody>
      </p:sp>
      <p:sp>
        <p:nvSpPr>
          <p:cNvPr id="3" name="内容占位符 2">
            <a:extLst>
              <a:ext uri="{FF2B5EF4-FFF2-40B4-BE49-F238E27FC236}">
                <a16:creationId xmlns:a16="http://schemas.microsoft.com/office/drawing/2014/main" id="{44FF6818-1DB1-4D5F-8EA7-FFF13DABFAD7}"/>
              </a:ext>
            </a:extLst>
          </p:cNvPr>
          <p:cNvSpPr>
            <a:spLocks noGrp="1"/>
          </p:cNvSpPr>
          <p:nvPr>
            <p:ph idx="1"/>
          </p:nvPr>
        </p:nvSpPr>
        <p:spPr/>
        <p:txBody>
          <a:bodyPr/>
          <a:lstStyle/>
          <a:p>
            <a:r>
              <a:rPr lang="zh-CN" altLang="en-US" dirty="0"/>
              <a:t>增量式地把输入数据转为输出数据</a:t>
            </a:r>
            <a:endParaRPr lang="en-US" altLang="zh-CN" dirty="0"/>
          </a:p>
          <a:p>
            <a:pPr lvl="1"/>
            <a:r>
              <a:rPr lang="zh-CN" altLang="en-US" dirty="0"/>
              <a:t>通过计算或添加信息丰富数据</a:t>
            </a:r>
            <a:endParaRPr lang="en-US" altLang="zh-CN" dirty="0"/>
          </a:p>
          <a:p>
            <a:pPr lvl="1"/>
            <a:r>
              <a:rPr lang="zh-CN" altLang="en-US" dirty="0"/>
              <a:t>改变数据表示形式</a:t>
            </a:r>
            <a:endParaRPr lang="en-US" altLang="zh-CN" dirty="0"/>
          </a:p>
          <a:p>
            <a:pPr lvl="1"/>
            <a:r>
              <a:rPr lang="zh-CN" altLang="en-US" dirty="0"/>
              <a:t>流到流的转换</a:t>
            </a:r>
            <a:endParaRPr lang="en-US" altLang="zh-CN" dirty="0"/>
          </a:p>
          <a:p>
            <a:pPr lvl="1"/>
            <a:r>
              <a:rPr lang="zh-CN" altLang="en-US" dirty="0"/>
              <a:t>其他</a:t>
            </a:r>
            <a:endParaRPr lang="en-US" altLang="zh-CN" dirty="0"/>
          </a:p>
        </p:txBody>
      </p:sp>
      <p:pic>
        <p:nvPicPr>
          <p:cNvPr id="4" name="图片 3">
            <a:extLst>
              <a:ext uri="{FF2B5EF4-FFF2-40B4-BE49-F238E27FC236}">
                <a16:creationId xmlns:a16="http://schemas.microsoft.com/office/drawing/2014/main" id="{1A7AF8A8-00CA-4803-B670-8AFCBAC75D89}"/>
              </a:ext>
            </a:extLst>
          </p:cNvPr>
          <p:cNvPicPr>
            <a:picLocks noChangeAspect="1"/>
          </p:cNvPicPr>
          <p:nvPr/>
        </p:nvPicPr>
        <p:blipFill>
          <a:blip r:embed="rId2"/>
          <a:stretch>
            <a:fillRect/>
          </a:stretch>
        </p:blipFill>
        <p:spPr>
          <a:xfrm>
            <a:off x="3923928" y="2781606"/>
            <a:ext cx="5164644" cy="3879751"/>
          </a:xfrm>
          <a:prstGeom prst="rect">
            <a:avLst/>
          </a:prstGeom>
        </p:spPr>
      </p:pic>
    </p:spTree>
    <p:extLst>
      <p:ext uri="{BB962C8B-B14F-4D97-AF65-F5344CB8AC3E}">
        <p14:creationId xmlns:p14="http://schemas.microsoft.com/office/powerpoint/2010/main" val="2152830337"/>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FD107A-7FBF-42B4-9AF5-E820F8902D45}"/>
              </a:ext>
            </a:extLst>
          </p:cNvPr>
          <p:cNvSpPr>
            <a:spLocks noGrp="1"/>
          </p:cNvSpPr>
          <p:nvPr>
            <p:ph type="title"/>
          </p:nvPr>
        </p:nvSpPr>
        <p:spPr>
          <a:xfrm>
            <a:off x="539552" y="116632"/>
            <a:ext cx="7886700" cy="1325563"/>
          </a:xfrm>
        </p:spPr>
        <p:txBody>
          <a:bodyPr/>
          <a:lstStyle/>
          <a:p>
            <a:r>
              <a:rPr lang="zh-CN" altLang="en-US" dirty="0"/>
              <a:t>过滤器分类</a:t>
            </a:r>
            <a:br>
              <a:rPr lang="en-US" altLang="zh-CN" dirty="0"/>
            </a:br>
            <a:endParaRPr lang="zh-CN" altLang="en-US" dirty="0"/>
          </a:p>
        </p:txBody>
      </p:sp>
      <p:sp>
        <p:nvSpPr>
          <p:cNvPr id="3" name="内容占位符 2">
            <a:extLst>
              <a:ext uri="{FF2B5EF4-FFF2-40B4-BE49-F238E27FC236}">
                <a16:creationId xmlns:a16="http://schemas.microsoft.com/office/drawing/2014/main" id="{AECFA414-5971-4C5B-92E7-BEDC78189FE8}"/>
              </a:ext>
            </a:extLst>
          </p:cNvPr>
          <p:cNvSpPr>
            <a:spLocks noGrp="1"/>
          </p:cNvSpPr>
          <p:nvPr>
            <p:ph idx="1"/>
          </p:nvPr>
        </p:nvSpPr>
        <p:spPr/>
        <p:txBody>
          <a:bodyPr/>
          <a:lstStyle/>
          <a:p>
            <a:r>
              <a:rPr lang="zh-CN" altLang="en-US" dirty="0"/>
              <a:t>主动过滤器：主动从管道拉入（</a:t>
            </a:r>
            <a:r>
              <a:rPr lang="en-US" altLang="zh-CN" dirty="0"/>
              <a:t>pull</a:t>
            </a:r>
            <a:r>
              <a:rPr lang="zh-CN" altLang="en-US" dirty="0"/>
              <a:t>）或推出（</a:t>
            </a:r>
            <a:r>
              <a:rPr lang="en-US" altLang="zh-CN" dirty="0"/>
              <a:t>push</a:t>
            </a:r>
            <a:r>
              <a:rPr lang="zh-CN" altLang="en-US" dirty="0"/>
              <a:t>）数据</a:t>
            </a:r>
            <a:endParaRPr lang="en-US" altLang="zh-CN" dirty="0"/>
          </a:p>
          <a:p>
            <a:r>
              <a:rPr lang="zh-CN" altLang="en-US" dirty="0"/>
              <a:t>被动过滤器：数据流由管道负责推动</a:t>
            </a:r>
          </a:p>
          <a:p>
            <a:endParaRPr lang="zh-CN" altLang="en-US" dirty="0"/>
          </a:p>
        </p:txBody>
      </p:sp>
    </p:spTree>
    <p:extLst>
      <p:ext uri="{BB962C8B-B14F-4D97-AF65-F5344CB8AC3E}">
        <p14:creationId xmlns:p14="http://schemas.microsoft.com/office/powerpoint/2010/main" val="3145367939"/>
      </p:ext>
    </p:extLst>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428D5F-9A90-4C48-97A8-D33D533BAB82}"/>
              </a:ext>
            </a:extLst>
          </p:cNvPr>
          <p:cNvSpPr>
            <a:spLocks noGrp="1"/>
          </p:cNvSpPr>
          <p:nvPr>
            <p:ph type="title"/>
          </p:nvPr>
        </p:nvSpPr>
        <p:spPr/>
        <p:txBody>
          <a:bodyPr/>
          <a:lstStyle/>
          <a:p>
            <a:r>
              <a:rPr lang="zh-CN" altLang="en-US" dirty="0"/>
              <a:t>管道的功能</a:t>
            </a:r>
          </a:p>
        </p:txBody>
      </p:sp>
      <p:sp>
        <p:nvSpPr>
          <p:cNvPr id="3" name="内容占位符 2">
            <a:extLst>
              <a:ext uri="{FF2B5EF4-FFF2-40B4-BE49-F238E27FC236}">
                <a16:creationId xmlns:a16="http://schemas.microsoft.com/office/drawing/2014/main" id="{D41CBF2C-B9CE-475D-8AB5-6F2C9091B57A}"/>
              </a:ext>
            </a:extLst>
          </p:cNvPr>
          <p:cNvSpPr>
            <a:spLocks noGrp="1"/>
          </p:cNvSpPr>
          <p:nvPr>
            <p:ph idx="1"/>
          </p:nvPr>
        </p:nvSpPr>
        <p:spPr/>
        <p:txBody>
          <a:bodyPr/>
          <a:lstStyle/>
          <a:p>
            <a:r>
              <a:rPr lang="zh-CN" altLang="en-US" dirty="0"/>
              <a:t>将数据从上一个过滤器的输出端移动到下一个过滤器的输入端</a:t>
            </a:r>
            <a:endParaRPr lang="en-US" altLang="zh-CN" dirty="0"/>
          </a:p>
          <a:p>
            <a:pPr lvl="1"/>
            <a:r>
              <a:rPr lang="zh-CN" altLang="en-US" dirty="0"/>
              <a:t>通常是单向流动</a:t>
            </a:r>
            <a:endParaRPr lang="en-US" altLang="zh-CN" dirty="0"/>
          </a:p>
          <a:p>
            <a:pPr lvl="1"/>
            <a:r>
              <a:rPr lang="zh-CN" altLang="en-US" dirty="0"/>
              <a:t>管道连接过滤器形成传输图（拓扑）</a:t>
            </a:r>
          </a:p>
        </p:txBody>
      </p:sp>
    </p:spTree>
    <p:extLst>
      <p:ext uri="{BB962C8B-B14F-4D97-AF65-F5344CB8AC3E}">
        <p14:creationId xmlns:p14="http://schemas.microsoft.com/office/powerpoint/2010/main" val="2168517359"/>
      </p:ext>
    </p:extLst>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C9B7E5-B6D6-4B00-8C93-A38A83E8A52C}"/>
              </a:ext>
            </a:extLst>
          </p:cNvPr>
          <p:cNvSpPr>
            <a:spLocks noGrp="1"/>
          </p:cNvSpPr>
          <p:nvPr>
            <p:ph type="title"/>
          </p:nvPr>
        </p:nvSpPr>
        <p:spPr/>
        <p:txBody>
          <a:bodyPr/>
          <a:lstStyle/>
          <a:p>
            <a:r>
              <a:rPr lang="zh-CN" altLang="en-US" dirty="0"/>
              <a:t>数据流分类</a:t>
            </a:r>
          </a:p>
        </p:txBody>
      </p:sp>
      <p:sp>
        <p:nvSpPr>
          <p:cNvPr id="3" name="内容占位符 2">
            <a:extLst>
              <a:ext uri="{FF2B5EF4-FFF2-40B4-BE49-F238E27FC236}">
                <a16:creationId xmlns:a16="http://schemas.microsoft.com/office/drawing/2014/main" id="{C3DEF0DF-CEF9-402F-94C2-2752171A55DA}"/>
              </a:ext>
            </a:extLst>
          </p:cNvPr>
          <p:cNvSpPr>
            <a:spLocks noGrp="1"/>
          </p:cNvSpPr>
          <p:nvPr>
            <p:ph idx="1"/>
          </p:nvPr>
        </p:nvSpPr>
        <p:spPr/>
        <p:txBody>
          <a:bodyPr/>
          <a:lstStyle/>
          <a:p>
            <a:r>
              <a:rPr lang="zh-CN" altLang="en-US" dirty="0"/>
              <a:t>什么力量推动数据的流动？</a:t>
            </a:r>
            <a:endParaRPr lang="en-US" altLang="zh-CN" dirty="0"/>
          </a:p>
          <a:p>
            <a:pPr lvl="1"/>
            <a:r>
              <a:rPr lang="en-US" altLang="zh-CN" dirty="0"/>
              <a:t>Push</a:t>
            </a:r>
            <a:r>
              <a:rPr lang="zh-CN" altLang="en-US" dirty="0"/>
              <a:t>：数据源向后推出</a:t>
            </a:r>
            <a:endParaRPr lang="en-US" altLang="zh-CN" dirty="0"/>
          </a:p>
          <a:p>
            <a:pPr lvl="1"/>
            <a:r>
              <a:rPr lang="en-US" altLang="zh-CN" dirty="0"/>
              <a:t>Pull</a:t>
            </a:r>
            <a:r>
              <a:rPr lang="zh-CN" altLang="en-US" dirty="0"/>
              <a:t>：数据接收者从前方拉入</a:t>
            </a:r>
            <a:endParaRPr lang="en-US" altLang="zh-CN" dirty="0"/>
          </a:p>
          <a:p>
            <a:pPr lvl="1"/>
            <a:r>
              <a:rPr lang="en-US" altLang="zh-CN" dirty="0"/>
              <a:t>Push/Pull</a:t>
            </a:r>
            <a:r>
              <a:rPr lang="zh-CN" altLang="en-US" dirty="0"/>
              <a:t>结合：过滤器主动拉出，再将处理后的数据推入</a:t>
            </a:r>
          </a:p>
        </p:txBody>
      </p:sp>
    </p:spTree>
    <p:extLst>
      <p:ext uri="{BB962C8B-B14F-4D97-AF65-F5344CB8AC3E}">
        <p14:creationId xmlns:p14="http://schemas.microsoft.com/office/powerpoint/2010/main" val="2654120383"/>
      </p:ext>
    </p:extLst>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62F2A-5E48-4562-96C3-F67BA9E33EFE}"/>
              </a:ext>
            </a:extLst>
          </p:cNvPr>
          <p:cNvSpPr>
            <a:spLocks noGrp="1"/>
          </p:cNvSpPr>
          <p:nvPr>
            <p:ph type="title"/>
          </p:nvPr>
        </p:nvSpPr>
        <p:spPr/>
        <p:txBody>
          <a:bodyPr/>
          <a:lstStyle/>
          <a:p>
            <a:r>
              <a:rPr lang="zh-CN" altLang="en-US" dirty="0">
                <a:latin typeface="宋体" panose="02010600030101010101" pitchFamily="2" charset="-122"/>
              </a:rPr>
              <a:t>管道过滤器风格的优点</a:t>
            </a:r>
            <a:r>
              <a:rPr lang="zh-CN" altLang="en-US" dirty="0"/>
              <a:t> </a:t>
            </a:r>
          </a:p>
        </p:txBody>
      </p:sp>
      <p:sp>
        <p:nvSpPr>
          <p:cNvPr id="3" name="内容占位符 2">
            <a:extLst>
              <a:ext uri="{FF2B5EF4-FFF2-40B4-BE49-F238E27FC236}">
                <a16:creationId xmlns:a16="http://schemas.microsoft.com/office/drawing/2014/main" id="{2A1C3AA3-3ECC-4F5E-89DD-0B9D4DCF64B0}"/>
              </a:ext>
            </a:extLst>
          </p:cNvPr>
          <p:cNvSpPr>
            <a:spLocks noGrp="1"/>
          </p:cNvSpPr>
          <p:nvPr>
            <p:ph idx="1"/>
          </p:nvPr>
        </p:nvSpPr>
        <p:spPr>
          <a:xfrm>
            <a:off x="251520" y="1298882"/>
            <a:ext cx="8263830" cy="4548163"/>
          </a:xfrm>
        </p:spPr>
        <p:txBody>
          <a:bodyPr/>
          <a:lstStyle/>
          <a:p>
            <a:pPr lvl="1"/>
            <a:r>
              <a:rPr lang="zh-CN" altLang="en-US" dirty="0"/>
              <a:t>（</a:t>
            </a:r>
            <a:r>
              <a:rPr lang="en-US" altLang="zh-CN" dirty="0"/>
              <a:t>1</a:t>
            </a:r>
            <a:r>
              <a:rPr lang="zh-CN" altLang="en-US" dirty="0"/>
              <a:t>）由于每个组件行为不受其他组件的影响，整个系统的行为易于理解。</a:t>
            </a:r>
            <a:endParaRPr lang="en-US" altLang="zh-CN" dirty="0"/>
          </a:p>
          <a:p>
            <a:pPr lvl="1"/>
            <a:r>
              <a:rPr lang="zh-CN" altLang="en-US" dirty="0"/>
              <a:t>（</a:t>
            </a:r>
            <a:r>
              <a:rPr lang="en-US" altLang="zh-CN" dirty="0"/>
              <a:t>2</a:t>
            </a:r>
            <a:r>
              <a:rPr lang="zh-CN" altLang="en-US" dirty="0"/>
              <a:t>）支持功能模块的重用，任意两个过滤器只要相互间所传输的数据格式上达到一致，就可以连接在一起。</a:t>
            </a:r>
            <a:endParaRPr lang="en-US" altLang="zh-CN" dirty="0"/>
          </a:p>
          <a:p>
            <a:pPr lvl="1"/>
            <a:r>
              <a:rPr lang="zh-CN" altLang="en-US" dirty="0"/>
              <a:t>（</a:t>
            </a:r>
            <a:r>
              <a:rPr lang="en-US" altLang="zh-CN" dirty="0"/>
              <a:t>3</a:t>
            </a:r>
            <a:r>
              <a:rPr lang="zh-CN" altLang="en-US" dirty="0"/>
              <a:t>）系统易于维护和扩展。新的过滤器容易加入到系统中，旧的过滤器也可被改进的过滤器替换。</a:t>
            </a:r>
            <a:endParaRPr lang="en-US" altLang="zh-CN" dirty="0"/>
          </a:p>
          <a:p>
            <a:pPr lvl="1"/>
            <a:r>
              <a:rPr lang="zh-CN" altLang="en-US" dirty="0"/>
              <a:t>（</a:t>
            </a:r>
            <a:r>
              <a:rPr lang="en-US" altLang="zh-CN" dirty="0"/>
              <a:t>4</a:t>
            </a:r>
            <a:r>
              <a:rPr lang="zh-CN" altLang="en-US" dirty="0"/>
              <a:t>）支持特殊的分析，如吞吐量分析、死锁分析。</a:t>
            </a:r>
            <a:endParaRPr lang="en-US" altLang="zh-CN" dirty="0"/>
          </a:p>
          <a:p>
            <a:pPr lvl="1"/>
            <a:r>
              <a:rPr lang="zh-CN" altLang="en-US" dirty="0"/>
              <a:t>（</a:t>
            </a:r>
            <a:r>
              <a:rPr lang="en-US" altLang="zh-CN" dirty="0"/>
              <a:t>5</a:t>
            </a:r>
            <a:r>
              <a:rPr lang="zh-CN" altLang="en-US" dirty="0"/>
              <a:t>）支持并发执行，每个过滤器既可以独立运行，也可以和其它过滤器并发执行。</a:t>
            </a:r>
          </a:p>
          <a:p>
            <a:endParaRPr lang="zh-CN" altLang="en-US" dirty="0"/>
          </a:p>
        </p:txBody>
      </p:sp>
      <p:graphicFrame>
        <p:nvGraphicFramePr>
          <p:cNvPr id="4" name="Object 9">
            <a:extLst>
              <a:ext uri="{FF2B5EF4-FFF2-40B4-BE49-F238E27FC236}">
                <a16:creationId xmlns:a16="http://schemas.microsoft.com/office/drawing/2014/main" id="{BC9BD085-2D42-43A9-9BED-AD5EB9C52C85}"/>
              </a:ext>
            </a:extLst>
          </p:cNvPr>
          <p:cNvGraphicFramePr>
            <a:graphicFrameLocks noChangeAspect="1"/>
          </p:cNvGraphicFramePr>
          <p:nvPr>
            <p:extLst>
              <p:ext uri="{D42A27DB-BD31-4B8C-83A1-F6EECF244321}">
                <p14:modId xmlns:p14="http://schemas.microsoft.com/office/powerpoint/2010/main" val="1749067595"/>
              </p:ext>
            </p:extLst>
          </p:nvPr>
        </p:nvGraphicFramePr>
        <p:xfrm>
          <a:off x="899592" y="4725144"/>
          <a:ext cx="3886200" cy="1304925"/>
        </p:xfrm>
        <a:graphic>
          <a:graphicData uri="http://schemas.openxmlformats.org/presentationml/2006/ole">
            <mc:AlternateContent xmlns:mc="http://schemas.openxmlformats.org/markup-compatibility/2006">
              <mc:Choice xmlns:v="urn:schemas-microsoft-com:vml" Requires="v">
                <p:oleObj spid="_x0000_s36994" r:id="rId3" imgW="6771429" imgH="1580952" progId="Paint.Picture">
                  <p:embed/>
                </p:oleObj>
              </mc:Choice>
              <mc:Fallback>
                <p:oleObj r:id="rId3" imgW="6771429" imgH="1580952" progId="Paint.Picture">
                  <p:embed/>
                  <p:pic>
                    <p:nvPicPr>
                      <p:cNvPr id="31755" name="Object 9">
                        <a:extLst>
                          <a:ext uri="{FF2B5EF4-FFF2-40B4-BE49-F238E27FC236}">
                            <a16:creationId xmlns:a16="http://schemas.microsoft.com/office/drawing/2014/main" id="{678F1C4C-E07C-4E93-8D12-63A3A281F9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4725144"/>
                        <a:ext cx="38862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 name="Object 11">
            <a:extLst>
              <a:ext uri="{FF2B5EF4-FFF2-40B4-BE49-F238E27FC236}">
                <a16:creationId xmlns:a16="http://schemas.microsoft.com/office/drawing/2014/main" id="{B0855967-3A99-41C6-93E1-E7F0F3B7F589}"/>
              </a:ext>
            </a:extLst>
          </p:cNvPr>
          <p:cNvGraphicFramePr>
            <a:graphicFrameLocks noChangeAspect="1"/>
          </p:cNvGraphicFramePr>
          <p:nvPr>
            <p:extLst>
              <p:ext uri="{D42A27DB-BD31-4B8C-83A1-F6EECF244321}">
                <p14:modId xmlns:p14="http://schemas.microsoft.com/office/powerpoint/2010/main" val="916106141"/>
              </p:ext>
            </p:extLst>
          </p:nvPr>
        </p:nvGraphicFramePr>
        <p:xfrm>
          <a:off x="4938192" y="4267944"/>
          <a:ext cx="3829050" cy="2414588"/>
        </p:xfrm>
        <a:graphic>
          <a:graphicData uri="http://schemas.openxmlformats.org/presentationml/2006/ole">
            <mc:AlternateContent xmlns:mc="http://schemas.openxmlformats.org/markup-compatibility/2006">
              <mc:Choice xmlns:v="urn:schemas-microsoft-com:vml" Requires="v">
                <p:oleObj spid="_x0000_s36995" r:id="rId5" imgW="5877745" imgH="4629796" progId="Paint.Picture">
                  <p:embed/>
                </p:oleObj>
              </mc:Choice>
              <mc:Fallback>
                <p:oleObj r:id="rId5" imgW="5877745" imgH="4629796" progId="Paint.Picture">
                  <p:embed/>
                  <p:pic>
                    <p:nvPicPr>
                      <p:cNvPr id="31757" name="Object 11">
                        <a:extLst>
                          <a:ext uri="{FF2B5EF4-FFF2-40B4-BE49-F238E27FC236}">
                            <a16:creationId xmlns:a16="http://schemas.microsoft.com/office/drawing/2014/main" id="{F829174F-A8DD-4158-81E0-0D33497716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8192" y="4267944"/>
                        <a:ext cx="382905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34147450"/>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a:extLst>
              <a:ext uri="{FF2B5EF4-FFF2-40B4-BE49-F238E27FC236}">
                <a16:creationId xmlns:a16="http://schemas.microsoft.com/office/drawing/2014/main" id="{62EB3431-B86B-4DE7-8A38-3D1EF3D65CD3}"/>
              </a:ext>
            </a:extLst>
          </p:cNvPr>
          <p:cNvSpPr>
            <a:spLocks noGrp="1" noChangeArrowheads="1"/>
          </p:cNvSpPr>
          <p:nvPr>
            <p:ph type="title"/>
          </p:nvPr>
        </p:nvSpPr>
        <p:spPr/>
        <p:txBody>
          <a:bodyPr/>
          <a:lstStyle/>
          <a:p>
            <a:r>
              <a:rPr lang="zh-CN" altLang="en-US">
                <a:latin typeface="宋体" panose="02010600030101010101" pitchFamily="2" charset="-122"/>
              </a:rPr>
              <a:t>管道过滤器风格的缺点</a:t>
            </a:r>
            <a:r>
              <a:rPr lang="zh-CN" altLang="en-US"/>
              <a:t> </a:t>
            </a:r>
          </a:p>
        </p:txBody>
      </p:sp>
      <p:sp>
        <p:nvSpPr>
          <p:cNvPr id="32772" name="Rectangle 3">
            <a:extLst>
              <a:ext uri="{FF2B5EF4-FFF2-40B4-BE49-F238E27FC236}">
                <a16:creationId xmlns:a16="http://schemas.microsoft.com/office/drawing/2014/main" id="{0BB5C278-65D2-43AF-81D0-7149A772C030}"/>
              </a:ext>
            </a:extLst>
          </p:cNvPr>
          <p:cNvSpPr>
            <a:spLocks noGrp="1" noChangeArrowheads="1"/>
          </p:cNvSpPr>
          <p:nvPr>
            <p:ph idx="1"/>
          </p:nvPr>
        </p:nvSpPr>
        <p:spPr/>
        <p:txBody>
          <a:bodyPr/>
          <a:lstStyle/>
          <a:p>
            <a:pPr>
              <a:lnSpc>
                <a:spcPct val="100000"/>
              </a:lnSpc>
            </a:pPr>
            <a:r>
              <a:rPr lang="zh-CN" altLang="en-US" sz="2800" dirty="0">
                <a:latin typeface="宋体" panose="02010600030101010101" pitchFamily="2" charset="-122"/>
              </a:rPr>
              <a:t>往往导致系统处理过程的成批操作。</a:t>
            </a:r>
            <a:r>
              <a:rPr lang="zh-CN" altLang="en-US" sz="2800" dirty="0"/>
              <a:t> </a:t>
            </a:r>
          </a:p>
          <a:p>
            <a:pPr>
              <a:lnSpc>
                <a:spcPct val="100000"/>
              </a:lnSpc>
            </a:pPr>
            <a:r>
              <a:rPr lang="zh-CN" altLang="en-US" sz="2800" dirty="0">
                <a:latin typeface="宋体" panose="02010600030101010101" pitchFamily="2" charset="-122"/>
              </a:rPr>
              <a:t>在处理两个独立但又相关的数据流时可能会遇到困难（</a:t>
            </a:r>
            <a:r>
              <a:rPr lang="zh-CN" altLang="en-US" dirty="0"/>
              <a:t>交互式的应用程序</a:t>
            </a:r>
            <a:r>
              <a:rPr lang="zh-CN" altLang="en-US" sz="2800" dirty="0">
                <a:latin typeface="宋体" panose="02010600030101010101" pitchFamily="2" charset="-122"/>
              </a:rPr>
              <a:t>）</a:t>
            </a:r>
            <a:r>
              <a:rPr lang="zh-CN" altLang="en-US" sz="2800" dirty="0"/>
              <a:t> 。</a:t>
            </a:r>
          </a:p>
          <a:p>
            <a:pPr>
              <a:lnSpc>
                <a:spcPct val="100000"/>
              </a:lnSpc>
            </a:pPr>
            <a:r>
              <a:rPr lang="zh-CN" altLang="en-US" sz="2800" dirty="0">
                <a:latin typeface="宋体" panose="02010600030101010101" pitchFamily="2" charset="-122"/>
              </a:rPr>
              <a:t>需要对数据传输进行特定的处理时，会导致对于每个过滤器的解析输入和格式化输出要做更多的工作，带来系统复杂性的上升。</a:t>
            </a:r>
            <a:endParaRPr lang="en-US" altLang="zh-CN" sz="2800" dirty="0">
              <a:latin typeface="宋体" panose="02010600030101010101" pitchFamily="2" charset="-122"/>
            </a:endParaRPr>
          </a:p>
          <a:p>
            <a:pPr>
              <a:lnSpc>
                <a:spcPct val="100000"/>
              </a:lnSpc>
            </a:pPr>
            <a:r>
              <a:rPr lang="zh-CN" altLang="en-US" dirty="0">
                <a:latin typeface="宋体" panose="02010600030101010101" pitchFamily="2" charset="-122"/>
              </a:rPr>
              <a:t>并行处理的效率往往是假象</a:t>
            </a:r>
            <a:endParaRPr lang="en-US" altLang="zh-CN" dirty="0">
              <a:latin typeface="宋体" panose="02010600030101010101" pitchFamily="2" charset="-122"/>
            </a:endParaRPr>
          </a:p>
          <a:p>
            <a:pPr lvl="1">
              <a:lnSpc>
                <a:spcPct val="100000"/>
              </a:lnSpc>
            </a:pPr>
            <a:r>
              <a:rPr lang="zh-CN" altLang="en-US" dirty="0">
                <a:latin typeface="宋体" panose="02010600030101010101" pitchFamily="2" charset="-122"/>
              </a:rPr>
              <a:t>过滤器之间传输代价、部分过滤器写得很差、进程线程的关联转换成本、同步化</a:t>
            </a:r>
            <a:r>
              <a:rPr lang="zh-CN" altLang="en-US" dirty="0"/>
              <a:t> </a:t>
            </a:r>
          </a:p>
        </p:txBody>
      </p:sp>
      <p:sp>
        <p:nvSpPr>
          <p:cNvPr id="32769" name="灯片编号占位符 3">
            <a:extLst>
              <a:ext uri="{FF2B5EF4-FFF2-40B4-BE49-F238E27FC236}">
                <a16:creationId xmlns:a16="http://schemas.microsoft.com/office/drawing/2014/main" id="{619258B7-325D-426A-A855-1566CE1ADBD6}"/>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0D3EF80-ADA1-439B-B778-935BE68E2E38}" type="slidenum">
              <a:rPr lang="en-US" altLang="zh-CN">
                <a:latin typeface="Arial Black" panose="020B0A04020102020204" pitchFamily="34" charset="0"/>
              </a:rPr>
              <a:pPr eaLnBrk="1" hangingPunct="1">
                <a:buFont typeface="Arial" panose="020B0604020202020204" pitchFamily="34" charset="0"/>
                <a:buNone/>
              </a:pPr>
              <a:t>37</a:t>
            </a:fld>
            <a:endParaRPr lang="en-US" altLang="zh-CN">
              <a:latin typeface="Arial Black" panose="020B0A04020102020204" pitchFamily="34" charset="0"/>
            </a:endParaRPr>
          </a:p>
        </p:txBody>
      </p:sp>
      <p:sp>
        <p:nvSpPr>
          <p:cNvPr id="32770" name="日期占位符 4">
            <a:extLst>
              <a:ext uri="{FF2B5EF4-FFF2-40B4-BE49-F238E27FC236}">
                <a16:creationId xmlns:a16="http://schemas.microsoft.com/office/drawing/2014/main" id="{A3302830-156F-41AA-B331-3F1AA4A24B13}"/>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03D3CDD-85C9-42F1-A4E9-3AC32D3290AC}"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772">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77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D081A195-D86D-4AD9-A33D-CE44CDB23464}"/>
              </a:ext>
            </a:extLst>
          </p:cNvPr>
          <p:cNvSpPr>
            <a:spLocks noGrp="1" noChangeArrowheads="1"/>
          </p:cNvSpPr>
          <p:nvPr>
            <p:ph type="title"/>
          </p:nvPr>
        </p:nvSpPr>
        <p:spPr/>
        <p:txBody>
          <a:bodyPr/>
          <a:lstStyle/>
          <a:p>
            <a:r>
              <a:rPr lang="en-US" altLang="zh-CN" sz="4000" b="0" dirty="0"/>
              <a:t>Batch Sequential vs Pipe &amp; Filter</a:t>
            </a:r>
          </a:p>
        </p:txBody>
      </p:sp>
      <p:pic>
        <p:nvPicPr>
          <p:cNvPr id="33797" name="Picture 4">
            <a:extLst>
              <a:ext uri="{FF2B5EF4-FFF2-40B4-BE49-F238E27FC236}">
                <a16:creationId xmlns:a16="http://schemas.microsoft.com/office/drawing/2014/main" id="{7587E394-283B-48E5-B579-68DDD597F6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628650" y="3279426"/>
            <a:ext cx="7886700" cy="1443735"/>
          </a:xfrm>
          <a:extLst>
            <a:ext uri="{91240B29-F687-4F45-9708-019B960494DF}">
              <a14:hiddenLine xmlns:a14="http://schemas.microsoft.com/office/drawing/2010/main" w="12700">
                <a:solidFill>
                  <a:srgbClr val="000000"/>
                </a:solidFill>
                <a:miter lim="800000"/>
                <a:headEnd/>
                <a:tailEnd/>
              </a14:hiddenLine>
            </a:ext>
          </a:extLst>
        </p:spPr>
      </p:pic>
      <p:sp>
        <p:nvSpPr>
          <p:cNvPr id="33793" name="灯片编号占位符 3">
            <a:extLst>
              <a:ext uri="{FF2B5EF4-FFF2-40B4-BE49-F238E27FC236}">
                <a16:creationId xmlns:a16="http://schemas.microsoft.com/office/drawing/2014/main" id="{50089C04-163C-49DE-A973-C2F8AD7B1985}"/>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F07B1E43-AC84-46EA-B024-B6E2B771AED6}" type="slidenum">
              <a:rPr lang="en-US" altLang="zh-CN">
                <a:latin typeface="Arial Black" panose="020B0A04020102020204" pitchFamily="34" charset="0"/>
              </a:rPr>
              <a:pPr eaLnBrk="1" hangingPunct="1">
                <a:buFont typeface="Arial" panose="020B0604020202020204" pitchFamily="34" charset="0"/>
                <a:buNone/>
              </a:pPr>
              <a:t>38</a:t>
            </a:fld>
            <a:endParaRPr lang="en-US" altLang="zh-CN">
              <a:latin typeface="Arial Black" panose="020B0A04020102020204" pitchFamily="34" charset="0"/>
            </a:endParaRPr>
          </a:p>
        </p:txBody>
      </p:sp>
      <p:pic>
        <p:nvPicPr>
          <p:cNvPr id="33796" name="Picture 3">
            <a:extLst>
              <a:ext uri="{FF2B5EF4-FFF2-40B4-BE49-F238E27FC236}">
                <a16:creationId xmlns:a16="http://schemas.microsoft.com/office/drawing/2014/main" id="{D4804281-270A-457C-B834-8ABF0E5C31B6}"/>
              </a:ext>
            </a:extLst>
          </p:cNvPr>
          <p:cNvPicPr>
            <a:picLocks noGrp="1" noChangeArrowheads="1"/>
          </p:cNvPicPr>
          <p:nvPr>
            <p:ph type="body" idx="4294967295"/>
          </p:nvPr>
        </p:nvPicPr>
        <p:blipFill>
          <a:blip r:embed="rId3">
            <a:extLst>
              <a:ext uri="{28A0092B-C50C-407E-A947-70E740481C1C}">
                <a14:useLocalDpi xmlns:a14="http://schemas.microsoft.com/office/drawing/2010/main" val="0"/>
              </a:ext>
            </a:extLst>
          </a:blip>
          <a:srcRect/>
          <a:stretch>
            <a:fillRect/>
          </a:stretch>
        </p:blipFill>
        <p:spPr>
          <a:xfrm>
            <a:off x="0" y="2230438"/>
            <a:ext cx="8180388" cy="1198562"/>
          </a:xfrm>
        </p:spPr>
      </p:pic>
      <p:sp>
        <p:nvSpPr>
          <p:cNvPr id="33794" name="日期占位符 4">
            <a:extLst>
              <a:ext uri="{FF2B5EF4-FFF2-40B4-BE49-F238E27FC236}">
                <a16:creationId xmlns:a16="http://schemas.microsoft.com/office/drawing/2014/main" id="{00E73D4E-C5DE-405D-B6BB-6114F446E4DB}"/>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5BC6A414-C9FA-48E2-A04B-77D5DF98F7EA}"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7834FC4F-35E9-4B4F-A88F-6A664648DE6E}"/>
              </a:ext>
            </a:extLst>
          </p:cNvPr>
          <p:cNvSpPr>
            <a:spLocks noGrp="1" noChangeArrowheads="1"/>
          </p:cNvSpPr>
          <p:nvPr>
            <p:ph type="title"/>
          </p:nvPr>
        </p:nvSpPr>
        <p:spPr/>
        <p:txBody>
          <a:bodyPr/>
          <a:lstStyle/>
          <a:p>
            <a:r>
              <a:rPr lang="en-US" altLang="zh-CN" sz="4000"/>
              <a:t>Pipe &amp; Filter</a:t>
            </a:r>
          </a:p>
        </p:txBody>
      </p:sp>
      <p:sp>
        <p:nvSpPr>
          <p:cNvPr id="34817" name="灯片编号占位符 3">
            <a:extLst>
              <a:ext uri="{FF2B5EF4-FFF2-40B4-BE49-F238E27FC236}">
                <a16:creationId xmlns:a16="http://schemas.microsoft.com/office/drawing/2014/main" id="{326C76A7-9776-4E6A-8851-B75FDA2E0177}"/>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A1BE86E-F5EB-4BAD-9F53-86C28D9CD651}" type="slidenum">
              <a:rPr lang="en-US" altLang="zh-CN">
                <a:latin typeface="Arial Black" panose="020B0A04020102020204" pitchFamily="34" charset="0"/>
              </a:rPr>
              <a:pPr eaLnBrk="1" hangingPunct="1">
                <a:buFont typeface="Arial" panose="020B0604020202020204" pitchFamily="34" charset="0"/>
                <a:buNone/>
              </a:pPr>
              <a:t>39</a:t>
            </a:fld>
            <a:endParaRPr lang="en-US" altLang="zh-CN">
              <a:latin typeface="Arial Black" panose="020B0A04020102020204" pitchFamily="34" charset="0"/>
            </a:endParaRPr>
          </a:p>
        </p:txBody>
      </p:sp>
      <p:sp>
        <p:nvSpPr>
          <p:cNvPr id="34818" name="日期占位符 4">
            <a:extLst>
              <a:ext uri="{FF2B5EF4-FFF2-40B4-BE49-F238E27FC236}">
                <a16:creationId xmlns:a16="http://schemas.microsoft.com/office/drawing/2014/main" id="{C020B89B-30FC-4F6F-9D0D-D9E92F521D81}"/>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47110757-699A-4C23-B0BA-4A32C1B9FF8D}" type="datetime1">
              <a:rPr lang="zh-CN" altLang="en-US"/>
              <a:pPr eaLnBrk="1" hangingPunct="1">
                <a:buFont typeface="Arial" panose="020B0604020202020204" pitchFamily="34" charset="0"/>
                <a:buNone/>
              </a:pPr>
              <a:t>2021/5/13</a:t>
            </a:fld>
            <a:endParaRPr lang="zh-CN" altLang="en-US"/>
          </a:p>
        </p:txBody>
      </p:sp>
      <p:sp>
        <p:nvSpPr>
          <p:cNvPr id="34820" name="Rectangle 70">
            <a:extLst>
              <a:ext uri="{FF2B5EF4-FFF2-40B4-BE49-F238E27FC236}">
                <a16:creationId xmlns:a16="http://schemas.microsoft.com/office/drawing/2014/main" id="{9B5BF17B-0904-46C9-A304-2817CAD3D41F}"/>
              </a:ext>
            </a:extLst>
          </p:cNvPr>
          <p:cNvSpPr>
            <a:spLocks noChangeArrowheads="1"/>
          </p:cNvSpPr>
          <p:nvPr/>
        </p:nvSpPr>
        <p:spPr bwMode="auto">
          <a:xfrm>
            <a:off x="1938338" y="2881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21" name="Object 69">
            <a:extLst>
              <a:ext uri="{FF2B5EF4-FFF2-40B4-BE49-F238E27FC236}">
                <a16:creationId xmlns:a16="http://schemas.microsoft.com/office/drawing/2014/main" id="{08F2DAB9-CD4E-4B90-BCDF-00A56E8F275C}"/>
              </a:ext>
            </a:extLst>
          </p:cNvPr>
          <p:cNvGraphicFramePr>
            <a:graphicFrameLocks noChangeAspect="1"/>
          </p:cNvGraphicFramePr>
          <p:nvPr/>
        </p:nvGraphicFramePr>
        <p:xfrm>
          <a:off x="1143000" y="1752600"/>
          <a:ext cx="6553200" cy="1362075"/>
        </p:xfrm>
        <a:graphic>
          <a:graphicData uri="http://schemas.openxmlformats.org/presentationml/2006/ole">
            <mc:AlternateContent xmlns:mc="http://schemas.openxmlformats.org/markup-compatibility/2006">
              <mc:Choice xmlns:v="urn:schemas-microsoft-com:vml" Requires="v">
                <p:oleObj spid="_x0000_s34982" r:id="rId3" imgW="6342857" imgH="1314286" progId="Paint.Picture">
                  <p:embed/>
                </p:oleObj>
              </mc:Choice>
              <mc:Fallback>
                <p:oleObj r:id="rId3" imgW="6342857" imgH="1314286" progId="Paint.Picture">
                  <p:embed/>
                  <p:pic>
                    <p:nvPicPr>
                      <p:cNvPr id="0" name="Object 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752600"/>
                        <a:ext cx="655320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22" name="Rectangle 72">
            <a:extLst>
              <a:ext uri="{FF2B5EF4-FFF2-40B4-BE49-F238E27FC236}">
                <a16:creationId xmlns:a16="http://schemas.microsoft.com/office/drawing/2014/main" id="{760D5DEC-F967-4A1B-81E1-18172FFF0CA8}"/>
              </a:ext>
            </a:extLst>
          </p:cNvPr>
          <p:cNvSpPr>
            <a:spLocks noChangeArrowheads="1"/>
          </p:cNvSpPr>
          <p:nvPr/>
        </p:nvSpPr>
        <p:spPr bwMode="auto">
          <a:xfrm>
            <a:off x="1933575" y="26146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4823" name="Object 71">
            <a:extLst>
              <a:ext uri="{FF2B5EF4-FFF2-40B4-BE49-F238E27FC236}">
                <a16:creationId xmlns:a16="http://schemas.microsoft.com/office/drawing/2014/main" id="{18B8FD1A-C581-4E9E-A2DA-FBA8D65C115D}"/>
              </a:ext>
            </a:extLst>
          </p:cNvPr>
          <p:cNvGraphicFramePr>
            <a:graphicFrameLocks noChangeAspect="1"/>
          </p:cNvGraphicFramePr>
          <p:nvPr/>
        </p:nvGraphicFramePr>
        <p:xfrm>
          <a:off x="1143000" y="3505200"/>
          <a:ext cx="6400800" cy="1976438"/>
        </p:xfrm>
        <a:graphic>
          <a:graphicData uri="http://schemas.openxmlformats.org/presentationml/2006/ole">
            <mc:AlternateContent xmlns:mc="http://schemas.openxmlformats.org/markup-compatibility/2006">
              <mc:Choice xmlns:v="urn:schemas-microsoft-com:vml" Requires="v">
                <p:oleObj spid="_x0000_s34983" r:id="rId5" imgW="7478169" imgH="2305372" progId="Paint.Picture">
                  <p:embed/>
                </p:oleObj>
              </mc:Choice>
              <mc:Fallback>
                <p:oleObj r:id="rId5" imgW="7478169" imgH="2305372" progId="Paint.Picture">
                  <p:embed/>
                  <p:pic>
                    <p:nvPicPr>
                      <p:cNvPr id="0" name="Object 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505200"/>
                        <a:ext cx="6400800" cy="197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DE251-5138-4081-B549-13C7D25410B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363096E3-0A8E-4DDD-ADDD-7FBDE85D1460}"/>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9A44A9CA-8936-4F5B-8816-79140D29771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935596" y="1700808"/>
            <a:ext cx="7272808" cy="3779911"/>
          </a:xfrm>
          <a:prstGeom prst="rect">
            <a:avLst/>
          </a:prstGeom>
        </p:spPr>
      </p:pic>
    </p:spTree>
    <p:extLst>
      <p:ext uri="{BB962C8B-B14F-4D97-AF65-F5344CB8AC3E}">
        <p14:creationId xmlns:p14="http://schemas.microsoft.com/office/powerpoint/2010/main" val="1196783143"/>
      </p:ext>
    </p:extLst>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F6405A-8446-46FB-BA1E-8C07B4663C3A}"/>
              </a:ext>
            </a:extLst>
          </p:cNvPr>
          <p:cNvSpPr>
            <a:spLocks noGrp="1"/>
          </p:cNvSpPr>
          <p:nvPr>
            <p:ph type="title"/>
          </p:nvPr>
        </p:nvSpPr>
        <p:spPr/>
        <p:txBody>
          <a:bodyPr/>
          <a:lstStyle/>
          <a:p>
            <a:r>
              <a:rPr lang="zh-CN" altLang="en-US" dirty="0"/>
              <a:t>实例</a:t>
            </a:r>
          </a:p>
        </p:txBody>
      </p:sp>
      <p:sp>
        <p:nvSpPr>
          <p:cNvPr id="3" name="内容占位符 2">
            <a:extLst>
              <a:ext uri="{FF2B5EF4-FFF2-40B4-BE49-F238E27FC236}">
                <a16:creationId xmlns:a16="http://schemas.microsoft.com/office/drawing/2014/main" id="{A5B1896C-4816-4306-8C4A-2B1FD64B9064}"/>
              </a:ext>
            </a:extLst>
          </p:cNvPr>
          <p:cNvSpPr>
            <a:spLocks noGrp="1"/>
          </p:cNvSpPr>
          <p:nvPr>
            <p:ph idx="1"/>
          </p:nvPr>
        </p:nvSpPr>
        <p:spPr/>
        <p:txBody>
          <a:bodyPr/>
          <a:lstStyle/>
          <a:p>
            <a:r>
              <a:rPr lang="zh-CN" altLang="en-US" dirty="0"/>
              <a:t>千年虫问题</a:t>
            </a:r>
            <a:endParaRPr lang="en-US" altLang="zh-CN" dirty="0"/>
          </a:p>
          <a:p>
            <a:pPr lvl="1"/>
            <a:r>
              <a:rPr lang="zh-CN" altLang="en-US" dirty="0"/>
              <a:t>将</a:t>
            </a:r>
            <a:r>
              <a:rPr lang="en-US" altLang="zh-CN" dirty="0"/>
              <a:t>2</a:t>
            </a:r>
            <a:r>
              <a:rPr lang="zh-CN" altLang="en-US" dirty="0"/>
              <a:t>位年份改为</a:t>
            </a:r>
            <a:r>
              <a:rPr lang="en-US" altLang="zh-CN" dirty="0"/>
              <a:t>4</a:t>
            </a:r>
            <a:r>
              <a:rPr lang="zh-CN" altLang="en-US" dirty="0"/>
              <a:t>位，如</a:t>
            </a:r>
            <a:r>
              <a:rPr lang="en-US" altLang="zh-CN" dirty="0"/>
              <a:t>95-&gt;1995</a:t>
            </a:r>
          </a:p>
          <a:p>
            <a:pPr lvl="1"/>
            <a:r>
              <a:rPr lang="zh-CN" altLang="en-US" dirty="0"/>
              <a:t>为处理完的行添加注释，如处理日期</a:t>
            </a:r>
            <a:endParaRPr lang="en-US" altLang="zh-CN" dirty="0"/>
          </a:p>
        </p:txBody>
      </p:sp>
      <p:pic>
        <p:nvPicPr>
          <p:cNvPr id="4" name="图片 3">
            <a:extLst>
              <a:ext uri="{FF2B5EF4-FFF2-40B4-BE49-F238E27FC236}">
                <a16:creationId xmlns:a16="http://schemas.microsoft.com/office/drawing/2014/main" id="{DFF634DC-A73F-4EEF-AEAC-781BE3248E36}"/>
              </a:ext>
            </a:extLst>
          </p:cNvPr>
          <p:cNvPicPr>
            <a:picLocks noChangeAspect="1"/>
          </p:cNvPicPr>
          <p:nvPr/>
        </p:nvPicPr>
        <p:blipFill rotWithShape="1">
          <a:blip r:embed="rId2"/>
          <a:srcRect t="45149"/>
          <a:stretch/>
        </p:blipFill>
        <p:spPr>
          <a:xfrm>
            <a:off x="192958" y="4005064"/>
            <a:ext cx="8504084" cy="2099575"/>
          </a:xfrm>
          <a:prstGeom prst="rect">
            <a:avLst/>
          </a:prstGeom>
        </p:spPr>
      </p:pic>
    </p:spTree>
    <p:extLst>
      <p:ext uri="{BB962C8B-B14F-4D97-AF65-F5344CB8AC3E}">
        <p14:creationId xmlns:p14="http://schemas.microsoft.com/office/powerpoint/2010/main" val="2198378391"/>
      </p:ext>
    </p:extLst>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044455-B604-4EE1-AFA1-42DCFE00C8C3}"/>
              </a:ext>
            </a:extLst>
          </p:cNvPr>
          <p:cNvSpPr>
            <a:spLocks noGrp="1"/>
          </p:cNvSpPr>
          <p:nvPr>
            <p:ph type="title"/>
          </p:nvPr>
        </p:nvSpPr>
        <p:spPr/>
        <p:txBody>
          <a:bodyPr/>
          <a:lstStyle/>
          <a:p>
            <a:r>
              <a:rPr lang="zh-CN" altLang="en-US" dirty="0"/>
              <a:t>常见实现方式</a:t>
            </a:r>
          </a:p>
        </p:txBody>
      </p:sp>
      <p:sp>
        <p:nvSpPr>
          <p:cNvPr id="3" name="内容占位符 2">
            <a:extLst>
              <a:ext uri="{FF2B5EF4-FFF2-40B4-BE49-F238E27FC236}">
                <a16:creationId xmlns:a16="http://schemas.microsoft.com/office/drawing/2014/main" id="{95CE37EB-AC01-4194-94F7-21F895009B54}"/>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0C2CE81B-0D25-424A-BEC5-D8464D36544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1650" y="1932634"/>
            <a:ext cx="7415116" cy="4726767"/>
          </a:xfrm>
          <a:prstGeom prst="rect">
            <a:avLst/>
          </a:prstGeom>
        </p:spPr>
      </p:pic>
    </p:spTree>
    <p:extLst>
      <p:ext uri="{BB962C8B-B14F-4D97-AF65-F5344CB8AC3E}">
        <p14:creationId xmlns:p14="http://schemas.microsoft.com/office/powerpoint/2010/main" val="4048322308"/>
      </p:ext>
    </p:extLst>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DC8DDF-EF06-4465-8134-4761066C4B2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72CBE14-CBA0-4ADF-AE0A-5C435C9AE29A}"/>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2A4C69F3-5532-43FC-874D-632665242321}"/>
              </a:ext>
            </a:extLst>
          </p:cNvPr>
          <p:cNvPicPr>
            <a:picLocks noChangeAspect="1"/>
          </p:cNvPicPr>
          <p:nvPr/>
        </p:nvPicPr>
        <p:blipFill>
          <a:blip r:embed="rId2"/>
          <a:stretch>
            <a:fillRect/>
          </a:stretch>
        </p:blipFill>
        <p:spPr>
          <a:xfrm>
            <a:off x="628650" y="1700808"/>
            <a:ext cx="7886700" cy="2962517"/>
          </a:xfrm>
          <a:prstGeom prst="rect">
            <a:avLst/>
          </a:prstGeom>
        </p:spPr>
      </p:pic>
    </p:spTree>
    <p:extLst>
      <p:ext uri="{BB962C8B-B14F-4D97-AF65-F5344CB8AC3E}">
        <p14:creationId xmlns:p14="http://schemas.microsoft.com/office/powerpoint/2010/main" val="3921743198"/>
      </p:ext>
    </p:extLst>
  </p:cSld>
  <p:clrMapOvr>
    <a:masterClrMapping/>
  </p:clrMapOvr>
  <p:transition>
    <p:wipe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管道</a:t>
            </a:r>
            <a:r>
              <a:rPr lang="en-US" altLang="zh-CN" dirty="0"/>
              <a:t>-</a:t>
            </a:r>
            <a:r>
              <a:rPr lang="zh-CN" altLang="en-US" dirty="0"/>
              <a:t>过滤器风格实例</a:t>
            </a:r>
          </a:p>
        </p:txBody>
      </p:sp>
      <p:sp>
        <p:nvSpPr>
          <p:cNvPr id="3" name="内容占位符 2"/>
          <p:cNvSpPr>
            <a:spLocks noGrp="1"/>
          </p:cNvSpPr>
          <p:nvPr>
            <p:ph idx="1"/>
          </p:nvPr>
        </p:nvSpPr>
        <p:spPr>
          <a:xfrm>
            <a:off x="695960" y="1412776"/>
            <a:ext cx="7498080" cy="5053034"/>
          </a:xfrm>
        </p:spPr>
        <p:txBody>
          <a:bodyPr>
            <a:normAutofit fontScale="92500" lnSpcReduction="10000"/>
          </a:bodyPr>
          <a:lstStyle/>
          <a:p>
            <a:pPr marL="365760" lvl="1" indent="-283464" eaLnBrk="0" hangingPunct="0">
              <a:spcBef>
                <a:spcPct val="50000"/>
              </a:spcBef>
              <a:buSzPct val="80000"/>
              <a:buFont typeface="Wingdings 2"/>
              <a:buChar char=""/>
            </a:pPr>
            <a:r>
              <a:rPr lang="zh-CN" altLang="en-US" dirty="0"/>
              <a:t>在</a:t>
            </a:r>
            <a:r>
              <a:rPr lang="en-US" altLang="zh-CN" dirty="0"/>
              <a:t>Unix</a:t>
            </a:r>
            <a:r>
              <a:rPr lang="zh-CN" altLang="en-US" dirty="0"/>
              <a:t>和</a:t>
            </a:r>
            <a:r>
              <a:rPr lang="en-US" altLang="zh-CN" dirty="0"/>
              <a:t>Dos</a:t>
            </a:r>
            <a:r>
              <a:rPr lang="zh-CN" altLang="en-US" dirty="0"/>
              <a:t>中，允许在命令中出现用竖线字符“</a:t>
            </a:r>
            <a:r>
              <a:rPr lang="en-US" altLang="zh-CN" dirty="0"/>
              <a:t>|”</a:t>
            </a:r>
            <a:r>
              <a:rPr lang="zh-CN" altLang="en-US" dirty="0"/>
              <a:t>分开的多个命令，将符号“</a:t>
            </a:r>
            <a:r>
              <a:rPr lang="en-US" altLang="zh-CN" dirty="0"/>
              <a:t>|”</a:t>
            </a:r>
            <a:r>
              <a:rPr lang="zh-CN" altLang="en-US" dirty="0"/>
              <a:t>之前的命令的输出，作为“</a:t>
            </a:r>
            <a:r>
              <a:rPr lang="en-US" altLang="zh-CN" dirty="0"/>
              <a:t>|”</a:t>
            </a:r>
            <a:r>
              <a:rPr lang="zh-CN" altLang="en-US" dirty="0"/>
              <a:t>之后命令的输入，这就是“管道功能”，竖线字符“</a:t>
            </a:r>
            <a:r>
              <a:rPr lang="en-US" altLang="zh-CN" dirty="0"/>
              <a:t>|”</a:t>
            </a:r>
            <a:r>
              <a:rPr lang="zh-CN" altLang="en-US" dirty="0"/>
              <a:t>是管道操作符。</a:t>
            </a:r>
            <a:endParaRPr lang="en-US" altLang="zh-CN" dirty="0"/>
          </a:p>
          <a:p>
            <a:pPr eaLnBrk="0" hangingPunct="0">
              <a:spcBef>
                <a:spcPct val="50000"/>
              </a:spcBef>
            </a:pPr>
            <a:r>
              <a:rPr lang="zh-CN" altLang="en-US" dirty="0"/>
              <a:t>例如：</a:t>
            </a:r>
            <a:r>
              <a:rPr lang="en-US" altLang="zh-CN" dirty="0"/>
              <a:t>Unix shell</a:t>
            </a:r>
            <a:r>
              <a:rPr lang="zh-CN" altLang="en-US" dirty="0"/>
              <a:t>中</a:t>
            </a:r>
            <a:r>
              <a:rPr lang="en-US" altLang="zh-CN" dirty="0"/>
              <a:t>:</a:t>
            </a:r>
          </a:p>
          <a:p>
            <a:pPr lvl="1" eaLnBrk="0" hangingPunct="0">
              <a:spcBef>
                <a:spcPct val="50000"/>
              </a:spcBef>
            </a:pPr>
            <a:r>
              <a:rPr lang="en-US" altLang="zh-CN" dirty="0"/>
              <a:t>cat </a:t>
            </a:r>
            <a:r>
              <a:rPr lang="en-US" altLang="zh-CN" dirty="0" err="1"/>
              <a:t>file|grep</a:t>
            </a:r>
            <a:r>
              <a:rPr lang="en-US" altLang="zh-CN" dirty="0"/>
              <a:t> </a:t>
            </a:r>
            <a:r>
              <a:rPr lang="en-US" altLang="zh-CN" dirty="0" err="1"/>
              <a:t>xyz|sort|uniq</a:t>
            </a:r>
            <a:r>
              <a:rPr lang="en-US" altLang="zh-CN" dirty="0"/>
              <a:t>&gt;out</a:t>
            </a:r>
          </a:p>
          <a:p>
            <a:pPr lvl="1" eaLnBrk="0" hangingPunct="0">
              <a:spcBef>
                <a:spcPct val="50000"/>
              </a:spcBef>
            </a:pPr>
            <a:r>
              <a:rPr lang="zh-CN" altLang="en-US" dirty="0"/>
              <a:t>即找到含</a:t>
            </a:r>
            <a:r>
              <a:rPr lang="en-US" altLang="zh-CN" dirty="0"/>
              <a:t>xyz</a:t>
            </a:r>
            <a:r>
              <a:rPr lang="zh-CN" altLang="en-US" dirty="0"/>
              <a:t>的行，排序、去掉相同的行，最后输出</a:t>
            </a:r>
            <a:endParaRPr lang="en-US" altLang="zh-CN" dirty="0"/>
          </a:p>
          <a:p>
            <a:pPr lvl="1" eaLnBrk="0" hangingPunct="0">
              <a:spcBef>
                <a:spcPct val="50000"/>
              </a:spcBef>
            </a:pPr>
            <a:endParaRPr lang="en-US" altLang="zh-CN" dirty="0"/>
          </a:p>
          <a:p>
            <a:r>
              <a:rPr lang="zh-CN" altLang="en-US" dirty="0"/>
              <a:t>例如：</a:t>
            </a:r>
            <a:r>
              <a:rPr lang="en-US" altLang="zh-CN" dirty="0"/>
              <a:t>DOS</a:t>
            </a:r>
            <a:r>
              <a:rPr lang="zh-CN" altLang="en-US" dirty="0"/>
              <a:t> 中：</a:t>
            </a:r>
            <a:endParaRPr lang="en-US" altLang="zh-CN" dirty="0"/>
          </a:p>
          <a:p>
            <a:pPr lvl="1"/>
            <a:r>
              <a:rPr lang="zh-CN" altLang="en-US" dirty="0"/>
              <a:t>命令</a:t>
            </a:r>
            <a:r>
              <a:rPr lang="en-US" altLang="zh-CN" dirty="0"/>
              <a:t>dir | more</a:t>
            </a:r>
            <a:r>
              <a:rPr lang="zh-CN" altLang="en-US" dirty="0"/>
              <a:t>使得当前目录列表在屏幕上逐屏显示。</a:t>
            </a:r>
            <a:endParaRPr lang="en-US" altLang="zh-CN" dirty="0"/>
          </a:p>
          <a:p>
            <a:pPr lvl="1"/>
            <a:r>
              <a:rPr lang="en-US" altLang="zh-CN" dirty="0"/>
              <a:t>dir</a:t>
            </a:r>
            <a:r>
              <a:rPr lang="zh-CN" altLang="en-US" dirty="0"/>
              <a:t>的输出是整个目录列表，它不出现在屏幕上而是由于符号“</a:t>
            </a:r>
            <a:r>
              <a:rPr lang="en-US" altLang="zh-CN" dirty="0"/>
              <a:t>|”</a:t>
            </a:r>
            <a:r>
              <a:rPr lang="zh-CN" altLang="en-US" dirty="0"/>
              <a:t>的规定，成为下一个命令</a:t>
            </a:r>
            <a:r>
              <a:rPr lang="en-US" altLang="zh-CN" dirty="0"/>
              <a:t>more</a:t>
            </a:r>
            <a:r>
              <a:rPr lang="zh-CN" altLang="en-US" dirty="0"/>
              <a:t>的输入，</a:t>
            </a:r>
            <a:r>
              <a:rPr lang="en-US" altLang="zh-CN" dirty="0"/>
              <a:t>more</a:t>
            </a:r>
            <a:r>
              <a:rPr lang="zh-CN" altLang="en-US" dirty="0"/>
              <a:t>命令则将其输入，</a:t>
            </a:r>
            <a:r>
              <a:rPr lang="en-US" altLang="zh-CN" dirty="0"/>
              <a:t>more</a:t>
            </a:r>
            <a:r>
              <a:rPr lang="zh-CN" altLang="en-US" dirty="0"/>
              <a:t>命令则将其输入一屏一屏地显示，成为命令行的输出。</a:t>
            </a:r>
          </a:p>
        </p:txBody>
      </p:sp>
      <p:pic>
        <p:nvPicPr>
          <p:cNvPr id="4" name="图片 3">
            <a:extLst>
              <a:ext uri="{FF2B5EF4-FFF2-40B4-BE49-F238E27FC236}">
                <a16:creationId xmlns:a16="http://schemas.microsoft.com/office/drawing/2014/main" id="{2735AAAA-C7C0-486E-B8F5-BFE2427732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67744" y="4005064"/>
            <a:ext cx="4966100" cy="1359024"/>
          </a:xfrm>
          <a:prstGeom prst="rect">
            <a:avLst/>
          </a:prstGeom>
        </p:spPr>
      </p:pic>
    </p:spTree>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管道</a:t>
            </a:r>
            <a:r>
              <a:rPr lang="en-US" altLang="zh-CN" dirty="0"/>
              <a:t>-</a:t>
            </a:r>
            <a:r>
              <a:rPr lang="zh-CN" altLang="en-US" dirty="0"/>
              <a:t>过滤器风格 实例</a:t>
            </a:r>
          </a:p>
        </p:txBody>
      </p:sp>
      <p:sp>
        <p:nvSpPr>
          <p:cNvPr id="7" name="内容占位符 6"/>
          <p:cNvSpPr>
            <a:spLocks noGrp="1"/>
          </p:cNvSpPr>
          <p:nvPr>
            <p:ph idx="1"/>
          </p:nvPr>
        </p:nvSpPr>
        <p:spPr>
          <a:xfrm>
            <a:off x="628650" y="1412776"/>
            <a:ext cx="7886700" cy="4764187"/>
          </a:xfrm>
        </p:spPr>
        <p:txBody>
          <a:bodyPr/>
          <a:lstStyle/>
          <a:p>
            <a:r>
              <a:rPr lang="en-US" altLang="zh-CN" dirty="0"/>
              <a:t>dir | more </a:t>
            </a:r>
            <a:endParaRPr lang="zh-CN" altLang="en-US" dirty="0"/>
          </a:p>
        </p:txBody>
      </p:sp>
      <p:pic>
        <p:nvPicPr>
          <p:cNvPr id="8" name="图片 7" descr="a.bmp"/>
          <p:cNvPicPr>
            <a:picLocks noChangeAspect="1"/>
          </p:cNvPicPr>
          <p:nvPr/>
        </p:nvPicPr>
        <p:blipFill>
          <a:blip r:embed="rId2"/>
          <a:stretch>
            <a:fillRect/>
          </a:stretch>
        </p:blipFill>
        <p:spPr>
          <a:xfrm>
            <a:off x="2000232" y="1928802"/>
            <a:ext cx="5553170" cy="4389332"/>
          </a:xfrm>
          <a:prstGeom prst="rect">
            <a:avLst/>
          </a:prstGeom>
        </p:spPr>
      </p:pic>
    </p:spTree>
  </p:cSld>
  <p:clrMapOvr>
    <a:masterClrMapping/>
  </p:clrMapOvr>
  <p:transition>
    <p:wipe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Grp="1" noChangeArrowheads="1"/>
          </p:cNvSpPr>
          <p:nvPr>
            <p:ph type="body" idx="1"/>
          </p:nvPr>
        </p:nvSpPr>
        <p:spPr/>
        <p:txBody>
          <a:bodyPr/>
          <a:lstStyle/>
          <a:p>
            <a:pPr eaLnBrk="1" hangingPunct="1"/>
            <a:r>
              <a:rPr lang="zh-CN" altLang="en-US" dirty="0">
                <a:ea typeface="宋体" charset="-122"/>
              </a:rPr>
              <a:t>实例：</a:t>
            </a:r>
          </a:p>
          <a:p>
            <a:pPr lvl="1" eaLnBrk="1" hangingPunct="1"/>
            <a:r>
              <a:rPr lang="zh-CN" altLang="en-US" dirty="0">
                <a:ea typeface="宋体" charset="-122"/>
              </a:rPr>
              <a:t>传统的编译器，一个阶段的输出是另一个阶段的输入（包括词法分析、语法分析、语义分析和代码生成）</a:t>
            </a:r>
          </a:p>
        </p:txBody>
      </p:sp>
      <p:sp>
        <p:nvSpPr>
          <p:cNvPr id="5" name="Rectangle 2"/>
          <p:cNvSpPr>
            <a:spLocks noGrp="1" noChangeArrowheads="1"/>
          </p:cNvSpPr>
          <p:nvPr>
            <p:ph type="title"/>
          </p:nvPr>
        </p:nvSpPr>
        <p:spPr>
          <a:xfrm>
            <a:off x="539552" y="82402"/>
            <a:ext cx="7498080" cy="1143000"/>
          </a:xfrm>
        </p:spPr>
        <p:txBody>
          <a:bodyPr/>
          <a:lstStyle/>
          <a:p>
            <a:pPr>
              <a:defRPr/>
            </a:pPr>
            <a:r>
              <a:rPr lang="zh-CN" altLang="en-US" dirty="0"/>
              <a:t>管道</a:t>
            </a:r>
            <a:r>
              <a:rPr lang="en-US" altLang="zh-CN" dirty="0"/>
              <a:t>-</a:t>
            </a:r>
            <a:r>
              <a:rPr lang="zh-CN" altLang="en-US" dirty="0"/>
              <a:t>过滤器风格实例</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p:cNvGraphicFramePr>
            <a:graphicFrameLocks noChangeAspect="1"/>
          </p:cNvGraphicFramePr>
          <p:nvPr>
            <p:extLst/>
          </p:nvPr>
        </p:nvGraphicFramePr>
        <p:xfrm>
          <a:off x="107503" y="4005064"/>
          <a:ext cx="8860027" cy="864096"/>
        </p:xfrm>
        <a:graphic>
          <a:graphicData uri="http://schemas.openxmlformats.org/presentationml/2006/ole">
            <mc:AlternateContent xmlns:mc="http://schemas.openxmlformats.org/markup-compatibility/2006">
              <mc:Choice xmlns:v="urn:schemas-microsoft-com:vml" Requires="v">
                <p:oleObj spid="_x0000_s37950" name="Visio" r:id="rId3" imgW="6784290" imgH="645633" progId="Visio.Drawing.11">
                  <p:embed/>
                </p:oleObj>
              </mc:Choice>
              <mc:Fallback>
                <p:oleObj name="Visio" r:id="rId3" imgW="6784290" imgH="645633" progId="Visio.Drawing.11">
                  <p:embed/>
                  <p:pic>
                    <p:nvPicPr>
                      <p:cNvPr id="3"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3" y="4005064"/>
                        <a:ext cx="8860027" cy="8640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wipe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a:extLst>
              <a:ext uri="{FF2B5EF4-FFF2-40B4-BE49-F238E27FC236}">
                <a16:creationId xmlns:a16="http://schemas.microsoft.com/office/drawing/2014/main" id="{776AE063-0067-418A-ADDF-C70C1D4F485C}"/>
              </a:ext>
            </a:extLst>
          </p:cNvPr>
          <p:cNvSpPr>
            <a:spLocks noGrp="1" noChangeArrowheads="1"/>
          </p:cNvSpPr>
          <p:nvPr>
            <p:ph type="title"/>
          </p:nvPr>
        </p:nvSpPr>
        <p:spPr/>
        <p:txBody>
          <a:bodyPr/>
          <a:lstStyle/>
          <a:p>
            <a:r>
              <a:rPr lang="en-US" altLang="zh-CN" sz="4000"/>
              <a:t>Summary: Guidance for Selecting a Data Flow Style</a:t>
            </a:r>
          </a:p>
        </p:txBody>
      </p:sp>
      <p:sp>
        <p:nvSpPr>
          <p:cNvPr id="35844" name="Rectangle 3">
            <a:extLst>
              <a:ext uri="{FF2B5EF4-FFF2-40B4-BE49-F238E27FC236}">
                <a16:creationId xmlns:a16="http://schemas.microsoft.com/office/drawing/2014/main" id="{B67E3388-83F8-4DE5-8A4F-D739DE7B3A61}"/>
              </a:ext>
            </a:extLst>
          </p:cNvPr>
          <p:cNvSpPr>
            <a:spLocks noGrp="1" noChangeArrowheads="1"/>
          </p:cNvSpPr>
          <p:nvPr>
            <p:ph idx="1"/>
          </p:nvPr>
        </p:nvSpPr>
        <p:spPr>
          <a:xfrm>
            <a:off x="457200" y="1981200"/>
            <a:ext cx="8229600" cy="4400550"/>
          </a:xfrm>
        </p:spPr>
        <p:txBody>
          <a:bodyPr/>
          <a:lstStyle/>
          <a:p>
            <a:pPr>
              <a:lnSpc>
                <a:spcPct val="80000"/>
              </a:lnSpc>
            </a:pPr>
            <a:r>
              <a:rPr lang="en-US" altLang="zh-CN" sz="2400"/>
              <a:t>task is dominated by the availability of data</a:t>
            </a:r>
            <a:br>
              <a:rPr lang="en-US" altLang="zh-CN" sz="2400"/>
            </a:br>
            <a:r>
              <a:rPr lang="zh-CN" altLang="en-US" sz="2400"/>
              <a:t>任务由数据主导</a:t>
            </a:r>
          </a:p>
          <a:p>
            <a:pPr>
              <a:lnSpc>
                <a:spcPct val="80000"/>
              </a:lnSpc>
            </a:pPr>
            <a:r>
              <a:rPr lang="en-US" altLang="zh-CN" sz="2400"/>
              <a:t>data can be moved predictably from process to process</a:t>
            </a:r>
            <a:br>
              <a:rPr lang="en-US" altLang="zh-CN" sz="2400"/>
            </a:br>
            <a:r>
              <a:rPr lang="zh-CN" altLang="en-US" sz="2400"/>
              <a:t>事先知道数据的确切流向</a:t>
            </a:r>
          </a:p>
          <a:p>
            <a:pPr>
              <a:lnSpc>
                <a:spcPct val="80000"/>
              </a:lnSpc>
            </a:pPr>
            <a:r>
              <a:rPr lang="en-US" altLang="zh-CN" sz="2400"/>
              <a:t>pipe-and-filter architectures are good choices for many data flow applications because</a:t>
            </a:r>
          </a:p>
          <a:p>
            <a:pPr lvl="1">
              <a:lnSpc>
                <a:spcPct val="80000"/>
              </a:lnSpc>
            </a:pPr>
            <a:r>
              <a:rPr lang="en-US" altLang="zh-CN" sz="2000"/>
              <a:t>they permit reuse and reconfiguration of filters</a:t>
            </a:r>
          </a:p>
          <a:p>
            <a:pPr lvl="1">
              <a:lnSpc>
                <a:spcPct val="80000"/>
              </a:lnSpc>
            </a:pPr>
            <a:r>
              <a:rPr lang="en-US" altLang="zh-CN" sz="2000"/>
              <a:t>generally easy to reason about</a:t>
            </a:r>
          </a:p>
          <a:p>
            <a:pPr lvl="1">
              <a:lnSpc>
                <a:spcPct val="80000"/>
              </a:lnSpc>
            </a:pPr>
            <a:r>
              <a:rPr lang="en-US" altLang="zh-CN" sz="2000"/>
              <a:t>reduce system testing</a:t>
            </a:r>
          </a:p>
          <a:p>
            <a:pPr lvl="1">
              <a:lnSpc>
                <a:spcPct val="80000"/>
              </a:lnSpc>
            </a:pPr>
            <a:r>
              <a:rPr lang="en-US" altLang="zh-CN" sz="2000"/>
              <a:t>may allow incremental AND parallel processing</a:t>
            </a:r>
          </a:p>
          <a:p>
            <a:pPr>
              <a:lnSpc>
                <a:spcPct val="80000"/>
              </a:lnSpc>
            </a:pPr>
            <a:r>
              <a:rPr lang="en-US" altLang="zh-CN" sz="2400"/>
              <a:t>there may be a performance penalty in data flow styles, however this depends on many factors</a:t>
            </a:r>
            <a:br>
              <a:rPr lang="en-US" altLang="zh-CN" sz="2400"/>
            </a:br>
            <a:r>
              <a:rPr lang="zh-CN" altLang="en-US" sz="2000"/>
              <a:t>数据的流动带来性能损耗</a:t>
            </a:r>
          </a:p>
        </p:txBody>
      </p:sp>
      <p:sp>
        <p:nvSpPr>
          <p:cNvPr id="35841" name="灯片编号占位符 3">
            <a:extLst>
              <a:ext uri="{FF2B5EF4-FFF2-40B4-BE49-F238E27FC236}">
                <a16:creationId xmlns:a16="http://schemas.microsoft.com/office/drawing/2014/main" id="{D61C3AAD-3F30-45A1-9AB3-61AD9B734C09}"/>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C6E35EFC-1B6F-4171-82CF-E85695B26D69}" type="slidenum">
              <a:rPr lang="en-US" altLang="zh-CN">
                <a:latin typeface="Arial Black" panose="020B0A04020102020204" pitchFamily="34" charset="0"/>
              </a:rPr>
              <a:pPr eaLnBrk="1" hangingPunct="1">
                <a:buFont typeface="Arial" panose="020B0604020202020204" pitchFamily="34" charset="0"/>
                <a:buNone/>
              </a:pPr>
              <a:t>47</a:t>
            </a:fld>
            <a:endParaRPr lang="en-US" altLang="zh-CN">
              <a:latin typeface="Arial Black" panose="020B0A04020102020204" pitchFamily="34" charset="0"/>
            </a:endParaRPr>
          </a:p>
        </p:txBody>
      </p:sp>
      <p:sp>
        <p:nvSpPr>
          <p:cNvPr id="35842" name="日期占位符 4">
            <a:extLst>
              <a:ext uri="{FF2B5EF4-FFF2-40B4-BE49-F238E27FC236}">
                <a16:creationId xmlns:a16="http://schemas.microsoft.com/office/drawing/2014/main" id="{1BE269DB-2F96-432E-B1C8-AD381733961F}"/>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E0E0C709-49EC-4A50-B67F-E4F6464719D5}"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a:extLst>
              <a:ext uri="{FF2B5EF4-FFF2-40B4-BE49-F238E27FC236}">
                <a16:creationId xmlns:a16="http://schemas.microsoft.com/office/drawing/2014/main" id="{D4F21C5C-1669-4717-8F48-5868B632E5F0}"/>
              </a:ext>
            </a:extLst>
          </p:cNvPr>
          <p:cNvSpPr>
            <a:spLocks noGrp="1" noChangeArrowheads="1"/>
          </p:cNvSpPr>
          <p:nvPr>
            <p:ph type="title"/>
          </p:nvPr>
        </p:nvSpPr>
        <p:spPr/>
        <p:txBody>
          <a:bodyPr/>
          <a:lstStyle/>
          <a:p>
            <a:r>
              <a:rPr lang="en-US" altLang="zh-CN"/>
              <a:t>Three Examples of Data Flow</a:t>
            </a:r>
          </a:p>
        </p:txBody>
      </p:sp>
      <p:sp>
        <p:nvSpPr>
          <p:cNvPr id="37892" name="Rectangle 3">
            <a:extLst>
              <a:ext uri="{FF2B5EF4-FFF2-40B4-BE49-F238E27FC236}">
                <a16:creationId xmlns:a16="http://schemas.microsoft.com/office/drawing/2014/main" id="{9213698E-240B-49C9-8FB6-4DEA1E26FDCC}"/>
              </a:ext>
            </a:extLst>
          </p:cNvPr>
          <p:cNvSpPr>
            <a:spLocks noGrp="1" noChangeArrowheads="1"/>
          </p:cNvSpPr>
          <p:nvPr>
            <p:ph idx="1"/>
          </p:nvPr>
        </p:nvSpPr>
        <p:spPr/>
        <p:txBody>
          <a:bodyPr/>
          <a:lstStyle/>
          <a:p>
            <a:r>
              <a:rPr lang="en-US" altLang="zh-CN" dirty="0"/>
              <a:t>Batch Sequential</a:t>
            </a:r>
            <a:r>
              <a:rPr lang="zh-CN" altLang="en-US" dirty="0"/>
              <a:t>（顺序批处理）</a:t>
            </a:r>
          </a:p>
          <a:p>
            <a:r>
              <a:rPr lang="en-US" altLang="zh-CN" dirty="0"/>
              <a:t>Pipe-and-Filter</a:t>
            </a:r>
            <a:r>
              <a:rPr lang="zh-CN" altLang="en-US"/>
              <a:t>（管道过滤器）</a:t>
            </a:r>
            <a:endParaRPr lang="zh-CN" altLang="en-US" dirty="0"/>
          </a:p>
          <a:p>
            <a:r>
              <a:rPr lang="en-US" altLang="zh-CN" i="1" dirty="0">
                <a:solidFill>
                  <a:srgbClr val="FF3399"/>
                </a:solidFill>
              </a:rPr>
              <a:t>Process Control</a:t>
            </a:r>
            <a:r>
              <a:rPr lang="zh-CN" altLang="en-US" i="1" dirty="0">
                <a:solidFill>
                  <a:srgbClr val="FF3399"/>
                </a:solidFill>
              </a:rPr>
              <a:t>（控制）</a:t>
            </a:r>
          </a:p>
        </p:txBody>
      </p:sp>
      <p:sp>
        <p:nvSpPr>
          <p:cNvPr id="37889" name="灯片编号占位符 3">
            <a:extLst>
              <a:ext uri="{FF2B5EF4-FFF2-40B4-BE49-F238E27FC236}">
                <a16:creationId xmlns:a16="http://schemas.microsoft.com/office/drawing/2014/main" id="{7D5D662F-C6A1-4FC8-AD18-59F5D653C3BB}"/>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93671A92-3424-4632-8A33-008427FAED0B}" type="slidenum">
              <a:rPr lang="en-US" altLang="zh-CN">
                <a:latin typeface="Arial Black" panose="020B0A04020102020204" pitchFamily="34" charset="0"/>
              </a:rPr>
              <a:pPr eaLnBrk="1" hangingPunct="1">
                <a:buFont typeface="Arial" panose="020B0604020202020204" pitchFamily="34" charset="0"/>
                <a:buNone/>
              </a:pPr>
              <a:t>48</a:t>
            </a:fld>
            <a:endParaRPr lang="en-US" altLang="zh-CN">
              <a:latin typeface="Arial Black" panose="020B0A04020102020204" pitchFamily="34" charset="0"/>
            </a:endParaRPr>
          </a:p>
        </p:txBody>
      </p:sp>
      <p:sp>
        <p:nvSpPr>
          <p:cNvPr id="37890" name="日期占位符 4">
            <a:extLst>
              <a:ext uri="{FF2B5EF4-FFF2-40B4-BE49-F238E27FC236}">
                <a16:creationId xmlns:a16="http://schemas.microsoft.com/office/drawing/2014/main" id="{1E827A25-5AF5-41B2-BC06-57F4477D049E}"/>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04E75E6-E7E1-4182-9AEF-FC60EB7E36E2}"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29FB44F7-129D-4215-A24B-4BD404ED7B9F}"/>
              </a:ext>
            </a:extLst>
          </p:cNvPr>
          <p:cNvSpPr>
            <a:spLocks noGrp="1" noChangeArrowheads="1"/>
          </p:cNvSpPr>
          <p:nvPr>
            <p:ph type="title"/>
          </p:nvPr>
        </p:nvSpPr>
        <p:spPr/>
        <p:txBody>
          <a:bodyPr/>
          <a:lstStyle/>
          <a:p>
            <a:r>
              <a:rPr lang="en-US" altLang="zh-CN"/>
              <a:t>Open Loop Control(</a:t>
            </a:r>
            <a:r>
              <a:rPr lang="zh-CN" altLang="en-US"/>
              <a:t>开环控制</a:t>
            </a:r>
            <a:r>
              <a:rPr lang="en-US" altLang="zh-CN"/>
              <a:t>)</a:t>
            </a:r>
          </a:p>
        </p:txBody>
      </p:sp>
      <p:pic>
        <p:nvPicPr>
          <p:cNvPr id="39940" name="Picture 4">
            <a:extLst>
              <a:ext uri="{FF2B5EF4-FFF2-40B4-BE49-F238E27FC236}">
                <a16:creationId xmlns:a16="http://schemas.microsoft.com/office/drawing/2014/main" id="{5E110FA1-D048-49F4-8E52-38C53D0E46F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870122" y="1825625"/>
            <a:ext cx="7403756" cy="4351338"/>
          </a:xfrm>
          <a:extLst>
            <a:ext uri="{91240B29-F687-4F45-9708-019B960494DF}">
              <a14:hiddenLine xmlns:a14="http://schemas.microsoft.com/office/drawing/2010/main" w="12700">
                <a:solidFill>
                  <a:srgbClr val="000000"/>
                </a:solidFill>
                <a:miter lim="800000"/>
                <a:headEnd/>
                <a:tailEnd/>
              </a14:hiddenLine>
            </a:ext>
          </a:extLst>
        </p:spPr>
      </p:pic>
      <p:sp>
        <p:nvSpPr>
          <p:cNvPr id="39937" name="灯片编号占位符 3">
            <a:extLst>
              <a:ext uri="{FF2B5EF4-FFF2-40B4-BE49-F238E27FC236}">
                <a16:creationId xmlns:a16="http://schemas.microsoft.com/office/drawing/2014/main" id="{10201223-086E-4EFA-8378-9BB1EAED1700}"/>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D693E0A3-2C90-455B-965E-42AF41AEB4A0}" type="slidenum">
              <a:rPr lang="en-US" altLang="zh-CN">
                <a:latin typeface="Arial Black" panose="020B0A04020102020204" pitchFamily="34" charset="0"/>
              </a:rPr>
              <a:pPr eaLnBrk="1" hangingPunct="1">
                <a:buFont typeface="Arial" panose="020B0604020202020204" pitchFamily="34" charset="0"/>
                <a:buNone/>
              </a:pPr>
              <a:t>49</a:t>
            </a:fld>
            <a:endParaRPr lang="en-US" altLang="zh-CN">
              <a:latin typeface="Arial Black" panose="020B0A04020102020204" pitchFamily="34" charset="0"/>
            </a:endParaRPr>
          </a:p>
        </p:txBody>
      </p:sp>
      <p:sp>
        <p:nvSpPr>
          <p:cNvPr id="39938" name="日期占位符 4">
            <a:extLst>
              <a:ext uri="{FF2B5EF4-FFF2-40B4-BE49-F238E27FC236}">
                <a16:creationId xmlns:a16="http://schemas.microsoft.com/office/drawing/2014/main" id="{82C0E2C4-1BFE-4615-8A93-0DD99CF65DF2}"/>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BC8CDF57-7847-4D59-92C7-4A73C5E8CBB3}" type="datetime1">
              <a:rPr lang="zh-CN" altLang="en-US"/>
              <a:pPr eaLnBrk="1" hangingPunct="1">
                <a:buFont typeface="Arial" panose="020B0604020202020204" pitchFamily="34" charset="0"/>
                <a:buNone/>
              </a:pPr>
              <a:t>2021/5/13</a:t>
            </a:fld>
            <a:endParaRPr lang="zh-CN" altLang="en-US"/>
          </a:p>
        </p:txBody>
      </p:sp>
    </p:spTree>
  </p:cSld>
  <p:clrMapOvr>
    <a:masterClrMapping/>
  </p:clrMapOvr>
  <p:transition>
    <p:wipe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a:extLst>
              <a:ext uri="{FF2B5EF4-FFF2-40B4-BE49-F238E27FC236}">
                <a16:creationId xmlns:a16="http://schemas.microsoft.com/office/drawing/2014/main" id="{9D611607-762B-44CC-AF46-F22491673898}"/>
              </a:ext>
            </a:extLst>
          </p:cNvPr>
          <p:cNvSpPr>
            <a:spLocks noGrp="1" noChangeArrowheads="1"/>
          </p:cNvSpPr>
          <p:nvPr>
            <p:ph type="title"/>
          </p:nvPr>
        </p:nvSpPr>
        <p:spPr/>
        <p:txBody>
          <a:bodyPr/>
          <a:lstStyle/>
          <a:p>
            <a:r>
              <a:rPr lang="en-US" altLang="zh-CN"/>
              <a:t>Closed Loop Control(</a:t>
            </a:r>
            <a:r>
              <a:rPr lang="zh-CN" altLang="en-US"/>
              <a:t>闭环控制</a:t>
            </a:r>
            <a:r>
              <a:rPr lang="en-US" altLang="zh-CN"/>
              <a:t>)</a:t>
            </a:r>
          </a:p>
        </p:txBody>
      </p:sp>
      <p:pic>
        <p:nvPicPr>
          <p:cNvPr id="40964" name="Picture 4">
            <a:extLst>
              <a:ext uri="{FF2B5EF4-FFF2-40B4-BE49-F238E27FC236}">
                <a16:creationId xmlns:a16="http://schemas.microsoft.com/office/drawing/2014/main" id="{4E3C54BA-1ABD-4AC9-88E2-70978978E677}"/>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916113"/>
            <a:ext cx="7931150" cy="4471987"/>
          </a:xfrm>
        </p:spPr>
      </p:pic>
      <p:sp>
        <p:nvSpPr>
          <p:cNvPr id="40961" name="灯片编号占位符 3">
            <a:extLst>
              <a:ext uri="{FF2B5EF4-FFF2-40B4-BE49-F238E27FC236}">
                <a16:creationId xmlns:a16="http://schemas.microsoft.com/office/drawing/2014/main" id="{48E69DB6-1CFD-4769-B530-3B0195323BF0}"/>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1142639B-3C8E-447C-9BE8-7634CCC9AC18}" type="slidenum">
              <a:rPr lang="en-US" altLang="zh-CN">
                <a:latin typeface="Arial Black" panose="020B0A04020102020204" pitchFamily="34" charset="0"/>
              </a:rPr>
              <a:pPr eaLnBrk="1" hangingPunct="1">
                <a:buFont typeface="Arial" panose="020B0604020202020204" pitchFamily="34" charset="0"/>
                <a:buNone/>
              </a:pPr>
              <a:t>50</a:t>
            </a:fld>
            <a:endParaRPr lang="en-US" altLang="zh-CN">
              <a:latin typeface="Arial Black" panose="020B0A04020102020204" pitchFamily="34" charset="0"/>
            </a:endParaRPr>
          </a:p>
        </p:txBody>
      </p:sp>
      <p:sp>
        <p:nvSpPr>
          <p:cNvPr id="40962" name="日期占位符 4">
            <a:extLst>
              <a:ext uri="{FF2B5EF4-FFF2-40B4-BE49-F238E27FC236}">
                <a16:creationId xmlns:a16="http://schemas.microsoft.com/office/drawing/2014/main" id="{28AC56A7-D59F-4411-89A0-BA6C0408135D}"/>
              </a:ext>
            </a:extLst>
          </p:cNvPr>
          <p:cNvSpPr>
            <a:spLocks noGrp="1" noChangeArrowheads="1"/>
          </p:cNvSpPr>
          <p:nvPr>
            <p:ph type="dt" sz="quarter" idx="4294967295"/>
          </p:nvPr>
        </p:nvSpPr>
        <p:spPr>
          <a:xfrm>
            <a:off x="0" y="6245225"/>
            <a:ext cx="21336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fld id="{3045C5AB-1409-4737-BA93-24A059C9EE83}" type="datetime1">
              <a:rPr lang="zh-CN" altLang="en-US"/>
              <a:pPr eaLnBrk="1" hangingPunct="1">
                <a:buFont typeface="Arial" panose="020B0604020202020204" pitchFamily="34" charset="0"/>
                <a:buNone/>
              </a:pPr>
              <a:t>2021/5/13</a:t>
            </a:fld>
            <a:endParaRPr lang="zh-CN" altLang="en-US"/>
          </a:p>
        </p:txBody>
      </p:sp>
      <p:sp>
        <p:nvSpPr>
          <p:cNvPr id="40965" name="Text Box 5">
            <a:extLst>
              <a:ext uri="{FF2B5EF4-FFF2-40B4-BE49-F238E27FC236}">
                <a16:creationId xmlns:a16="http://schemas.microsoft.com/office/drawing/2014/main" id="{837963CC-C24E-45C7-9D44-E38F84CB6F03}"/>
              </a:ext>
            </a:extLst>
          </p:cNvPr>
          <p:cNvSpPr txBox="1">
            <a:spLocks noChangeArrowheads="1"/>
          </p:cNvSpPr>
          <p:nvPr/>
        </p:nvSpPr>
        <p:spPr bwMode="auto">
          <a:xfrm>
            <a:off x="8458200" y="57912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hlinkClick r:id="rId3"/>
              </a:rPr>
              <a:t>N</a:t>
            </a:r>
            <a:endParaRPr lang="en-US" altLang="zh-CN"/>
          </a:p>
        </p:txBody>
      </p:sp>
    </p:spTree>
  </p:cSld>
  <p:clrMapOvr>
    <a:masterClrMapping/>
  </p:clrMapOvr>
  <p:transition>
    <p:wipe di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1概述</Template>
  <TotalTime>707</TotalTime>
  <Words>2536</Words>
  <Application>Microsoft Office PowerPoint</Application>
  <PresentationFormat>全屏显示(4:3)</PresentationFormat>
  <Paragraphs>270</Paragraphs>
  <Slides>50</Slides>
  <Notes>10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50</vt:i4>
      </vt:variant>
    </vt:vector>
  </HeadingPairs>
  <TitlesOfParts>
    <vt:vector size="62" baseType="lpstr">
      <vt:lpstr>黑体</vt:lpstr>
      <vt:lpstr>宋体</vt:lpstr>
      <vt:lpstr>Arial</vt:lpstr>
      <vt:lpstr>Arial Black</vt:lpstr>
      <vt:lpstr>Calibri</vt:lpstr>
      <vt:lpstr>Calibri Light</vt:lpstr>
      <vt:lpstr>Times New Roman</vt:lpstr>
      <vt:lpstr>Wingdings</vt:lpstr>
      <vt:lpstr>Wingdings 2</vt:lpstr>
      <vt:lpstr>Office 主题</vt:lpstr>
      <vt:lpstr>Visio</vt:lpstr>
      <vt:lpstr>Bitmap Image</vt:lpstr>
      <vt:lpstr>软件体系结构 </vt:lpstr>
      <vt:lpstr>PowerPoint 演示文稿</vt:lpstr>
      <vt:lpstr>体系结构风格</vt:lpstr>
      <vt:lpstr>体系结构风格</vt:lpstr>
      <vt:lpstr>体系结构风格</vt:lpstr>
      <vt:lpstr>体系结构风格</vt:lpstr>
      <vt:lpstr>体系结构风格</vt:lpstr>
      <vt:lpstr>体系结构风格</vt:lpstr>
      <vt:lpstr>Types of Architectural Styles</vt:lpstr>
      <vt:lpstr>体系结构风格注意事项</vt:lpstr>
      <vt:lpstr>Data Flow Style（数据流风格）</vt:lpstr>
      <vt:lpstr>The Data Flow Style</vt:lpstr>
      <vt:lpstr>Data Flow Styles</vt:lpstr>
      <vt:lpstr>Data Flow Styles</vt:lpstr>
      <vt:lpstr>Patterns of Data Flow in Systems</vt:lpstr>
      <vt:lpstr>Control Flow vs. Data Flow</vt:lpstr>
      <vt:lpstr>Control Flow vs. Data Flow</vt:lpstr>
      <vt:lpstr>数据流风格</vt:lpstr>
      <vt:lpstr>Three Examples of Data Flow</vt:lpstr>
      <vt:lpstr>顺序批处理</vt:lpstr>
      <vt:lpstr>顺序批处理定义</vt:lpstr>
      <vt:lpstr>顺序批处理特征</vt:lpstr>
      <vt:lpstr>顺序批处理实例</vt:lpstr>
      <vt:lpstr>PowerPoint 演示文稿</vt:lpstr>
      <vt:lpstr>PowerPoint 演示文稿</vt:lpstr>
      <vt:lpstr>PowerPoint 演示文稿</vt:lpstr>
      <vt:lpstr>顺序批处理面临的问题</vt:lpstr>
      <vt:lpstr>Three Examples of Data Flow</vt:lpstr>
      <vt:lpstr>管道过滤器</vt:lpstr>
      <vt:lpstr>管道过滤器</vt:lpstr>
      <vt:lpstr>管道过滤器风格的特征：</vt:lpstr>
      <vt:lpstr>过滤器的功能</vt:lpstr>
      <vt:lpstr>过滤器分类 </vt:lpstr>
      <vt:lpstr>管道的功能</vt:lpstr>
      <vt:lpstr>数据流分类</vt:lpstr>
      <vt:lpstr>管道过滤器风格的优点 </vt:lpstr>
      <vt:lpstr>管道过滤器风格的缺点 </vt:lpstr>
      <vt:lpstr>Batch Sequential vs Pipe &amp; Filter</vt:lpstr>
      <vt:lpstr>Pipe &amp; Filter</vt:lpstr>
      <vt:lpstr>PowerPoint 演示文稿</vt:lpstr>
      <vt:lpstr>实例</vt:lpstr>
      <vt:lpstr>常见实现方式</vt:lpstr>
      <vt:lpstr>PowerPoint 演示文稿</vt:lpstr>
      <vt:lpstr>管道-过滤器风格实例</vt:lpstr>
      <vt:lpstr>管道-过滤器风格 实例</vt:lpstr>
      <vt:lpstr>管道-过滤器风格实例</vt:lpstr>
      <vt:lpstr>Summary: Guidance for Selecting a Data Flow Style</vt:lpstr>
      <vt:lpstr>Three Examples of Data Flow</vt:lpstr>
      <vt:lpstr>Open Loop Control(开环控制)</vt:lpstr>
      <vt:lpstr>Closed Loop Control(闭环控制)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介绍</dc:title>
  <dc:creator>zhao</dc:creator>
  <cp:lastModifiedBy>lixuansong</cp:lastModifiedBy>
  <cp:revision>245</cp:revision>
  <dcterms:created xsi:type="dcterms:W3CDTF">2018-04-12T01:57:09Z</dcterms:created>
  <dcterms:modified xsi:type="dcterms:W3CDTF">2021-05-13T00:46:54Z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