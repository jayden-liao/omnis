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80" r:id="rId16"/>
    <p:sldId id="270" r:id="rId17"/>
    <p:sldId id="281" r:id="rId18"/>
    <p:sldId id="271" r:id="rId19"/>
    <p:sldId id="282" r:id="rId20"/>
    <p:sldId id="272" r:id="rId21"/>
    <p:sldId id="283" r:id="rId22"/>
    <p:sldId id="273" r:id="rId23"/>
    <p:sldId id="284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1" autoAdjust="0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2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2486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1B9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南京理工大学  ·  软件体系结构课程大作业</a:t>
            </a:r>
            <a:endParaRPr lang="en-US" sz="12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9C18256-20A1-47E6-C87F-5C40007B7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71" y="-39777"/>
            <a:ext cx="9556732" cy="522305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7925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  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75623"/>
            <a:ext cx="502920" cy="502920"/>
          </a:xfrm>
          <a:prstGeom prst="ellipse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31520" y="1075623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63040" y="1029903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项目概述与技术栈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359087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项目背景、核心功能、技术架构全景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916871"/>
            <a:ext cx="502920" cy="502920"/>
          </a:xfrm>
          <a:prstGeom prst="ellipse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31520" y="1916871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1871151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体系结构风格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200335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分层、管道-过滤器、黑板、面向Agent 等异构风格分析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758119"/>
            <a:ext cx="502920" cy="502920"/>
          </a:xfrm>
          <a:prstGeom prst="ellipse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731520" y="275811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712399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4+1 视图模型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3041583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逻辑视图 / 过程视图 / 开发视图 / 物理视图 / 场景视图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599367"/>
            <a:ext cx="502920" cy="502920"/>
          </a:xfrm>
          <a:prstGeom prst="ellipse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31520" y="3599367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3553647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软件体系结构质量评估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3882831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内外部质量指标 + ATAM 场景评估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440615"/>
            <a:ext cx="502920" cy="502920"/>
          </a:xfrm>
          <a:prstGeom prst="ellipse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731520" y="444061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4394895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总结与展望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63040" y="4724079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核心优势、不足与改进方向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7925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项目背景与定位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657600" cy="3474720"/>
          </a:xfrm>
          <a:prstGeom prst="rect">
            <a:avLst/>
          </a:prstGeom>
          <a:solidFill>
            <a:srgbClr val="F5F5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1005840" y="1280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市场背景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73736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社交媒体信息爆炸，企业面临舆论风险实时监控的刚性需求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传统舆情监测系统存在响应滞后、分析维度单一等问题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多平台（微博/抖音/小红书/知乎/B站）独立监控成本高昂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技术发展为智能舆情分析提供了新的可能性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657600" cy="3474720"/>
          </a:xfrm>
          <a:prstGeom prst="rect">
            <a:avLst/>
          </a:prstGeom>
          <a:solidFill>
            <a:srgbClr val="F5F5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029200" y="1280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Omnis 定位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73736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一站式多平台媒体信息监控平台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驱动的情报分析引擎（风险/攻略/追星/简报四线）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智能对话交互，普通用户也可轻松操作</a:t>
            </a:r>
            <a:endParaRPr lang="en-US" sz="12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支持多通道预警推送（企业微信/飞书/邮箱/RSS）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7925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核心功能一览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2377440" cy="1828800"/>
          </a:xfrm>
          <a:prstGeom prst="rect">
            <a:avLst/>
          </a:prstGeom>
          <a:solidFill>
            <a:srgbClr val="F5F5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2377440" cy="54864"/>
          </a:xfrm>
          <a:prstGeom prst="rect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14400" y="1280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多平台采集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覆盖微博、抖音、小红书、知乎、B站等主流平台，支持关键词搜索与定时扫描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2377440" cy="1828800"/>
          </a:xfrm>
          <a:prstGeom prst="rect">
            <a:avLst/>
          </a:prstGeom>
          <a:solidFill>
            <a:srgbClr val="F5F5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3383280" y="1097280"/>
            <a:ext cx="2377440" cy="54864"/>
          </a:xfrm>
          <a:prstGeom prst="rect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3566160" y="1280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智能分析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16916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+ Kimi 双模型交叉验证，四种分析管线：风险/攻略/追星/简报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097280"/>
            <a:ext cx="2377440" cy="1828800"/>
          </a:xfrm>
          <a:prstGeom prst="rect">
            <a:avLst/>
          </a:prstGeom>
          <a:solidFill>
            <a:srgbClr val="F5F5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2377440" cy="54864"/>
          </a:xfrm>
          <a:prstGeom prst="rect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217920" y="1280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对话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16916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管家式交互，12+ 原子工具 + 组合工具流，支持用户自定义工作流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200400"/>
            <a:ext cx="2377440" cy="1828800"/>
          </a:xfrm>
          <a:prstGeom prst="rect">
            <a:avLst/>
          </a:prstGeom>
          <a:solidFill>
            <a:srgbClr val="F5F5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731520" y="3200400"/>
            <a:ext cx="2377440" cy="54864"/>
          </a:xfrm>
          <a:prstGeom prst="rect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914400" y="3383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预警推送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794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企业微信、飞书、邮箱、RSS 多通道，按风险等级智能分级推送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83280" y="3200400"/>
            <a:ext cx="2377440" cy="1828800"/>
          </a:xfrm>
          <a:prstGeom prst="rect">
            <a:avLst/>
          </a:prstGeom>
          <a:solidFill>
            <a:srgbClr val="F5F5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3383280" y="3200400"/>
            <a:ext cx="2377440" cy="54864"/>
          </a:xfrm>
          <a:prstGeom prst="rect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3566160" y="3383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订阅管理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566160" y="3794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关键词、人物、事件、竞品四种订阅类型，APScheduler 定时调度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7925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技术栈全景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3657600" cy="3749040"/>
          </a:xfrm>
          <a:prstGeom prst="rect">
            <a:avLst/>
          </a:prstGeom>
          <a:solidFill>
            <a:srgbClr val="F5F5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3657600" cy="54864"/>
          </a:xfrm>
          <a:prstGeom prst="rect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60120" y="1188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 (Backend)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16459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框架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03120" y="1645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1031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2103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Qdrant（向量库）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2560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引擎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03120" y="2560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/ LangChain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3017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03120" y="3017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+ Kimi + Qwen-VL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474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调度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03120" y="3474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APScheduler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39319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监控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03120" y="3931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AgentOpsEngine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005840"/>
            <a:ext cx="3657600" cy="3749040"/>
          </a:xfrm>
          <a:prstGeom prst="rect">
            <a:avLst/>
          </a:prstGeom>
          <a:solidFill>
            <a:srgbClr val="F5F5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4754880" y="1005840"/>
            <a:ext cx="3657600" cy="54864"/>
          </a:xfrm>
          <a:prstGeom prst="rect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983480" y="1188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前端与运维 (Frontend &amp; Ops)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83480" y="1645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前端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1645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+ React 18 + TypeScript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20848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0" y="20848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v4 + shadcn/ui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83480" y="252374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状态管理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25237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5 + TanStack Query 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296265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图表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0" y="29626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3 + framer-motion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83480" y="34015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认证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34015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NextAuth 5 (OAuth)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83480" y="38404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小程序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17920" y="3840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uni-app (Vue 3)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83480" y="42793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17920" y="42793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+ GitHub Actions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7925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系统总体架构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594360"/>
          </a:xfrm>
          <a:prstGeom prst="rect">
            <a:avLst/>
          </a:prstGeom>
          <a:solidFill>
            <a:srgbClr val="F5F5F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914400" y="10515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用户交互层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0" y="105156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Web 端  /  uni-app 小程序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1645920"/>
            <a:ext cx="0" cy="73152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31520" y="1719072"/>
            <a:ext cx="7680960" cy="594360"/>
          </a:xfrm>
          <a:prstGeom prst="rect">
            <a:avLst/>
          </a:prstGeom>
          <a:solidFill>
            <a:srgbClr val="F5F5F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914400" y="171907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网关层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0" y="1719072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Gateway (认证/限流/路由)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2313432"/>
            <a:ext cx="0" cy="73152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731520" y="2386584"/>
            <a:ext cx="7680960" cy="594360"/>
          </a:xfrm>
          <a:prstGeom prst="rect">
            <a:avLst/>
          </a:prstGeom>
          <a:solidFill>
            <a:srgbClr val="79257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914400" y="2386584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核心层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2386584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C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Core → 四维规划 → Tool Executor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2980944"/>
            <a:ext cx="0" cy="73152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731520" y="3054096"/>
            <a:ext cx="7680960" cy="594360"/>
          </a:xfrm>
          <a:prstGeom prst="rect">
            <a:avLst/>
          </a:prstGeom>
          <a:solidFill>
            <a:srgbClr val="79257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914400" y="3054096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工具执行层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0" y="3054096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C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原子工具 (H组)  /  组合工具 (I组)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3648456"/>
            <a:ext cx="0" cy="73152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731520" y="3721608"/>
            <a:ext cx="7680960" cy="594360"/>
          </a:xfrm>
          <a:prstGeom prst="rect">
            <a:avLst/>
          </a:prstGeom>
          <a:solidFill>
            <a:srgbClr val="F5F5F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914400" y="372160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分析引擎层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0" y="3721608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Screener / Cluster / LangGraph 子图 / Vision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4315968"/>
            <a:ext cx="0" cy="73152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731520" y="4389120"/>
            <a:ext cx="7680960" cy="594360"/>
          </a:xfrm>
          <a:prstGeom prst="rect">
            <a:avLst/>
          </a:prstGeom>
          <a:solidFill>
            <a:srgbClr val="F5F5F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914400" y="43891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数据存储层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0" y="43891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Qdrant 向量库 / Redis 缓存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核心设计：Agent-Centric 架构 — 所有能力通过 Agent 对话暴露，Pipeline 阶段降级为原子工具的内部引擎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7925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原子工具与工具流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840480"/>
          </a:xfrm>
          <a:prstGeom prst="rect">
            <a:avLst/>
          </a:prstGeom>
          <a:solidFill>
            <a:srgbClr val="F5F5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54864"/>
          </a:xfrm>
          <a:prstGeom prst="rect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H组 · 原子工具 (12+)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566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search_posts    — 跨平台搜索</a:t>
            </a:r>
            <a:endParaRPr lang="en-US" sz="95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filter_content  — 按意图过滤</a:t>
            </a:r>
            <a:endParaRPr lang="en-US" sz="95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cluster_related — 话题聚类</a:t>
            </a:r>
            <a:endParaRPr lang="en-US" sz="95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analyze_sentiment — 情感判定</a:t>
            </a:r>
            <a:endParaRPr lang="en-US" sz="95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compare_opinions — 观点对比</a:t>
            </a:r>
            <a:endParaRPr lang="en-US" sz="95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extract_slots   — 槽位提取</a:t>
            </a:r>
            <a:endParaRPr lang="en-US" sz="95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compare_platforms — 跨平台对比</a:t>
            </a:r>
            <a:endParaRPr lang="en-US" sz="95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calc_velocity   — 情感速度</a:t>
            </a:r>
            <a:endParaRPr lang="en-US" sz="95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generate_itinerary — 行程生成</a:t>
            </a:r>
            <a:endParaRPr lang="en-US" sz="95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query_report    — 报告查询</a:t>
            </a:r>
            <a:endParaRPr lang="en-US" sz="95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push_report     — 报告推送</a:t>
            </a:r>
            <a:endParaRPr lang="en-US" sz="95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list/manage_workflow — 工作流管理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3840480"/>
          </a:xfrm>
          <a:prstGeom prst="rect">
            <a:avLst/>
          </a:prstGeom>
          <a:solidFill>
            <a:srgbClr val="F5F5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31920" cy="54864"/>
          </a:xfrm>
          <a:prstGeom prst="rect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937760" y="1143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I组 · 组合工具流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600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deep_analyze_topic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1874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→ filter → cluster → extract → compare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0" y="2286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scan_and_alert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2560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→ filter(risk) → cluster → sentiment → push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0" y="2971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quick_guide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3246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search(guide) → filter → cluster → extract → itinerary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0" y="3657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briefing_digest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3931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→ filter(briefing) → cluster → push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7925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工作流三源合一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2377440" cy="3657600"/>
          </a:xfrm>
          <a:prstGeom prst="rect">
            <a:avLst/>
          </a:prstGeom>
          <a:solidFill>
            <a:srgbClr val="F5F5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2377440" cy="54864"/>
          </a:xfrm>
          <a:prstGeom prst="rect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68680" y="1280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预设 (Preset)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691640"/>
            <a:ext cx="2103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系统预置 4 个组合工具</a:t>
            </a:r>
            <a:endParaRPr lang="en-US" sz="10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deep_analyze_topic</a:t>
            </a:r>
            <a:endParaRPr lang="en-US" sz="10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scan_and_alert</a:t>
            </a:r>
            <a:endParaRPr lang="en-US" sz="10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quick_guide</a:t>
            </a:r>
            <a:endParaRPr lang="en-US" sz="10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briefing_digest</a:t>
            </a:r>
            <a:endParaRPr lang="en-US" sz="10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不可删除，可停用</a:t>
            </a:r>
            <a:endParaRPr lang="en-US" sz="10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 @tool 装饰器注册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2377440" cy="3657600"/>
          </a:xfrm>
          <a:prstGeom prst="rect">
            <a:avLst/>
          </a:prstGeom>
          <a:solidFill>
            <a:srgbClr val="F5F5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3383280" y="1097280"/>
            <a:ext cx="2377440" cy="54864"/>
          </a:xfrm>
          <a:prstGeom prst="rect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3520440" y="1280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自动累积 (Auto Template)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20440" y="1691640"/>
            <a:ext cx="2103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自主完成任务后</a:t>
            </a:r>
            <a:endParaRPr lang="en-US" sz="10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自动保存执行步骤</a:t>
            </a:r>
            <a:endParaRPr lang="en-US" sz="10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 相似度匹配</a:t>
            </a:r>
            <a:endParaRPr lang="en-US" sz="10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下次命中直接复用</a:t>
            </a:r>
            <a:endParaRPr lang="en-US" sz="10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可升级为 User 工作流</a:t>
            </a:r>
            <a:endParaRPr lang="en-US" sz="10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hit_count 排序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097280"/>
            <a:ext cx="2377440" cy="3657600"/>
          </a:xfrm>
          <a:prstGeom prst="rect">
            <a:avLst/>
          </a:prstGeom>
          <a:solidFill>
            <a:srgbClr val="F5F5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2377440" cy="54864"/>
          </a:xfrm>
          <a:prstGeom prst="rect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172200" y="1280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用户自建 (User)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72200" y="1691640"/>
            <a:ext cx="2103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自然语言创建工作流</a:t>
            </a:r>
            <a:endParaRPr lang="en-US" sz="10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 cron 定时调度</a:t>
            </a:r>
            <a:endParaRPr lang="en-US" sz="10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支持启用/停用/删除</a:t>
            </a:r>
            <a:endParaRPr lang="en-US" sz="10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运行时自动累积历史</a:t>
            </a:r>
            <a:endParaRPr lang="en-US" sz="10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完全自定义工具组合</a:t>
            </a:r>
            <a:endParaRPr lang="en-US" sz="10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可设置约束条件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4892040"/>
            <a:ext cx="7680960" cy="54864"/>
          </a:xfrm>
          <a:prstGeom prst="rect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31520" y="4572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统一存储在 workflows 表 (SQLite)，通过 WorkflowsDB CRUD 操作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25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 </a:t>
            </a:r>
            <a:r>
              <a:rPr lang="en-US" sz="2800" b="1" dirty="0" err="1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体系结构风格总览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Omnis 融合多种体系结构风格于一体，形成异构体系结构。每种风格在系统不同层面发挥作用。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2293541" cy="1739245"/>
          </a:xfrm>
          <a:prstGeom prst="rect">
            <a:avLst/>
          </a:prstGeom>
          <a:solidFill>
            <a:srgbClr val="F5F5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89100" y="1361890"/>
            <a:ext cx="2377440" cy="54864"/>
          </a:xfrm>
          <a:prstGeom prst="rect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68680" y="1508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分层风格 (Layered)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8745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系统按 Gateway → Services → Database 纵向分层，每层职责清晰，上层依赖下层接口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68680" y="2753098"/>
            <a:ext cx="2103120" cy="320040"/>
          </a:xfrm>
          <a:prstGeom prst="rect">
            <a:avLst/>
          </a:prstGeom>
          <a:solidFill>
            <a:srgbClr val="D1C4E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15419" y="27660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贯穿全局，组织系统整体结构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383280" y="1371600"/>
            <a:ext cx="2293541" cy="1739245"/>
          </a:xfrm>
          <a:prstGeom prst="rect">
            <a:avLst/>
          </a:prstGeom>
          <a:solidFill>
            <a:srgbClr val="F5F5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3340860" y="1361890"/>
            <a:ext cx="2377440" cy="54864"/>
          </a:xfrm>
          <a:prstGeom prst="rect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3520440" y="1508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管道-过滤器 (Pipe-Filter)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0440" y="18745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原子工具链构成数据流管道：search → filter → cluster → extract → compare，数据驱动计算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67179" y="2766060"/>
            <a:ext cx="2103120" cy="320040"/>
          </a:xfrm>
          <a:prstGeom prst="rect">
            <a:avLst/>
          </a:prstGeom>
          <a:solidFill>
            <a:srgbClr val="D1C4E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3467179" y="27660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原子工具链、组合工具流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035040" y="1371600"/>
            <a:ext cx="2293541" cy="1739245"/>
          </a:xfrm>
          <a:prstGeom prst="rect">
            <a:avLst/>
          </a:prstGeom>
          <a:solidFill>
            <a:srgbClr val="F5F5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5992620" y="1361890"/>
            <a:ext cx="2377440" cy="54864"/>
          </a:xfrm>
          <a:prstGeom prst="rect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172200" y="1508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黑板/仓库 (Blackboard)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72200" y="18745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Qdrant 作为中央数据仓库，各 Agent 和工具独立读写共享数据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72200" y="2753098"/>
            <a:ext cx="2103120" cy="320040"/>
          </a:xfrm>
          <a:prstGeom prst="rect">
            <a:avLst/>
          </a:prstGeom>
          <a:solidFill>
            <a:srgbClr val="D1C4E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118939" y="27660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数据持久化、知识共享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31520" y="3168396"/>
            <a:ext cx="2377440" cy="1928181"/>
          </a:xfrm>
          <a:prstGeom prst="rect">
            <a:avLst/>
          </a:prstGeom>
          <a:solidFill>
            <a:srgbClr val="F5F5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731520" y="3168396"/>
            <a:ext cx="2377440" cy="54864"/>
          </a:xfrm>
          <a:prstGeom prst="rect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68680" y="330555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 Agent (Agent-Oriented)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8680" y="3671316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多 Agent 协作：Plan → Act 循环，Agent 自主决策工具调用序列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68680" y="4779384"/>
            <a:ext cx="2103120" cy="320040"/>
          </a:xfrm>
          <a:prstGeom prst="rect">
            <a:avLst/>
          </a:prstGeom>
          <a:solidFill>
            <a:srgbClr val="D1C4E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68680" y="4816273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对话、智能规划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383280" y="3168396"/>
            <a:ext cx="2377440" cy="1928181"/>
          </a:xfrm>
          <a:prstGeom prst="rect">
            <a:avLst/>
          </a:prstGeom>
          <a:solidFill>
            <a:srgbClr val="F5F5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3383280" y="3168396"/>
            <a:ext cx="2377440" cy="54864"/>
          </a:xfrm>
          <a:prstGeom prst="rect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3520440" y="330555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事件驱动 (Event-Driven)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520440" y="3671316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流式响应、asyncio 异步事件循环、Cancel 事件机制实现流式中断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499230" y="4744274"/>
            <a:ext cx="2103120" cy="320040"/>
          </a:xfrm>
          <a:prstGeom prst="rect">
            <a:avLst/>
          </a:prstGeom>
          <a:solidFill>
            <a:srgbClr val="D1C4E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3509835" y="474427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前端流式对话、异步并发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066540" y="42347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"绝大多数实际运行的系统都是几种体系结构的复合" — 《软件体系结构》第13章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7925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分层架构风格 (Layered)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4572000" cy="566928"/>
          </a:xfrm>
          <a:prstGeom prst="rect">
            <a:avLst/>
          </a:prstGeom>
          <a:solidFill>
            <a:srgbClr val="F5F5F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868680" y="10972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表现层 (Presentation)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651760" y="109728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Web · uni-app 小程序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097280" y="1664208"/>
            <a:ext cx="0" cy="73152"/>
          </a:xfrm>
          <a:prstGeom prst="line">
            <a:avLst/>
          </a:prstGeom>
          <a:noFill/>
          <a:ln w="1016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4572000" cy="566928"/>
          </a:xfrm>
          <a:prstGeom prst="rect">
            <a:avLst/>
          </a:prstGeom>
          <a:solidFill>
            <a:srgbClr val="79257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68680" y="17373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网关层 (Gateway)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51760" y="17373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C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认证/限流/路由/安全中间件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097280" y="2304288"/>
            <a:ext cx="0" cy="73152"/>
          </a:xfrm>
          <a:prstGeom prst="line">
            <a:avLst/>
          </a:prstGeom>
          <a:noFill/>
          <a:ln w="1016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731520" y="2377440"/>
            <a:ext cx="4572000" cy="566928"/>
          </a:xfrm>
          <a:prstGeom prst="rect">
            <a:avLst/>
          </a:prstGeom>
          <a:solidFill>
            <a:srgbClr val="79257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68680" y="23774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服务层 (Services)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51760" y="23774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C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Service · Radar Service · Subscription Service · Admin Service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97280" y="2944368"/>
            <a:ext cx="0" cy="73152"/>
          </a:xfrm>
          <a:prstGeom prst="line">
            <a:avLst/>
          </a:prstGeom>
          <a:noFill/>
          <a:ln w="1016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731520" y="3017520"/>
            <a:ext cx="4572000" cy="566928"/>
          </a:xfrm>
          <a:prstGeom prst="rect">
            <a:avLst/>
          </a:prstGeom>
          <a:solidFill>
            <a:srgbClr val="79257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68680" y="301752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工具层 (Tools)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51760" y="301752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C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原子工具 (H组) · 组合工具 (I组) · 适配器 (Direct/MCP)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097280" y="3584448"/>
            <a:ext cx="0" cy="73152"/>
          </a:xfrm>
          <a:prstGeom prst="line">
            <a:avLst/>
          </a:prstGeom>
          <a:noFill/>
          <a:ln w="1016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731520" y="3657600"/>
            <a:ext cx="4572000" cy="566928"/>
          </a:xfrm>
          <a:prstGeom prst="rect">
            <a:avLst/>
          </a:prstGeom>
          <a:solidFill>
            <a:srgbClr val="79257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68680" y="36576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引擎层 (Engines)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51760" y="36576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C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Screener · Cluster · LangGraph · Vision · LLM Gateway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097280" y="4224528"/>
            <a:ext cx="0" cy="73152"/>
          </a:xfrm>
          <a:prstGeom prst="line">
            <a:avLst/>
          </a:prstGeom>
          <a:noFill/>
          <a:ln w="1016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731520" y="4297680"/>
            <a:ext cx="4572000" cy="566928"/>
          </a:xfrm>
          <a:prstGeom prst="rect">
            <a:avLst/>
          </a:prstGeom>
          <a:solidFill>
            <a:srgbClr val="F5F5F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68680" y="42976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数据层 (Data)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51760" y="429768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· Qdrant 向量库 · Redis 缓存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669280" y="1097280"/>
            <a:ext cx="2926080" cy="3749040"/>
          </a:xfrm>
          <a:prstGeom prst="rect">
            <a:avLst/>
          </a:prstGeom>
          <a:solidFill>
            <a:srgbClr val="F5F5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5669280" y="1097280"/>
            <a:ext cx="2926080" cy="54864"/>
          </a:xfrm>
          <a:prstGeom prst="rect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5806440" y="1234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特点与优势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806440" y="1645920"/>
            <a:ext cx="2651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每层职责明确，上层依赖下层接口</a:t>
            </a:r>
            <a:endParaRPr lang="en-US" sz="10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层间解耦，修改一层最多影响相邻层</a:t>
            </a:r>
            <a:endParaRPr lang="en-US" sz="10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支持功能增强与独立部署</a:t>
            </a:r>
            <a:endParaRPr lang="en-US" sz="10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接口稳固时支持层实现替换</a:t>
            </a:r>
            <a:endParaRPr lang="en-US" sz="10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符合关注分离 (Separation of Concerns) 原则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参考：第8章 主程序-子程序与层次风格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7925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管道-过滤器风格 (Pipe-Filter)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0120" y="1097280"/>
            <a:ext cx="1188720" cy="731520"/>
          </a:xfrm>
          <a:prstGeom prst="rect">
            <a:avLst/>
          </a:prstGeom>
          <a:solidFill>
            <a:srgbClr val="79257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960120" y="11704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search_posts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0120" y="14813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1C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跨平台采集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148840" y="1463040"/>
            <a:ext cx="320040" cy="0"/>
          </a:xfrm>
          <a:prstGeom prst="line">
            <a:avLst/>
          </a:prstGeom>
          <a:noFill/>
          <a:ln w="254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2423160" y="1389888"/>
            <a:ext cx="91440" cy="146304"/>
          </a:xfrm>
          <a:prstGeom prst="line">
            <a:avLst/>
          </a:prstGeom>
          <a:noFill/>
          <a:ln w="1905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2468880" y="1097280"/>
            <a:ext cx="1188720" cy="731520"/>
          </a:xfrm>
          <a:prstGeom prst="rect">
            <a:avLst/>
          </a:prstGeom>
          <a:solidFill>
            <a:srgbClr val="79257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2468880" y="11704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filter_content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468880" y="14813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1C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按意图过滤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657600" y="1463040"/>
            <a:ext cx="320040" cy="0"/>
          </a:xfrm>
          <a:prstGeom prst="line">
            <a:avLst/>
          </a:prstGeom>
          <a:noFill/>
          <a:ln w="254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3931920" y="1389888"/>
            <a:ext cx="91440" cy="146304"/>
          </a:xfrm>
          <a:prstGeom prst="line">
            <a:avLst/>
          </a:prstGeom>
          <a:noFill/>
          <a:ln w="1905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3977640" y="1097280"/>
            <a:ext cx="1188720" cy="731520"/>
          </a:xfrm>
          <a:prstGeom prst="rect">
            <a:avLst/>
          </a:prstGeom>
          <a:solidFill>
            <a:srgbClr val="79257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3977640" y="11704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cluster_related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977640" y="14813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1C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话题聚类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166360" y="1463040"/>
            <a:ext cx="320040" cy="0"/>
          </a:xfrm>
          <a:prstGeom prst="line">
            <a:avLst/>
          </a:prstGeom>
          <a:noFill/>
          <a:ln w="254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5440680" y="1389888"/>
            <a:ext cx="91440" cy="146304"/>
          </a:xfrm>
          <a:prstGeom prst="line">
            <a:avLst/>
          </a:prstGeom>
          <a:noFill/>
          <a:ln w="1905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5486400" y="1097280"/>
            <a:ext cx="1188720" cy="731520"/>
          </a:xfrm>
          <a:prstGeom prst="rect">
            <a:avLst/>
          </a:prstGeom>
          <a:solidFill>
            <a:srgbClr val="79257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5486400" y="11704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extract_slots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0" y="14813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1C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槽位提取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675120" y="1463040"/>
            <a:ext cx="320040" cy="0"/>
          </a:xfrm>
          <a:prstGeom prst="line">
            <a:avLst/>
          </a:prstGeom>
          <a:noFill/>
          <a:ln w="254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6949440" y="1389888"/>
            <a:ext cx="91440" cy="146304"/>
          </a:xfrm>
          <a:prstGeom prst="line">
            <a:avLst/>
          </a:prstGeom>
          <a:noFill/>
          <a:ln w="1905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995160" y="1097280"/>
            <a:ext cx="1188720" cy="731520"/>
          </a:xfrm>
          <a:prstGeom prst="rect">
            <a:avLst/>
          </a:prstGeom>
          <a:solidFill>
            <a:srgbClr val="79257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995160" y="11704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compare_opinions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995160" y="14813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1C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观点对比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731520" y="20116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数据驱动：上一个过滤器的输出作为下一个过滤器的输入，每个过滤器独立、可复用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2468880"/>
            <a:ext cx="3657600" cy="2468880"/>
          </a:xfrm>
          <a:prstGeom prst="rect">
            <a:avLst/>
          </a:prstGeom>
          <a:solidFill>
            <a:srgbClr val="F5F5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731520" y="2468880"/>
            <a:ext cx="3657600" cy="54864"/>
          </a:xfrm>
          <a:prstGeom prst="rect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914400" y="2606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优点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14400" y="29718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每个过滤器独立，行为易于理解</a:t>
            </a:r>
            <a:endParaRPr lang="en-US" sz="10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支持功能模块复用（任意两个过滤器数据格式一致即可连接）</a:t>
            </a:r>
            <a:endParaRPr lang="en-US" sz="10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系统易于维护和扩展：新增/替换过滤器方便</a:t>
            </a:r>
            <a:endParaRPr lang="en-US" sz="10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支持并发执行，递进式数据处理</a:t>
            </a:r>
            <a:endParaRPr lang="en-US" sz="10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组合工具 (composite.py) 即多步管道的动态注册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2468880"/>
            <a:ext cx="3657600" cy="2468880"/>
          </a:xfrm>
          <a:prstGeom prst="rect">
            <a:avLst/>
          </a:prstGeom>
          <a:solidFill>
            <a:srgbClr val="F5F5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4754880" y="2468880"/>
            <a:ext cx="3657600" cy="54864"/>
          </a:xfrm>
          <a:prstGeom prst="rect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4937760" y="2606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Omnis 中的体现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37760" y="29718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H组原子工具：每个工具是独立过滤器</a:t>
            </a:r>
            <a:endParaRPr lang="en-US" sz="10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execute_workflow_steps 统一执行器编排管道</a:t>
            </a:r>
            <a:endParaRPr lang="en-US" sz="10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Preset 组合工具：预定义的多步管道</a:t>
            </a:r>
            <a:endParaRPr lang="en-US" sz="10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Template：自动累积的执行管道</a:t>
            </a:r>
            <a:endParaRPr lang="en-US" sz="10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Stages 降级为工具内部引擎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参考：第4章 数据流风格（管道-过滤器）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7925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黑板与仓库风格 (Repository/Blackboard)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0" y="914400"/>
            <a:ext cx="2560320" cy="1828800"/>
          </a:xfrm>
          <a:prstGeom prst="rect">
            <a:avLst/>
          </a:prstGeom>
          <a:solidFill>
            <a:srgbClr val="79257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2560320" y="1097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共享数据仓库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60320" y="1508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C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· Qdrant · Redis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6032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D1C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· Posts · Workflows · Reports · Alerts · Memories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280160" y="548640"/>
            <a:ext cx="1188720" cy="457200"/>
          </a:xfrm>
          <a:prstGeom prst="rect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280160" y="548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Core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74520" y="1005840"/>
            <a:ext cx="0" cy="91440"/>
          </a:xfrm>
          <a:prstGeom prst="line">
            <a:avLst/>
          </a:prstGeom>
          <a:noFill/>
          <a:ln w="10160">
            <a:solidFill>
              <a:srgbClr val="888888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5303520" y="548640"/>
            <a:ext cx="1188720" cy="457200"/>
          </a:xfrm>
          <a:prstGeom prst="rect">
            <a:avLst/>
          </a:prstGeom>
          <a:solidFill>
            <a:srgbClr val="D1C4E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5303520" y="548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原子工具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97880" y="1005840"/>
            <a:ext cx="0" cy="91440"/>
          </a:xfrm>
          <a:prstGeom prst="line">
            <a:avLst/>
          </a:prstGeom>
          <a:noFill/>
          <a:ln w="10160">
            <a:solidFill>
              <a:srgbClr val="888888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1280160" y="2377440"/>
            <a:ext cx="1188720" cy="457200"/>
          </a:xfrm>
          <a:prstGeom prst="rect">
            <a:avLst/>
          </a:prstGeom>
          <a:solidFill>
            <a:srgbClr val="D1C4E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280160" y="2377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74520" y="2834640"/>
            <a:ext cx="0" cy="1920240"/>
          </a:xfrm>
          <a:prstGeom prst="line">
            <a:avLst/>
          </a:prstGeom>
          <a:noFill/>
          <a:ln w="10160">
            <a:solidFill>
              <a:srgbClr val="888888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5303520" y="2377440"/>
            <a:ext cx="1188720" cy="457200"/>
          </a:xfrm>
          <a:prstGeom prst="rect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303520" y="2377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APScheduler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897880" y="2834640"/>
            <a:ext cx="0" cy="1920240"/>
          </a:xfrm>
          <a:prstGeom prst="line">
            <a:avLst/>
          </a:prstGeom>
          <a:noFill/>
          <a:ln w="10160">
            <a:solidFill>
              <a:srgbClr val="888888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731520" y="3291840"/>
            <a:ext cx="7680960" cy="1463040"/>
          </a:xfrm>
          <a:prstGeom prst="rect">
            <a:avLst/>
          </a:prstGeom>
          <a:solidFill>
            <a:srgbClr val="F5F5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005840" y="3383280"/>
            <a:ext cx="7132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仓库风格特点</a:t>
            </a:r>
            <a:endParaRPr lang="en-US" sz="1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便于模块间的数据共享，避免冗余存储</a:t>
            </a:r>
            <a:endParaRPr lang="en-US" sz="1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各组件独立性强，新增/替换方便</a:t>
            </a:r>
            <a:endParaRPr lang="en-US" sz="1000" dirty="0"/>
          </a:p>
          <a:p>
            <a:pPr marL="0" indent="0" algn="l">
              <a:spcAft>
                <a:spcPts val="300"/>
              </a:spcAft>
              <a:buNone/>
            </a:pPr>
            <a:endParaRPr lang="en-US" sz="10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Omnis 中的体现</a:t>
            </a:r>
            <a:endParaRPr lang="en-US" sz="1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SQLite：持久化话题/报告/工作流/用户配置</a:t>
            </a:r>
            <a:endParaRPr lang="en-US" sz="1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Qdrant：向量存储，支撑语义检索与话题演化追踪</a:t>
            </a:r>
            <a:endParaRPr lang="en-US" sz="1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 Agent 和工具独立读写共享数据，互不阻塞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参考：第5章 仓库与黑板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7925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面向 Agent 风格 (Agent-Oriented)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" y="1097280"/>
            <a:ext cx="1463040" cy="1097280"/>
          </a:xfrm>
          <a:prstGeom prst="rect">
            <a:avLst/>
          </a:prstGeom>
          <a:solidFill>
            <a:srgbClr val="79257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1097280" y="11887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感知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(Perceive)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1645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1C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接收用户输入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D1C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加载上下文记忆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560320" y="1645920"/>
            <a:ext cx="365760" cy="0"/>
          </a:xfrm>
          <a:prstGeom prst="line">
            <a:avLst/>
          </a:prstGeom>
          <a:noFill/>
          <a:ln w="254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2926080" y="1097280"/>
            <a:ext cx="1463040" cy="1097280"/>
          </a:xfrm>
          <a:prstGeom prst="rect">
            <a:avLst/>
          </a:prstGeom>
          <a:solidFill>
            <a:srgbClr val="79257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2926080" y="11887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规划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(Plan)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0" y="1645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1C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模板匹配 / LLM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D1C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生成执行计划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389120" y="1645920"/>
            <a:ext cx="365760" cy="0"/>
          </a:xfrm>
          <a:prstGeom prst="line">
            <a:avLst/>
          </a:prstGeom>
          <a:noFill/>
          <a:ln w="254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1463040" cy="1097280"/>
          </a:xfrm>
          <a:prstGeom prst="rect">
            <a:avLst/>
          </a:prstGeom>
          <a:solidFill>
            <a:srgbClr val="79257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754880" y="11887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(Act)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1645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1C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调用原子/组合工具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D1C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异步执行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217920" y="1645920"/>
            <a:ext cx="365760" cy="0"/>
          </a:xfrm>
          <a:prstGeom prst="line">
            <a:avLst/>
          </a:prstGeom>
          <a:noFill/>
          <a:ln w="254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6583680" y="1097280"/>
            <a:ext cx="1463040" cy="1097280"/>
          </a:xfrm>
          <a:prstGeom prst="rect">
            <a:avLst/>
          </a:prstGeom>
          <a:solidFill>
            <a:srgbClr val="79257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583680" y="11887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反馈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(Feedback)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1645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1C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结果检测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D1C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异常时动态调整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828800" y="2286000"/>
            <a:ext cx="0" cy="274320"/>
          </a:xfrm>
          <a:prstGeom prst="line">
            <a:avLst/>
          </a:prstGeom>
          <a:noFill/>
          <a:ln w="1905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965960" y="2331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迭代循环 (最大6轮)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31520" y="2651760"/>
            <a:ext cx="7680960" cy="2103120"/>
          </a:xfrm>
          <a:prstGeom prst="rect">
            <a:avLst/>
          </a:prstGeom>
          <a:solidFill>
            <a:srgbClr val="F5F5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731520" y="2651760"/>
            <a:ext cx="7680960" cy="54864"/>
          </a:xfrm>
          <a:prstGeom prst="rect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91440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协作架构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97280" y="3154680"/>
            <a:ext cx="36576" cy="274320"/>
          </a:xfrm>
          <a:prstGeom prst="rect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1280160" y="3154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Core (主控制器)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91840" y="3154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接收用户请求，维护对话上下文，协调工具调用，管理 Token 预算与取消事件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097280" y="3502152"/>
            <a:ext cx="36576" cy="274320"/>
          </a:xfrm>
          <a:prstGeom prst="rect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1280160" y="35021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Agent (规划器)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91840" y="35021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 模板匹配 + LLM 规划，提取约束条件，生成可执行步骤序列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097280" y="3849624"/>
            <a:ext cx="36576" cy="274320"/>
          </a:xfrm>
          <a:prstGeom prst="rect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280160" y="38496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Executor (执行器)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91840" y="384962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DirectAdapter 直调 + MCPAdapter 远程调用，支持流式进度推送与超时取消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097280" y="4197096"/>
            <a:ext cx="36576" cy="274320"/>
          </a:xfrm>
          <a:prstGeom prst="rect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280160" y="41970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Manager (记忆管理器)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91840" y="419709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对话摘要/实体/事实提取，写入 SQLite + LLM 抽取，TTL 缓存管理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097280" y="4544568"/>
            <a:ext cx="36576" cy="274320"/>
          </a:xfrm>
          <a:prstGeom prst="rect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1280160" y="4544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Registry (取消注册表)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291840" y="45445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级 asyncio.Event，支持用户跨协程取消正在执行的工具链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参考：第11章 面向Agent风格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25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 4+1 视图模型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D1C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Philippe Kruchten · Architectural Blueprints — The "4+1" View Model (1995)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474720" cy="15544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3474720" cy="411480"/>
          </a:xfrm>
          <a:prstGeom prst="rect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68680" y="1371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逻辑视图 (Logical View)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828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对象模型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1031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核心类/对象/接口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AgentContext / Tool / Workflow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Stages / Schemas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937760" y="1371600"/>
            <a:ext cx="3474720" cy="15544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4937760" y="1371600"/>
            <a:ext cx="3474720" cy="411480"/>
          </a:xfrm>
          <a:prstGeom prst="rect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5074920" y="1371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过程视图 (Process View)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74920" y="1828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并发与同步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74920" y="21031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 并发 / SSE 流式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异步执行 / Cancel 机制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预算管理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" y="3108960"/>
            <a:ext cx="3474720" cy="15544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731520" y="3108960"/>
            <a:ext cx="3474720" cy="411480"/>
          </a:xfrm>
          <a:prstGeom prst="rect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68680" y="3108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开发视图 (Development View)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3566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模块组织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38404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目录结构 / 包依赖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backend/services/frontend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/ Service 分层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937760" y="3108960"/>
            <a:ext cx="3474720" cy="15544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4937760" y="3108960"/>
            <a:ext cx="3474720" cy="411480"/>
          </a:xfrm>
          <a:prstGeom prst="rect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5074920" y="3108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物理视图 (Physical View)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74920" y="3566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部署映射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74920" y="38404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Qdrant + Next.js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Prometheus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0" y="2057400"/>
            <a:ext cx="1828800" cy="1828800"/>
          </a:xfrm>
          <a:prstGeom prst="ellipse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3657600" y="219456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场景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(+1)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28600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C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用例驱动的场景视图，将四个视图串联，验证体系结构设计的正确性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参考：第12章 Kruchten 的 4+1 模型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示, 工程绘图&#10;&#10;AI 生成的内容可能不正确。">
            <a:extLst>
              <a:ext uri="{FF2B5EF4-FFF2-40B4-BE49-F238E27FC236}">
                <a16:creationId xmlns:a16="http://schemas.microsoft.com/office/drawing/2014/main" id="{3075C860-035D-535C-0F3B-EAD1CC093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94" y="0"/>
            <a:ext cx="7141412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7925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逻辑视图 — 面向对象的分解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核心关注：系统应当向用户提供什么样的服务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2377440" cy="1645920"/>
          </a:xfrm>
          <a:prstGeom prst="rect">
            <a:avLst/>
          </a:prstGeom>
          <a:solidFill>
            <a:srgbClr val="F5F5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2377440" cy="320040"/>
          </a:xfrm>
          <a:prstGeom prst="rect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AgentContext  «核心状态»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" y="1645920"/>
            <a:ext cx="21579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session_id / owner_id / messages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current_messages / plan / iteration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83280" y="1234440"/>
            <a:ext cx="2377440" cy="1645920"/>
          </a:xfrm>
          <a:prstGeom prst="rect">
            <a:avLst/>
          </a:prstGeom>
          <a:solidFill>
            <a:srgbClr val="F5F5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3383280" y="1234440"/>
            <a:ext cx="2377440" cy="320040"/>
          </a:xfrm>
          <a:prstGeom prst="rect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338328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(@tool)  «工具定义»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93008" y="1645920"/>
            <a:ext cx="21579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/ description / parameters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 / schema / group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35040" y="1234440"/>
            <a:ext cx="2377440" cy="1645920"/>
          </a:xfrm>
          <a:prstGeom prst="rect">
            <a:avLst/>
          </a:prstGeom>
          <a:solidFill>
            <a:srgbClr val="F5F5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6035040" y="1234440"/>
            <a:ext cx="2377440" cy="320040"/>
          </a:xfrm>
          <a:prstGeom prst="rect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03504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ToolResult  «统一返回»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44768" y="1645920"/>
            <a:ext cx="21579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/ data / error / error_type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(前端渲染类型)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" y="3108960"/>
            <a:ext cx="2377440" cy="1645920"/>
          </a:xfrm>
          <a:prstGeom prst="rect">
            <a:avLst/>
          </a:prstGeom>
          <a:solidFill>
            <a:srgbClr val="F5F5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731520" y="3108960"/>
            <a:ext cx="2377440" cy="320040"/>
          </a:xfrm>
          <a:prstGeom prst="rect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73152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(DB)  «工作流»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41248" y="3520440"/>
            <a:ext cx="21579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/ steps_json / source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schedule_cron / enabled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83280" y="3108960"/>
            <a:ext cx="2377440" cy="1645920"/>
          </a:xfrm>
          <a:prstGeom prst="rect">
            <a:avLst/>
          </a:prstGeom>
          <a:solidFill>
            <a:srgbClr val="F5F5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3383280" y="3108960"/>
            <a:ext cx="2377440" cy="320040"/>
          </a:xfrm>
          <a:prstGeom prst="rect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338328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Stages  «分析引擎»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93008" y="3520440"/>
            <a:ext cx="21579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ScreenerStage / ClusterStage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AnalysisSubGraph (LangGraph)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35040" y="3108960"/>
            <a:ext cx="2377440" cy="1645920"/>
          </a:xfrm>
          <a:prstGeom prst="rect">
            <a:avLst/>
          </a:prstGeom>
          <a:solidFill>
            <a:srgbClr val="F5F5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6035040" y="3108960"/>
            <a:ext cx="2377440" cy="320040"/>
          </a:xfrm>
          <a:prstGeom prst="rect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03504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ToolExecutor  «执行器»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44768" y="3520440"/>
            <a:ext cx="21579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DirectAdapter / MCPAdapter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execute() 统一入口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逻辑视图风格：面向对象 + 关注分离 (Separation of Concerns)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形用户界面, 图示, 应用程序&#10;&#10;AI 生成的内容可能不正确。">
            <a:extLst>
              <a:ext uri="{FF2B5EF4-FFF2-40B4-BE49-F238E27FC236}">
                <a16:creationId xmlns:a16="http://schemas.microsoft.com/office/drawing/2014/main" id="{CBCD882D-F9F0-2BD6-526A-F5BE5975E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4299"/>
            <a:ext cx="9144000" cy="417490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7925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过程视图 — 并发与同步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核心关注：性能、可用性、并发、分布、系统完整性、容错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365760" cy="365760"/>
          </a:xfrm>
          <a:prstGeom prst="ellipse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8016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 事件循环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08960" y="1188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主循环基于 Python asyncio。Agent Core、工具执行、LLM 调用均为异步非阻塞。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0" y="1188720"/>
            <a:ext cx="2011680" cy="457200"/>
          </a:xfrm>
          <a:prstGeom prst="rect">
            <a:avLst/>
          </a:prstGeom>
          <a:solidFill>
            <a:srgbClr val="D1C4E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949440" y="1188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7925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/ async for / asyncio.wait_for(timeout)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731520" y="1965960"/>
            <a:ext cx="365760" cy="365760"/>
          </a:xfrm>
          <a:prstGeom prst="ellipse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73152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80160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流式响应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08960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chat_with_agent_stream() 通过 SSE 逐步推送文本、工具调用、工具结果。前端逐块渲染。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0" y="1920240"/>
            <a:ext cx="2011680" cy="457200"/>
          </a:xfrm>
          <a:prstGeom prst="rect">
            <a:avLst/>
          </a:prstGeom>
          <a:solidFill>
            <a:srgbClr val="D1C4E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949440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7925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emit_text → emit_tool_call → emit_tool_result → emit_done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731520" y="2697480"/>
            <a:ext cx="365760" cy="365760"/>
          </a:xfrm>
          <a:prstGeom prst="ellipse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73152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80160" y="2651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机制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108960" y="2651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CancelRegistry 维护每个 session 的 asyncio.Event，支持跨协程取消正在执行的工具链。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58000" y="2651760"/>
            <a:ext cx="2011680" cy="457200"/>
          </a:xfrm>
          <a:prstGeom prst="rect">
            <a:avLst/>
          </a:prstGeom>
          <a:solidFill>
            <a:srgbClr val="D1C4E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949440" y="2651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7925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cancel_registry.cancel(session_id) → CancelledError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31520" y="3429000"/>
            <a:ext cx="365760" cy="365760"/>
          </a:xfrm>
          <a:prstGeom prst="ellipse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73152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80160" y="3383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预算管理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108960" y="3383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TokenBudgetManager 实时计算 tokens，超限时自动压缩历史对话为摘要。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858000" y="3383280"/>
            <a:ext cx="2011680" cy="457200"/>
          </a:xfrm>
          <a:prstGeom prst="rect">
            <a:avLst/>
          </a:prstGeom>
          <a:solidFill>
            <a:srgbClr val="D1C4E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949440" y="3383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7925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should_summarize → summarize_history (LLM 抽取)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731520" y="4160520"/>
            <a:ext cx="365760" cy="365760"/>
          </a:xfrm>
          <a:prstGeom prst="ellipse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73152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28016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工具重试与降级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108960" y="4114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execute_workflow_steps 支持 critical/required/optional 三级，失败自动重试或跳过。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58000" y="4114800"/>
            <a:ext cx="2011680" cy="457200"/>
          </a:xfrm>
          <a:prstGeom prst="rect">
            <a:avLst/>
          </a:prstGeom>
          <a:solidFill>
            <a:srgbClr val="D1C4E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949440" y="4114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7925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DirectAdapter → MCPAdapter 自动切换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31520" y="4892040"/>
            <a:ext cx="768096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过程视图风格：事件驱动 + asyncio 并发，适合高吞吐、低延迟的流式交互场景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示&#10;&#10;AI 生成的内容可能不正确。">
            <a:extLst>
              <a:ext uri="{FF2B5EF4-FFF2-40B4-BE49-F238E27FC236}">
                <a16:creationId xmlns:a16="http://schemas.microsoft.com/office/drawing/2014/main" id="{EC033A6B-888B-E43E-B7DA-5ADF249DE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693" y="0"/>
            <a:ext cx="7774613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7925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开发视图 — 模块组织结构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核心关注：软件模块的实际组织、开发团队结构映射、复用与可移植性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3657600" cy="3474720"/>
          </a:xfrm>
          <a:prstGeom prst="rect">
            <a:avLst/>
          </a:prstGeom>
          <a:solidFill>
            <a:srgbClr val="F5F5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3657600" cy="54864"/>
          </a:xfrm>
          <a:prstGeom prst="rect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914400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 (后端)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3291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gateway/          FastAPI 入口与路由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core/             config / database / auth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services/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agent_service/  Agent 核心引擎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agent_core.py   主循环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tools/          工具注册表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│   ├── atomic.py   12+ 原子工具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│   ├── composite.py 组合工具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adapters/       适配器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workflows_db.py 工作流存储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memory/         记忆管理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radar_service/ 分析管线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crawler_service/ 爬虫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search_lib/   搜索库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subscription_service/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tests/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657600" cy="2011680"/>
          </a:xfrm>
          <a:prstGeom prst="rect">
            <a:avLst/>
          </a:prstGeom>
          <a:solidFill>
            <a:srgbClr val="F5F5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3657600" cy="54864"/>
          </a:xfrm>
          <a:prstGeom prst="rect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937760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frontend/ (前端)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16459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web/               Next.js 15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app/           路由页面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(app)/     已登录路由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admin/     Admin 面板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(auth)/    登录页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components/    UI 组件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ui/        shadcn 组件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chat/      对话组件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charts/    图表封装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hooks/  stores/  types/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lib/           工具库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754880" y="3383280"/>
            <a:ext cx="3657600" cy="1280160"/>
          </a:xfrm>
          <a:prstGeom prst="rect">
            <a:avLst/>
          </a:prstGeom>
          <a:solidFill>
            <a:srgbClr val="F5F5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4754880" y="3383280"/>
            <a:ext cx="3657600" cy="54864"/>
          </a:xfrm>
          <a:prstGeom prst="rect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937760" y="3520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MiniApp/ (小程序)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38404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uni-app (Vue 3) 旧版保留形态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首页 / AI助手 / 舆情列表 / 个人中心 / 推送设置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开发视图风格：分层风格（5-6层子系统，每层有明确责任）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示&#10;&#10;AI 生成的内容可能不正确。">
            <a:extLst>
              <a:ext uri="{FF2B5EF4-FFF2-40B4-BE49-F238E27FC236}">
                <a16:creationId xmlns:a16="http://schemas.microsoft.com/office/drawing/2014/main" id="{7D53178A-87B4-0D35-4577-C0FA65032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487" y="0"/>
            <a:ext cx="4963026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7925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物理视图 — 部署架构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核心关注：可用性、可靠性（容错）、性能（吞吐量）、可扩展性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1463040" cy="914400"/>
          </a:xfrm>
          <a:prstGeom prst="rect">
            <a:avLst/>
          </a:prstGeom>
          <a:solidFill>
            <a:srgbClr val="79257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反向代理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0" y="1371600"/>
            <a:ext cx="1645920" cy="914400"/>
          </a:xfrm>
          <a:prstGeom prst="rect">
            <a:avLst/>
          </a:prstGeom>
          <a:solidFill>
            <a:srgbClr val="79257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2743200" y="13716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应用服务器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937760" y="1371600"/>
            <a:ext cx="1645920" cy="914400"/>
          </a:xfrm>
          <a:prstGeom prst="rect">
            <a:avLst/>
          </a:prstGeom>
          <a:solidFill>
            <a:srgbClr val="FFB30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937760" y="13716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服务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132320" y="1371600"/>
            <a:ext cx="1463040" cy="914400"/>
          </a:xfrm>
          <a:prstGeom prst="rect">
            <a:avLst/>
          </a:prstGeom>
          <a:solidFill>
            <a:srgbClr val="D1C4E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7132320" y="13716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向量数据库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94560" y="1828800"/>
            <a:ext cx="54864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4389120" y="1828800"/>
            <a:ext cx="54864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583680" y="1828800"/>
            <a:ext cx="54864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731520" y="2560320"/>
            <a:ext cx="2377440" cy="731520"/>
          </a:xfrm>
          <a:prstGeom prst="rect">
            <a:avLst/>
          </a:prstGeom>
          <a:solidFill>
            <a:srgbClr val="F5F5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31520" y="25603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持久化存储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0" y="2560320"/>
            <a:ext cx="2377440" cy="731520"/>
          </a:xfrm>
          <a:prstGeom prst="rect">
            <a:avLst/>
          </a:prstGeom>
          <a:solidFill>
            <a:srgbClr val="F5F5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3657600" y="25603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缓存服务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83680" y="2560320"/>
            <a:ext cx="2011680" cy="731520"/>
          </a:xfrm>
          <a:prstGeom prst="rect">
            <a:avLst/>
          </a:prstGeom>
          <a:solidFill>
            <a:srgbClr val="F5F5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583680" y="25603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监控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566160" y="2286000"/>
            <a:ext cx="0" cy="274320"/>
          </a:xfrm>
          <a:prstGeom prst="line">
            <a:avLst/>
          </a:prstGeom>
          <a:noFill/>
          <a:ln w="10160">
            <a:solidFill>
              <a:srgbClr val="888888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3657600" y="2286000"/>
            <a:ext cx="0" cy="274320"/>
          </a:xfrm>
          <a:prstGeom prst="line">
            <a:avLst/>
          </a:prstGeom>
          <a:noFill/>
          <a:ln w="10160">
            <a:solidFill>
              <a:srgbClr val="888888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858000" y="2286000"/>
            <a:ext cx="0" cy="274320"/>
          </a:xfrm>
          <a:prstGeom prst="line">
            <a:avLst/>
          </a:prstGeom>
          <a:noFill/>
          <a:ln w="10160">
            <a:solidFill>
              <a:srgbClr val="888888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731520" y="3566160"/>
            <a:ext cx="7680960" cy="1280160"/>
          </a:xfrm>
          <a:prstGeom prst="rect">
            <a:avLst/>
          </a:prstGeom>
          <a:solidFill>
            <a:srgbClr val="F5F5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1005840" y="365760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部署特性</a:t>
            </a:r>
            <a:endParaRPr lang="en-US" sz="1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容器化部署：Docker Compose 编排所有服务</a:t>
            </a:r>
            <a:endParaRPr lang="en-US" sz="1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流水线：GitHub Actions push-to-main 自动部署</a:t>
            </a:r>
            <a:endParaRPr lang="en-US" sz="1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健康检查：/health 端点 + Prometheus 指标 + AgentOpsEngine 运维巡检</a:t>
            </a:r>
            <a:endParaRPr lang="en-US" sz="1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熔断保护：Circuit Breaker 防止 LLM 调用雪崩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169" y="365760"/>
            <a:ext cx="6787661" cy="44119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7925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场景视图 — 用例驱动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 (Scenario) 是用例的实例，它将 4 个视图串联在一起，验证体系结构设计的正确性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3657600" cy="3474720"/>
          </a:xfrm>
          <a:prstGeom prst="rect">
            <a:avLst/>
          </a:prstGeom>
          <a:solidFill>
            <a:srgbClr val="F5F5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3657600" cy="54864"/>
          </a:xfrm>
          <a:prstGeom prst="rect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914400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场景一：舆情风险扫描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691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用户输入：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"帮我查一下最近小米SU7的舆情"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205740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Agent 接收 → 四维规划匹配</a:t>
            </a:r>
            <a:endParaRPr lang="en-US" sz="9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模板命中 scan_and_alert</a:t>
            </a:r>
            <a:endParaRPr lang="en-US" sz="9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search_posts 跨平台采集</a:t>
            </a:r>
            <a:endParaRPr lang="en-US" sz="9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filter_content(risk) 过滤</a:t>
            </a:r>
            <a:endParaRPr lang="en-US" sz="9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cluster_related 话题聚类</a:t>
            </a:r>
            <a:endParaRPr lang="en-US" sz="9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analyze_sentiment 判定</a:t>
            </a:r>
            <a:endParaRPr lang="en-US" sz="9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push_report 推送预警</a:t>
            </a:r>
            <a:endParaRPr lang="en-US" sz="9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 auto_template 自动累积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3657600" cy="3474720"/>
          </a:xfrm>
          <a:prstGeom prst="rect">
            <a:avLst/>
          </a:prstGeom>
          <a:solidFill>
            <a:srgbClr val="F5F5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3657600" cy="54864"/>
          </a:xfrm>
          <a:prstGeom prst="rect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937760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场景二：创建定时任务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691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用户输入：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52160" y="16916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"每天早9点搜华为动态推我邮箱"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37760" y="205740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Agent 接收 → Phase Plan</a:t>
            </a:r>
            <a:endParaRPr lang="en-US" sz="9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LLM 规划 → mode=scheduled</a:t>
            </a:r>
            <a:endParaRPr lang="en-US" sz="9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提取 cron 约束 → croniter 校验</a:t>
            </a:r>
            <a:endParaRPr lang="en-US" sz="9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持久化到 workflows(user)</a:t>
            </a:r>
            <a:endParaRPr lang="en-US" sz="9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cron 表达式绑定 APScheduler</a:t>
            </a:r>
            <a:endParaRPr lang="en-US" sz="9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每天 9:00 自动执行:</a:t>
            </a:r>
            <a:endParaRPr lang="en-US" sz="9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search → filter → push</a:t>
            </a:r>
            <a:endParaRPr lang="en-US" sz="9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执行日志记录到 AgentHealthDB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场景视图是 "+1"，在体系结构设计中起驱动作用，在设计结束后承担验证和描述的角色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25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 </a:t>
            </a:r>
            <a:r>
              <a:rPr lang="en-US" sz="30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软件体系结构质量评估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C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软件体系结构的质量分为内部质量与外部质量，二者相辅相成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657600" cy="34747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3657600" cy="411480"/>
          </a:xfrm>
          <a:prstGeom prst="rect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914400" y="1371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内部质量指标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920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可维护性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11680" y="1920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模块化分层 + @tool 装饰器注册，新增/修改工具不影响其他模块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474720" y="1920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24871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可重用性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0" y="24871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原子工具可任意组合，适配器模式支持多种后端复用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474720" y="24871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30540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可移植性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0" y="305409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Docker 容器化 + 环境变量配置，平台无关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0" y="305409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" y="36210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可集成性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11680" y="362102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DirectAdapter + MCPAdapter 统一接口，第三方工具可插拔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474720" y="362102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4400" y="4187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可测试性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11680" y="41879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Stages 独立可测，工具函数纯逻辑易于单元测试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474720" y="4187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★★★☆☆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1371600"/>
            <a:ext cx="3657600" cy="34747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4754880" y="1371600"/>
            <a:ext cx="3657600" cy="411480"/>
          </a:xfrm>
          <a:prstGeom prst="rect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4937760" y="1371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外部质量指标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37760" y="1920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性能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0" y="1920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 异步非阻塞 + Semaphore 限流，支持并发爬虫和流式响应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315200" y="1920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37760" y="24871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可用性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43600" y="24871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熔断器 + 工具降级 + 健康检查，单点故障不影响整体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315200" y="2487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37760" y="30540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可靠性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43600" y="305409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错误重试 (critical/required/optional) + MCP 切换兜底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315200" y="30540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★★★☆☆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37760" y="36210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安全性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43600" y="362102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认证 + API Key + OAuth + 安全中间件 + 限流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315200" y="36210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937760" y="4187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易用性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943600" y="41879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自然语言交互 + 智能规划，普通用户无需技术背景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7315200" y="4187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31520" y="4796509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参考：第3章 软件体系结构的质量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7925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内部质量详细分析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493518"/>
              </p:ext>
            </p:extLst>
          </p:nvPr>
        </p:nvGraphicFramePr>
        <p:xfrm>
          <a:off x="457200" y="810705"/>
          <a:ext cx="8229600" cy="42976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质量指标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25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评分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25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评价依据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25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改进方向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25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可维护性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Maintainability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9/10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分层架构 + @tool 装饰器注册，新增工具无需修改已有代码；WorkflowsDB CRUD 统一管理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工具间共享逻辑增多时可提取公共库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可重用性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Reusability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12+ 原子工具可任意组合；适配器模式 (Direct/MCP) 支持多种后端；ToolResult 统一格式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更多预设组合工具满足常见场景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可移植性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Portability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8/10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容器化 + 环境变量配置 (Settings 三层回退)；平台无关键依赖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→ PostgreSQL 的迁移路径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可集成性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Integrability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8/10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AbstractToolAdapter 标准接口；MCPAdapter 支持 HTTP 远程工具；@tool 注册表统一管理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更多 MCP Server 开箱即用集成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可测试性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Testability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7/10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Stages 独立可测；工具函数输入输出清晰；@with_owner 注入解耦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引入集成测试套件 + Mock 框架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7925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外部质量详细分析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8172313"/>
              </p:ext>
            </p:extLst>
          </p:nvPr>
        </p:nvGraphicFramePr>
        <p:xfrm>
          <a:off x="457200" y="751316"/>
          <a:ext cx="8229600" cy="42976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质量指标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25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评分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25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评价依据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25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改进方向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25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性能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8/10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asyncio 全异步架构；Semaphore 爬虫限流；SSE 流式减少首字节延迟；Agent TOOL_TIMEOUT 120s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热点查询引入 Redis 缓存层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可用性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Availability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8/10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Circuit Breaker 防止 LLM 雪崩；Direct→MCP 自动降级；工具执行 critical/required/optional 三级容错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多副本部署 + 负载均衡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可靠性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7/10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execute_workflow_steps 内置重试机制；critical 步骤失败终止、optional 跳过；执行日志落库可追溯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引入分布式事务或 Saga 模式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安全性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8/10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+ API Key 双认证；OAuth (Google/微信)；rate_limiter 限流；security_middleware 安全头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注入防护审计 + 渗透测试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易用性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Usability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自然语言交互 Agent 化；四维规划自动匹配模板；用户无需技术背景即可完成复杂操作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增加新手引导 + 工具使用建议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7925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质量场景评估 (基于场景的评估方法)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 = 激励 (Stimulus) + 环境 (Environment) + 响应 (Response) — 参考课件第3章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2560320" cy="3840480"/>
          </a:xfrm>
          <a:prstGeom prst="rect">
            <a:avLst/>
          </a:prstGeom>
          <a:solidFill>
            <a:srgbClr val="F5F5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2560320" cy="54864"/>
          </a:xfrm>
          <a:prstGeom prst="rect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41248" y="132588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场景1：高并发搜索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691640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关注质量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41248" y="187452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性能 (Performance)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41248" y="2194560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激励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41248" y="237744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用户同时发起搜索请求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41248" y="2697480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环境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41248" y="288036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正常操作环境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3200400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响应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41248" y="338328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系统在 3s 内返回结果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41248" y="3749040"/>
            <a:ext cx="2340864" cy="685800"/>
          </a:xfrm>
          <a:prstGeom prst="rect">
            <a:avLst/>
          </a:prstGeom>
          <a:solidFill>
            <a:srgbClr val="D1C4E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41248" y="3776472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保障措施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41248" y="3959352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 并发 + Semaphore 10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搜索库 3min 超时兜底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841248" y="448056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满足（需控制爬虫并发数）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566160" y="1188720"/>
            <a:ext cx="2560320" cy="3840480"/>
          </a:xfrm>
          <a:prstGeom prst="rect">
            <a:avLst/>
          </a:prstGeom>
          <a:solidFill>
            <a:srgbClr val="F5F5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3566160" y="1188720"/>
            <a:ext cx="2560320" cy="54864"/>
          </a:xfrm>
          <a:prstGeom prst="rect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3675888" y="132588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场景2：爬虫平台宕机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75888" y="1691640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关注质量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75888" y="187452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可用性 + 可靠性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675888" y="2194560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激励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675888" y="237744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微博平台爬虫服务无响应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675888" y="2697480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环境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675888" y="288036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仅微博爬虫故障，其他正常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675888" y="3200400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响应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675888" y="338328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系统降级跳过微博，返回其他平台数据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675888" y="3749040"/>
            <a:ext cx="2340864" cy="685800"/>
          </a:xfrm>
          <a:prstGeom prst="rect">
            <a:avLst/>
          </a:prstGeom>
          <a:solidFill>
            <a:srgbClr val="D1C4E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3675888" y="3776472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保障措施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675888" y="3959352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asyncio.wait_for timeout 180s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缓存兜底 _read_cached_posts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675888" y="448056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满足（单平台故障不影响整体）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00800" y="1188720"/>
            <a:ext cx="2560320" cy="3840480"/>
          </a:xfrm>
          <a:prstGeom prst="rect">
            <a:avLst/>
          </a:prstGeom>
          <a:solidFill>
            <a:srgbClr val="F5F5F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6400800" y="1188720"/>
            <a:ext cx="2560320" cy="54864"/>
          </a:xfrm>
          <a:prstGeom prst="rect">
            <a:avLst/>
          </a:prstGeom>
          <a:solidFill>
            <a:srgbClr val="7925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6510528" y="132588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场景3：新增分析工具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510528" y="1691640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关注质量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510528" y="187452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可修改性 (Modifiability)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510528" y="2194560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激励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510528" y="237744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需求新增"小红书视频分析"工具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510528" y="2697480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环境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510528" y="288036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开发环境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510528" y="3200400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响应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510528" y="338328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 @tool 注册，无需修改核心代码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510528" y="3749040"/>
            <a:ext cx="2340864" cy="685800"/>
          </a:xfrm>
          <a:prstGeom prst="rect">
            <a:avLst/>
          </a:prstGeom>
          <a:solidFill>
            <a:srgbClr val="D1C4E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6510528" y="3776472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保障措施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510528" y="3959352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@tool + @with_owner 装饰器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自动注册到 TOOLS_SCHEMA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510528" y="448056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92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满足（只需 1 个新文件）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25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5 .  </a:t>
            </a:r>
            <a:r>
              <a:rPr lang="en-US" sz="30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总结与展望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7680960" cy="182880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91440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B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核心优势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46304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Agent-Centric 架构 — 以 AI 对话为核心，所有功能通过自然语言暴露</a:t>
            </a:r>
            <a:endParaRPr lang="en-US" sz="11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异构风格融合 — 分层 + 管道-过滤器 + 黑板 + 面向 Agent + 事件驱动，灵活组合</a:t>
            </a:r>
            <a:endParaRPr lang="en-US" sz="11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三种工作流合一 — preset / auto_template / user 统一存储在 workflows 表</a:t>
            </a:r>
            <a:endParaRPr lang="en-US" sz="11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高质量工程实践 — asyncio 并发 + 熔断器 + 重试/降级 + Prometheus 监控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3017520"/>
            <a:ext cx="7680960" cy="15544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B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不足与改进方向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429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单库 SQLite 在高并发下的写入瓶颈 → 可迁移至 PostgreSQL 集群</a:t>
            </a:r>
            <a:endParaRPr lang="en-US" sz="11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测试覆盖度不足 → 引入集成测试 + Mock 爬虫框架</a:t>
            </a:r>
            <a:endParaRPr lang="en-US" sz="11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MCP 适配器处于早期阶段 → 完善协议标准与更多第三方工具集成</a:t>
            </a:r>
            <a:endParaRPr lang="en-US" sz="11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Qdrant 单节点向量查询性能 → 可配置分片集群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2361</Words>
  <Application>Microsoft Office PowerPoint</Application>
  <PresentationFormat>全屏显示(16:9)</PresentationFormat>
  <Paragraphs>546</Paragraphs>
  <Slides>29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4" baseType="lpstr">
      <vt:lpstr>Arial</vt:lpstr>
      <vt:lpstr>Calibri</vt:lpstr>
      <vt:lpstr>Consolas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Omnis — 媒体信息监控平台 软件体系结构分析</dc:title>
  <dc:subject>PptxGenJS Presentation</dc:subject>
  <dc:creator>Omnis</dc:creator>
  <cp:lastModifiedBy>zd liao</cp:lastModifiedBy>
  <cp:revision>19</cp:revision>
  <dcterms:created xsi:type="dcterms:W3CDTF">2026-06-27T06:33:28Z</dcterms:created>
  <dcterms:modified xsi:type="dcterms:W3CDTF">2026-06-27T07:51:16Z</dcterms:modified>
</cp:coreProperties>
</file>